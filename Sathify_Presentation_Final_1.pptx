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0" r:id="rId4"/>
    <p:sldId id="279" r:id="rId5"/>
    <p:sldId id="263" r:id="rId6"/>
    <p:sldId id="277" r:id="rId7"/>
    <p:sldId id="278" r:id="rId8"/>
    <p:sldId id="264" r:id="rId9"/>
    <p:sldId id="265" r:id="rId10"/>
    <p:sldId id="268" r:id="rId11"/>
    <p:sldId id="266" r:id="rId12"/>
    <p:sldId id="267" r:id="rId13"/>
    <p:sldId id="269" r:id="rId14"/>
    <p:sldId id="273" r:id="rId15"/>
    <p:sldId id="275" r:id="rId16"/>
    <p:sldId id="28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390A"/>
    <a:srgbClr val="112A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9" autoAdjust="0"/>
    <p:restoredTop sz="93916" autoAdjust="0"/>
  </p:normalViewPr>
  <p:slideViewPr>
    <p:cSldViewPr snapToGrid="0" snapToObjects="1">
      <p:cViewPr varScale="1">
        <p:scale>
          <a:sx n="77" d="100"/>
          <a:sy n="77" d="100"/>
        </p:scale>
        <p:origin x="91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AE3A3C-6746-4629-82AD-8DDDBADCEEE0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E951A9-2345-433A-BF6D-4ED06648D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532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E951A9-2345-433A-BF6D-4ED06648D83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655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A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524764" y="896931"/>
            <a:ext cx="1508760" cy="1508760"/>
          </a:xfrm>
          <a:prstGeom prst="ellipse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386153" y="1943539"/>
            <a:ext cx="566928" cy="566928"/>
          </a:xfrm>
          <a:prstGeom prst="ellipse">
            <a:avLst/>
          </a:prstGeom>
          <a:solidFill>
            <a:srgbClr val="D3A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Oval 3"/>
          <p:cNvSpPr/>
          <p:nvPr/>
        </p:nvSpPr>
        <p:spPr>
          <a:xfrm>
            <a:off x="9674352" y="3947049"/>
            <a:ext cx="2011680" cy="2011680"/>
          </a:xfrm>
          <a:prstGeom prst="ellipse">
            <a:avLst/>
          </a:prstGeom>
          <a:solidFill>
            <a:srgbClr val="194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88007" y="1998187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 dirty="0">
                <a:solidFill>
                  <a:srgbClr val="FFFFFF"/>
                </a:solidFill>
                <a:latin typeface="Aptos Display"/>
              </a:rPr>
              <a:t>SATHIFY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007" y="2911444"/>
            <a:ext cx="80467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D7ECE2"/>
                </a:solidFill>
                <a:latin typeface="Aptos Display"/>
              </a:rPr>
              <a:t>Smart Society Domestic Workforce
Management 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8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6746C"/>
                </a:solidFill>
                <a:latin typeface="Aptos"/>
              </a:rPr>
              <a:t>SATHIFY  •  Smart Society Domestic Workforce Management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492240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006A4E"/>
                </a:solidFill>
                <a:latin typeface="Aptos"/>
              </a:rPr>
              <a:t>1</a:t>
            </a:r>
          </a:p>
        </p:txBody>
      </p:sp>
      <p:sp>
        <p:nvSpPr>
          <p:cNvPr id="7" name="!!Hero_Title">
            <a:extLst>
              <a:ext uri="{FF2B5EF4-FFF2-40B4-BE49-F238E27FC236}">
                <a16:creationId xmlns:a16="http://schemas.microsoft.com/office/drawing/2014/main" id="{D08A6BC3-C694-A34D-8067-34FE0562DC69}"/>
              </a:ext>
            </a:extLst>
          </p:cNvPr>
          <p:cNvSpPr/>
          <p:nvPr/>
        </p:nvSpPr>
        <p:spPr>
          <a:xfrm>
            <a:off x="8915400" y="528713"/>
            <a:ext cx="1920240" cy="3200400"/>
          </a:xfrm>
          <a:prstGeom prst="roundRect">
            <a:avLst>
              <a:gd name="adj" fmla="val 13333"/>
            </a:avLst>
          </a:prstGeom>
          <a:ln w="31750">
            <a:solidFill>
              <a:srgbClr val="FFFFFF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10B4FDE7-8BF9-DF06-0F69-09FB129DCC16}"/>
              </a:ext>
            </a:extLst>
          </p:cNvPr>
          <p:cNvSpPr/>
          <p:nvPr/>
        </p:nvSpPr>
        <p:spPr>
          <a:xfrm>
            <a:off x="9070848" y="757313"/>
            <a:ext cx="1609344" cy="2514600"/>
          </a:xfrm>
          <a:prstGeom prst="roundRect">
            <a:avLst>
              <a:gd name="adj" fmla="val 4545"/>
            </a:avLst>
          </a:prstGeom>
          <a:ln w="19050">
            <a:solidFill>
              <a:srgbClr val="7FA08D"/>
            </a:solidFill>
            <a:prstDash val="dash"/>
          </a:ln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2A761782-CF7C-308C-3B80-0498DF336BB0}"/>
              </a:ext>
            </a:extLst>
          </p:cNvPr>
          <p:cNvSpPr/>
          <p:nvPr/>
        </p:nvSpPr>
        <p:spPr>
          <a:xfrm>
            <a:off x="9793224" y="3363353"/>
            <a:ext cx="164592" cy="164592"/>
          </a:xfrm>
          <a:prstGeom prst="ellipse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2C7A5562-9FD4-9F30-CBB7-8A87CEA3FF41}"/>
              </a:ext>
            </a:extLst>
          </p:cNvPr>
          <p:cNvSpPr/>
          <p:nvPr/>
        </p:nvSpPr>
        <p:spPr>
          <a:xfrm>
            <a:off x="822960" y="5542784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+ DJANGO REST FRAMEWORK   ·   BUILT BY A 4-PERSON TEAM</a:t>
            </a:r>
            <a:endParaRPr lang="en-US" sz="14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98DCC57-C57D-29F4-848B-4592933FA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44" y="219261"/>
            <a:ext cx="662872" cy="662872"/>
          </a:xfrm>
          <a:prstGeom prst="rect">
            <a:avLst/>
          </a:prstGeom>
          <a:effectLst>
            <a:softEdge rad="101600"/>
          </a:effectLst>
        </p:spPr>
      </p:pic>
      <p:sp>
        <p:nvSpPr>
          <p:cNvPr id="20" name="Shape 7">
            <a:extLst>
              <a:ext uri="{FF2B5EF4-FFF2-40B4-BE49-F238E27FC236}">
                <a16:creationId xmlns:a16="http://schemas.microsoft.com/office/drawing/2014/main" id="{C1F8919A-73F7-4265-A4C1-D8E5C05405E9}"/>
              </a:ext>
            </a:extLst>
          </p:cNvPr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01390A"/>
          </a:solidFill>
          <a:ln/>
        </p:spPr>
      </p:sp>
      <p:sp>
        <p:nvSpPr>
          <p:cNvPr id="21" name="!!Spine">
            <a:extLst>
              <a:ext uri="{FF2B5EF4-FFF2-40B4-BE49-F238E27FC236}">
                <a16:creationId xmlns:a16="http://schemas.microsoft.com/office/drawing/2014/main" id="{B9CC9F5E-C7BF-295E-25AD-BBA21976F4D0}"/>
              </a:ext>
            </a:extLst>
          </p:cNvPr>
          <p:cNvSpPr/>
          <p:nvPr/>
        </p:nvSpPr>
        <p:spPr>
          <a:xfrm>
            <a:off x="640080" y="6327648"/>
            <a:ext cx="495854" cy="82296"/>
          </a:xfrm>
          <a:prstGeom prst="rect">
            <a:avLst/>
          </a:prstGeom>
          <a:solidFill>
            <a:srgbClr val="4F6B5C"/>
          </a:solidFill>
          <a:ln/>
        </p:spPr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06A4E"/>
                </a:solidFill>
                <a:latin typeface="Aptos"/>
              </a:rPr>
              <a:t>01 •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dirty="0">
                <a:solidFill>
                  <a:srgbClr val="112A23"/>
                </a:solidFill>
                <a:latin typeface="Aptos Display"/>
              </a:rPr>
              <a:t>The Problem </a:t>
            </a:r>
            <a:r>
              <a:rPr sz="3600" b="1" dirty="0" err="1">
                <a:solidFill>
                  <a:srgbClr val="112A23"/>
                </a:solidFill>
                <a:latin typeface="Aptos Display"/>
              </a:rPr>
              <a:t>Sathify</a:t>
            </a:r>
            <a:r>
              <a:rPr sz="3600" b="1" dirty="0">
                <a:solidFill>
                  <a:srgbClr val="112A23"/>
                </a:solidFill>
                <a:latin typeface="Aptos Display"/>
              </a:rPr>
              <a:t> Solves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Rounded Rectangle 5"/>
          <p:cNvSpPr/>
          <p:nvPr/>
        </p:nvSpPr>
        <p:spPr>
          <a:xfrm>
            <a:off x="822959" y="1463039"/>
            <a:ext cx="475488" cy="475488"/>
          </a:xfrm>
          <a:prstGeom prst="roundRect">
            <a:avLst/>
          </a:prstGeom>
          <a:solidFill>
            <a:srgbClr val="C2564C"/>
          </a:solidFill>
          <a:ln>
            <a:solidFill>
              <a:srgbClr val="C25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822959" y="1600200"/>
            <a:ext cx="4754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63039"/>
            <a:ext cx="2423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112A23"/>
                </a:solidFill>
                <a:latin typeface="Aptos Display"/>
              </a:rPr>
              <a:t>Unverified Hiring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28695"/>
            <a:ext cx="242316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66746C"/>
                </a:solidFill>
                <a:latin typeface="Aptos"/>
              </a:rPr>
              <a:t>Residents often depend on informal contacts and have limited proof of </a:t>
            </a:r>
            <a:r>
              <a:rPr lang="en-IN" sz="1400" b="0" dirty="0">
                <a:solidFill>
                  <a:srgbClr val="66746C"/>
                </a:solidFill>
                <a:latin typeface="Aptos"/>
              </a:rPr>
              <a:t>helper</a:t>
            </a:r>
            <a:r>
              <a:rPr sz="1400" b="0" dirty="0">
                <a:solidFill>
                  <a:srgbClr val="66746C"/>
                </a:solidFill>
                <a:latin typeface="Aptos"/>
              </a:rPr>
              <a:t> identity, experience or reliability.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28016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Rounded Rectangle 10"/>
          <p:cNvSpPr/>
          <p:nvPr/>
        </p:nvSpPr>
        <p:spPr>
          <a:xfrm>
            <a:off x="4553712" y="1463039"/>
            <a:ext cx="475488" cy="475488"/>
          </a:xfrm>
          <a:prstGeom prst="roundRect">
            <a:avLst/>
          </a:prstGeom>
          <a:solidFill>
            <a:srgbClr val="3D719D"/>
          </a:solidFill>
          <a:ln>
            <a:solidFill>
              <a:srgbClr val="3D71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4553712" y="1600200"/>
            <a:ext cx="4754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93792" y="1463039"/>
            <a:ext cx="2423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 Display"/>
              </a:rPr>
              <a:t>Manual Attendance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1947672"/>
            <a:ext cx="24231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66746C"/>
                </a:solidFill>
                <a:latin typeface="Aptos"/>
              </a:rPr>
              <a:t>Paper registers and manual gate checks make </a:t>
            </a:r>
            <a:r>
              <a:rPr lang="en-IN" sz="1400" b="0" dirty="0">
                <a:solidFill>
                  <a:srgbClr val="66746C"/>
                </a:solidFill>
                <a:latin typeface="Aptos"/>
              </a:rPr>
              <a:t>helper</a:t>
            </a:r>
            <a:r>
              <a:rPr sz="1400" b="0" dirty="0">
                <a:solidFill>
                  <a:srgbClr val="66746C"/>
                </a:solidFill>
                <a:latin typeface="Aptos"/>
              </a:rPr>
              <a:t> entry, exit and attendance difficult to track accurately.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8996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Rounded Rectangle 15"/>
          <p:cNvSpPr/>
          <p:nvPr/>
        </p:nvSpPr>
        <p:spPr>
          <a:xfrm>
            <a:off x="822960" y="3672839"/>
            <a:ext cx="475488" cy="475488"/>
          </a:xfrm>
          <a:prstGeom prst="roundRect">
            <a:avLst/>
          </a:prstGeom>
          <a:solidFill>
            <a:srgbClr val="D3A439"/>
          </a:solidFill>
          <a:ln>
            <a:solidFill>
              <a:srgbClr val="D3A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822960" y="3810000"/>
            <a:ext cx="4754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1" y="3672839"/>
            <a:ext cx="2423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 Display"/>
              </a:rPr>
              <a:t>Scattered Payments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1" y="4157472"/>
            <a:ext cx="24231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46C"/>
                </a:solidFill>
                <a:latin typeface="Aptos"/>
              </a:rPr>
              <a:t>Salary, one-day service payments, tips, refunds and payout records can become difficult to reconcile.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3490762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Rounded Rectangle 20"/>
          <p:cNvSpPr/>
          <p:nvPr/>
        </p:nvSpPr>
        <p:spPr>
          <a:xfrm>
            <a:off x="4553712" y="3673642"/>
            <a:ext cx="475488" cy="475488"/>
          </a:xfrm>
          <a:prstGeom prst="roundRect">
            <a:avLst/>
          </a:prstGeom>
          <a:solidFill>
            <a:srgbClr val="006A4E"/>
          </a:solidFill>
          <a:ln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TextBox 21"/>
          <p:cNvSpPr txBox="1"/>
          <p:nvPr/>
        </p:nvSpPr>
        <p:spPr>
          <a:xfrm>
            <a:off x="4553712" y="3810801"/>
            <a:ext cx="4754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3792" y="3673642"/>
            <a:ext cx="2423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112A23"/>
                </a:solidFill>
                <a:latin typeface="Aptos Display"/>
              </a:rPr>
              <a:t>Weak Accountability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6839" y="4042974"/>
            <a:ext cx="242316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66746C"/>
                </a:solidFill>
                <a:latin typeface="Aptos"/>
              </a:rPr>
              <a:t>Complaints, ratings and work history are usually fragmented, making trust difficult to build on both sides.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1583" y="3490762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Rounded Rectangle 25"/>
          <p:cNvSpPr/>
          <p:nvPr/>
        </p:nvSpPr>
        <p:spPr>
          <a:xfrm>
            <a:off x="8284463" y="3673642"/>
            <a:ext cx="475488" cy="475488"/>
          </a:xfrm>
          <a:prstGeom prst="roundRect">
            <a:avLst/>
          </a:prstGeom>
          <a:solidFill>
            <a:srgbClr val="006A4E"/>
          </a:solidFill>
          <a:ln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" name="TextBox 26"/>
          <p:cNvSpPr txBox="1"/>
          <p:nvPr/>
        </p:nvSpPr>
        <p:spPr>
          <a:xfrm>
            <a:off x="8284463" y="3810801"/>
            <a:ext cx="4754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24543" y="3673642"/>
            <a:ext cx="2423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 Display"/>
              </a:rPr>
              <a:t>No Unified Society Platform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24543" y="4280038"/>
            <a:ext cx="24231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66746C"/>
                </a:solidFill>
                <a:latin typeface="Aptos"/>
              </a:rPr>
              <a:t>Residents, </a:t>
            </a:r>
            <a:r>
              <a:rPr lang="en-IN" sz="1400" b="0" dirty="0">
                <a:solidFill>
                  <a:srgbClr val="66746C"/>
                </a:solidFill>
                <a:latin typeface="Aptos"/>
              </a:rPr>
              <a:t>helper</a:t>
            </a:r>
            <a:r>
              <a:rPr sz="1400" b="0" dirty="0">
                <a:solidFill>
                  <a:srgbClr val="66746C"/>
                </a:solidFill>
                <a:latin typeface="Aptos"/>
              </a:rPr>
              <a:t>s, guards and administrators need different tools, but their activities are connected.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71323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46C"/>
                </a:solidFill>
                <a:latin typeface="Aptos"/>
              </a:rPr>
              <a:t>SATHIFY  •  Smart Society Domestic Workforce Management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92240"/>
            <a:ext cx="411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>
                <a:solidFill>
                  <a:srgbClr val="006A4E"/>
                </a:solidFill>
                <a:latin typeface="Aptos"/>
              </a:rPr>
              <a:t>2</a:t>
            </a:r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0BD5295C-3C77-4FFE-60BA-9E7E70F66F87}"/>
              </a:ext>
            </a:extLst>
          </p:cNvPr>
          <p:cNvSpPr/>
          <p:nvPr/>
        </p:nvSpPr>
        <p:spPr>
          <a:xfrm>
            <a:off x="8284463" y="28903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7FA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PAPER REGISTER</a:t>
            </a:r>
            <a:endParaRPr lang="en-US" sz="12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ADC786CD-BE4E-AF5E-7B93-343730E6C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420" y="5526282"/>
            <a:ext cx="662872" cy="662872"/>
          </a:xfrm>
          <a:prstGeom prst="rect">
            <a:avLst/>
          </a:prstGeom>
          <a:effectLst>
            <a:softEdge rad="101600"/>
          </a:effectLst>
        </p:spPr>
      </p:pic>
      <p:sp>
        <p:nvSpPr>
          <p:cNvPr id="37" name="Shape 7">
            <a:extLst>
              <a:ext uri="{FF2B5EF4-FFF2-40B4-BE49-F238E27FC236}">
                <a16:creationId xmlns:a16="http://schemas.microsoft.com/office/drawing/2014/main" id="{B50AE30D-3D12-4009-8892-AEA5A071E1AF}"/>
              </a:ext>
            </a:extLst>
          </p:cNvPr>
          <p:cNvSpPr/>
          <p:nvPr/>
        </p:nvSpPr>
        <p:spPr>
          <a:xfrm>
            <a:off x="658368" y="6320082"/>
            <a:ext cx="10908792" cy="82296"/>
          </a:xfrm>
          <a:prstGeom prst="rect">
            <a:avLst/>
          </a:prstGeom>
          <a:solidFill>
            <a:srgbClr val="01390A"/>
          </a:solidFill>
          <a:ln>
            <a:solidFill>
              <a:schemeClr val="accent3">
                <a:lumMod val="75000"/>
              </a:schemeClr>
            </a:solidFill>
          </a:ln>
        </p:spPr>
      </p:sp>
      <p:sp>
        <p:nvSpPr>
          <p:cNvPr id="36" name="!!Spine">
            <a:extLst>
              <a:ext uri="{FF2B5EF4-FFF2-40B4-BE49-F238E27FC236}">
                <a16:creationId xmlns:a16="http://schemas.microsoft.com/office/drawing/2014/main" id="{DCF3D548-853D-D929-F2CF-63C3C8B7F371}"/>
              </a:ext>
            </a:extLst>
          </p:cNvPr>
          <p:cNvSpPr/>
          <p:nvPr/>
        </p:nvSpPr>
        <p:spPr>
          <a:xfrm>
            <a:off x="640080" y="6327648"/>
            <a:ext cx="991708" cy="82296"/>
          </a:xfrm>
          <a:prstGeom prst="rect">
            <a:avLst/>
          </a:prstGeom>
          <a:solidFill>
            <a:schemeClr val="accent3">
              <a:lumMod val="75000"/>
            </a:schemeClr>
          </a:solidFill>
          <a:ln/>
        </p:spPr>
      </p:sp>
      <p:sp>
        <p:nvSpPr>
          <p:cNvPr id="35" name="Shape 5">
            <a:extLst>
              <a:ext uri="{FF2B5EF4-FFF2-40B4-BE49-F238E27FC236}">
                <a16:creationId xmlns:a16="http://schemas.microsoft.com/office/drawing/2014/main" id="{742DB3CC-2CCB-AF82-12A8-8A02D0ED9676}"/>
              </a:ext>
            </a:extLst>
          </p:cNvPr>
          <p:cNvSpPr/>
          <p:nvPr/>
        </p:nvSpPr>
        <p:spPr>
          <a:xfrm rot="20881160">
            <a:off x="8489196" y="509222"/>
            <a:ext cx="1609344" cy="2141429"/>
          </a:xfrm>
          <a:prstGeom prst="roundRect">
            <a:avLst>
              <a:gd name="adj" fmla="val 4545"/>
            </a:avLst>
          </a:prstGeom>
          <a:ln w="19050">
            <a:solidFill>
              <a:srgbClr val="7FA08D"/>
            </a:solidFill>
            <a:prstDash val="dash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201168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006A4E"/>
                </a:solidFill>
                <a:latin typeface="Aptos"/>
              </a:rPr>
              <a:t>02 •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789920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12A23"/>
                </a:solidFill>
                <a:latin typeface="Aptos Display"/>
              </a:rPr>
              <a:t>One Platform. Four Roles. One Shared Trust Record.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1663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Rounded Rectangle 5"/>
          <p:cNvSpPr/>
          <p:nvPr/>
        </p:nvSpPr>
        <p:spPr>
          <a:xfrm>
            <a:off x="822960" y="1435608"/>
            <a:ext cx="1554480" cy="347472"/>
          </a:xfrm>
          <a:prstGeom prst="roundRect">
            <a:avLst/>
          </a:prstGeom>
          <a:solidFill>
            <a:srgbClr val="006A4E"/>
          </a:solidFill>
          <a:ln w="12700"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1463039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RESIDENT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58026"/>
            <a:ext cx="461772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112A23"/>
                </a:solidFill>
                <a:latin typeface="Aptos"/>
              </a:rPr>
              <a:t>Discover • Hire • Book • Schedule • Pay </a:t>
            </a:r>
            <a:endParaRPr lang="en-IN" b="1" dirty="0">
              <a:solidFill>
                <a:srgbClr val="112A23"/>
              </a:solidFill>
              <a:latin typeface="Aptos"/>
            </a:endParaRPr>
          </a:p>
          <a:p>
            <a:pPr algn="l"/>
            <a:r>
              <a:rPr b="1" dirty="0">
                <a:solidFill>
                  <a:srgbClr val="112A23"/>
                </a:solidFill>
                <a:latin typeface="Aptos"/>
              </a:rPr>
              <a:t>•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6177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66746C"/>
                </a:solidFill>
                <a:latin typeface="Aptos"/>
              </a:rPr>
              <a:t>Sets expectations and manages household-side engagements.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234440"/>
            <a:ext cx="51663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Rounded Rectangle 10"/>
          <p:cNvSpPr/>
          <p:nvPr/>
        </p:nvSpPr>
        <p:spPr>
          <a:xfrm>
            <a:off x="6355080" y="1435608"/>
            <a:ext cx="1554480" cy="347472"/>
          </a:xfrm>
          <a:prstGeom prst="roundRect">
            <a:avLst/>
          </a:prstGeom>
          <a:solidFill>
            <a:srgbClr val="D3A439"/>
          </a:solidFill>
          <a:ln w="12700">
            <a:solidFill>
              <a:srgbClr val="D3A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1463039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DOMESTIC WORKER</a:t>
            </a:r>
            <a:endParaRPr sz="105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46125" y="1901975"/>
            <a:ext cx="461772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112A23"/>
                </a:solidFill>
                <a:latin typeface="Aptos"/>
              </a:rPr>
              <a:t>KYC • Availability • Attendance • Leave </a:t>
            </a:r>
            <a:endParaRPr lang="en-IN" b="1" dirty="0">
              <a:solidFill>
                <a:srgbClr val="112A23"/>
              </a:solidFill>
              <a:latin typeface="Aptos"/>
            </a:endParaRPr>
          </a:p>
          <a:p>
            <a:pPr algn="l"/>
            <a:r>
              <a:rPr b="1" dirty="0">
                <a:solidFill>
                  <a:srgbClr val="112A23"/>
                </a:solidFill>
                <a:latin typeface="Aptos"/>
              </a:rPr>
              <a:t>• Earnings •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33408"/>
            <a:ext cx="46177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66746C"/>
                </a:solidFill>
                <a:latin typeface="Aptos"/>
              </a:rPr>
              <a:t>Owns the </a:t>
            </a:r>
            <a:r>
              <a:rPr lang="en-IN" sz="1400" b="0" dirty="0">
                <a:solidFill>
                  <a:srgbClr val="66746C"/>
                </a:solidFill>
                <a:latin typeface="Aptos"/>
              </a:rPr>
              <a:t>helper</a:t>
            </a:r>
            <a:r>
              <a:rPr sz="1400" b="0" dirty="0">
                <a:solidFill>
                  <a:srgbClr val="66746C"/>
                </a:solidFill>
                <a:latin typeface="Aptos"/>
              </a:rPr>
              <a:t>-side profile and work history.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566160"/>
            <a:ext cx="51663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Rounded Rectangle 15"/>
          <p:cNvSpPr/>
          <p:nvPr/>
        </p:nvSpPr>
        <p:spPr>
          <a:xfrm>
            <a:off x="822960" y="3767328"/>
            <a:ext cx="1554480" cy="347472"/>
          </a:xfrm>
          <a:prstGeom prst="roundRect">
            <a:avLst/>
          </a:prstGeom>
          <a:solidFill>
            <a:srgbClr val="3D719D"/>
          </a:solidFill>
          <a:ln w="12700">
            <a:solidFill>
              <a:srgbClr val="3D71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868680" y="3840480"/>
            <a:ext cx="1463039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SECURITY GUARD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95022"/>
            <a:ext cx="461772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112A23"/>
                </a:solidFill>
                <a:latin typeface="Aptos"/>
              </a:rPr>
              <a:t>Scan • Verify • Allow/Deny • Log </a:t>
            </a:r>
            <a:br>
              <a:rPr lang="en-IN" b="1" dirty="0">
                <a:solidFill>
                  <a:srgbClr val="112A23"/>
                </a:solidFill>
                <a:latin typeface="Aptos"/>
              </a:rPr>
            </a:br>
            <a:r>
              <a:rPr b="1" dirty="0">
                <a:solidFill>
                  <a:srgbClr val="112A23"/>
                </a:solidFill>
                <a:latin typeface="Aptos"/>
              </a:rPr>
              <a:t>• Work Offline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26020"/>
            <a:ext cx="46177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66746C"/>
                </a:solidFill>
                <a:latin typeface="Aptos"/>
              </a:rPr>
              <a:t>Makes the final gate decision when automated evidence is uncertain.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566160"/>
            <a:ext cx="51663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Rounded Rectangle 20"/>
          <p:cNvSpPr/>
          <p:nvPr/>
        </p:nvSpPr>
        <p:spPr>
          <a:xfrm>
            <a:off x="6355080" y="3767328"/>
            <a:ext cx="1554480" cy="347472"/>
          </a:xfrm>
          <a:prstGeom prst="roundRect">
            <a:avLst/>
          </a:prstGeom>
          <a:solidFill>
            <a:srgbClr val="C2564C"/>
          </a:solidFill>
          <a:ln w="12700">
            <a:solidFill>
              <a:srgbClr val="C25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TextBox 21"/>
          <p:cNvSpPr txBox="1"/>
          <p:nvPr/>
        </p:nvSpPr>
        <p:spPr>
          <a:xfrm>
            <a:off x="6400800" y="3840480"/>
            <a:ext cx="1463039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SOCIETY 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213876"/>
            <a:ext cx="461772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112A23"/>
                </a:solidFill>
                <a:latin typeface="Aptos"/>
              </a:rPr>
              <a:t>Approve • Monitor • Resolve • Report</a:t>
            </a:r>
            <a:endParaRPr lang="en-IN" b="1" dirty="0">
              <a:solidFill>
                <a:srgbClr val="112A23"/>
              </a:solidFill>
              <a:latin typeface="Aptos"/>
            </a:endParaRPr>
          </a:p>
          <a:p>
            <a:pPr algn="l"/>
            <a:r>
              <a:rPr b="1" dirty="0">
                <a:solidFill>
                  <a:srgbClr val="112A23"/>
                </a:solidFill>
                <a:latin typeface="Aptos"/>
              </a:rPr>
              <a:t> • Configure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800600"/>
            <a:ext cx="46177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46C"/>
                </a:solidFill>
                <a:latin typeface="Aptos"/>
              </a:rPr>
              <a:t>Owns society-level operations and is the subscription counterparty.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8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7315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46C"/>
                </a:solidFill>
                <a:latin typeface="Aptos"/>
              </a:rPr>
              <a:t>SATHIFY  •  Smart Society Domestic Workforce Management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92240"/>
            <a:ext cx="59436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IN" sz="1050" b="1" dirty="0">
                <a:solidFill>
                  <a:srgbClr val="006A4E"/>
                </a:solidFill>
                <a:latin typeface="Aptos"/>
              </a:rPr>
              <a:t>3</a:t>
            </a:r>
            <a:endParaRPr sz="1050" b="1" dirty="0">
              <a:solidFill>
                <a:srgbClr val="006A4E"/>
              </a:solidFill>
              <a:latin typeface="Aptos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D764FC7-F5CA-96A1-200A-65C0C35EF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420" y="5526282"/>
            <a:ext cx="662872" cy="662872"/>
          </a:xfrm>
          <a:prstGeom prst="rect">
            <a:avLst/>
          </a:prstGeom>
          <a:effectLst>
            <a:softEdge rad="101600"/>
          </a:effectLst>
        </p:spPr>
      </p:pic>
      <p:sp>
        <p:nvSpPr>
          <p:cNvPr id="30" name="Shape 4">
            <a:extLst>
              <a:ext uri="{FF2B5EF4-FFF2-40B4-BE49-F238E27FC236}">
                <a16:creationId xmlns:a16="http://schemas.microsoft.com/office/drawing/2014/main" id="{D0529E0F-63CA-D62E-FCD0-62A1A5294D64}"/>
              </a:ext>
            </a:extLst>
          </p:cNvPr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chemeClr val="accent3">
              <a:lumMod val="50000"/>
            </a:schemeClr>
          </a:solidFill>
          <a:ln/>
        </p:spPr>
      </p:sp>
      <p:sp>
        <p:nvSpPr>
          <p:cNvPr id="31" name="!!Spine">
            <a:extLst>
              <a:ext uri="{FF2B5EF4-FFF2-40B4-BE49-F238E27FC236}">
                <a16:creationId xmlns:a16="http://schemas.microsoft.com/office/drawing/2014/main" id="{51A3C155-3507-6312-6152-F7DD556D5FB6}"/>
              </a:ext>
            </a:extLst>
          </p:cNvPr>
          <p:cNvSpPr/>
          <p:nvPr/>
        </p:nvSpPr>
        <p:spPr>
          <a:xfrm>
            <a:off x="640080" y="6327648"/>
            <a:ext cx="1487563" cy="82296"/>
          </a:xfrm>
          <a:prstGeom prst="rect">
            <a:avLst/>
          </a:prstGeom>
          <a:solidFill>
            <a:schemeClr val="accent3">
              <a:lumMod val="75000"/>
            </a:schemeClr>
          </a:solidFill>
          <a:ln/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2883" y="5016547"/>
            <a:ext cx="2142959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 dirty="0">
                <a:solidFill>
                  <a:srgbClr val="186F52"/>
                </a:solidFill>
                <a:latin typeface="Aptos"/>
              </a:rPr>
              <a:t>Flow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6925" y="5497547"/>
            <a:ext cx="5077544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374641"/>
                </a:solidFill>
                <a:latin typeface="Aptos"/>
              </a:rPr>
              <a:t>1. </a:t>
            </a:r>
            <a:r>
              <a:rPr lang="en-IN" sz="1400" b="0" dirty="0">
                <a:solidFill>
                  <a:srgbClr val="374641"/>
                </a:solidFill>
                <a:latin typeface="Aptos"/>
              </a:rPr>
              <a:t>Helper</a:t>
            </a:r>
            <a:r>
              <a:rPr sz="1400" b="0" dirty="0">
                <a:solidFill>
                  <a:srgbClr val="374641"/>
                </a:solidFill>
                <a:latin typeface="Aptos"/>
              </a:rPr>
              <a:t> registers and submits KYC; Admin verifies and approves.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43325" y="5497547"/>
            <a:ext cx="563045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374641"/>
                </a:solidFill>
                <a:latin typeface="Aptos"/>
              </a:rPr>
              <a:t>2. Resident discovers the verified </a:t>
            </a:r>
            <a:r>
              <a:rPr lang="en-IN" sz="1400" b="0" dirty="0">
                <a:solidFill>
                  <a:srgbClr val="374641"/>
                </a:solidFill>
                <a:latin typeface="Aptos"/>
              </a:rPr>
              <a:t>helper</a:t>
            </a:r>
            <a:r>
              <a:rPr sz="1400" b="0" dirty="0">
                <a:solidFill>
                  <a:srgbClr val="374641"/>
                </a:solidFill>
                <a:latin typeface="Aptos"/>
              </a:rPr>
              <a:t> and creates a booking/schedule.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925" y="5794926"/>
            <a:ext cx="4953920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374641"/>
                </a:solidFill>
                <a:latin typeface="Aptos"/>
              </a:rPr>
              <a:t>3. Guard verifies entry/exit via QR; </a:t>
            </a:r>
            <a:r>
              <a:rPr lang="en-IN" sz="1400" b="0" dirty="0">
                <a:solidFill>
                  <a:srgbClr val="374641"/>
                </a:solidFill>
                <a:latin typeface="Aptos"/>
              </a:rPr>
              <a:t>Helper</a:t>
            </a:r>
            <a:r>
              <a:rPr sz="1400" b="0" dirty="0">
                <a:solidFill>
                  <a:srgbClr val="374641"/>
                </a:solidFill>
                <a:latin typeface="Aptos"/>
              </a:rPr>
              <a:t> completes the service.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3325" y="5790155"/>
            <a:ext cx="468339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>
                <a:solidFill>
                  <a:srgbClr val="374641"/>
                </a:solidFill>
                <a:latin typeface="Aptos"/>
              </a:rPr>
              <a:t>4. Resident pays via Razorpay; rating updates the trust score.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3EDB87-A1F9-2BB1-11B1-8A9259B64F10}"/>
              </a:ext>
            </a:extLst>
          </p:cNvPr>
          <p:cNvSpPr txBox="1"/>
          <p:nvPr/>
        </p:nvSpPr>
        <p:spPr>
          <a:xfrm>
            <a:off x="5268336" y="6498069"/>
            <a:ext cx="60976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1050" b="1" dirty="0">
                <a:solidFill>
                  <a:srgbClr val="006A4E"/>
                </a:solidFill>
                <a:latin typeface="Aptos"/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54EDFA-3947-6BEC-559D-5E7023F8021A}"/>
              </a:ext>
            </a:extLst>
          </p:cNvPr>
          <p:cNvSpPr txBox="1"/>
          <p:nvPr/>
        </p:nvSpPr>
        <p:spPr>
          <a:xfrm>
            <a:off x="594360" y="6498069"/>
            <a:ext cx="60976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>
                <a:solidFill>
                  <a:srgbClr val="66746C"/>
                </a:solidFill>
                <a:latin typeface="Aptos"/>
              </a:rPr>
              <a:t>SATHIFY  •  Smart Society Domestic Workforce Management System</a:t>
            </a:r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2B5E4299-5EAB-DD1C-4E2E-230F42FD5DFB}"/>
              </a:ext>
            </a:extLst>
          </p:cNvPr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chemeClr val="accent3">
              <a:lumMod val="50000"/>
            </a:schemeClr>
          </a:solidFill>
          <a:ln/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154B84F-D7C7-CE7B-6FD2-110FD8FBE9D0}"/>
              </a:ext>
            </a:extLst>
          </p:cNvPr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F28073-43F8-6D78-A9C3-1EB842C90BB8}"/>
              </a:ext>
            </a:extLst>
          </p:cNvPr>
          <p:cNvSpPr txBox="1"/>
          <p:nvPr/>
        </p:nvSpPr>
        <p:spPr>
          <a:xfrm>
            <a:off x="653025" y="260486"/>
            <a:ext cx="299923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dirty="0">
                <a:solidFill>
                  <a:srgbClr val="006A4E"/>
                </a:solidFill>
                <a:latin typeface="Aptos"/>
              </a:rPr>
              <a:t>0</a:t>
            </a:r>
            <a:r>
              <a:rPr lang="en-IN" sz="1600" b="1" dirty="0">
                <a:solidFill>
                  <a:srgbClr val="006A4E"/>
                </a:solidFill>
                <a:latin typeface="Aptos"/>
              </a:rPr>
              <a:t>4</a:t>
            </a:r>
            <a:r>
              <a:rPr sz="1600" b="1" dirty="0">
                <a:solidFill>
                  <a:srgbClr val="006A4E"/>
                </a:solidFill>
                <a:latin typeface="Aptos"/>
              </a:rPr>
              <a:t> • </a:t>
            </a:r>
            <a:r>
              <a:rPr lang="en-IN" sz="1600" b="1" dirty="0">
                <a:solidFill>
                  <a:srgbClr val="192D4B"/>
                </a:solidFill>
                <a:latin typeface="Aptos Display"/>
              </a:rPr>
              <a:t>Use Case Diagram</a:t>
            </a:r>
          </a:p>
        </p:txBody>
      </p:sp>
      <p:sp>
        <p:nvSpPr>
          <p:cNvPr id="25" name="!!Spine">
            <a:extLst>
              <a:ext uri="{FF2B5EF4-FFF2-40B4-BE49-F238E27FC236}">
                <a16:creationId xmlns:a16="http://schemas.microsoft.com/office/drawing/2014/main" id="{1B3E6C06-ED07-AB18-0272-D9AB1E02E1FB}"/>
              </a:ext>
            </a:extLst>
          </p:cNvPr>
          <p:cNvSpPr/>
          <p:nvPr/>
        </p:nvSpPr>
        <p:spPr>
          <a:xfrm>
            <a:off x="640081" y="6327648"/>
            <a:ext cx="2139632" cy="82296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E43C68D8-01EA-D386-EF84-5F5E2ADA9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656" y="1997564"/>
            <a:ext cx="1047750" cy="2286000"/>
          </a:xfrm>
          <a:prstGeom prst="rect">
            <a:avLst/>
          </a:prstGeom>
        </p:spPr>
      </p:pic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F00993FF-4F28-C396-4F9A-70854AE409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1406" y="1997564"/>
            <a:ext cx="1047750" cy="2286000"/>
          </a:xfrm>
          <a:prstGeom prst="rect">
            <a:avLst/>
          </a:prstGeom>
        </p:spPr>
      </p:pic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A6E41248-B9FE-FB36-3F13-E4CFB8EF86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0156" y="1997564"/>
            <a:ext cx="1047750" cy="2286000"/>
          </a:xfrm>
          <a:prstGeom prst="rect">
            <a:avLst/>
          </a:prstGeom>
        </p:spPr>
      </p:pic>
      <p:pic>
        <p:nvPicPr>
          <p:cNvPr id="19" name="Picture 18" descr="image.png">
            <a:extLst>
              <a:ext uri="{FF2B5EF4-FFF2-40B4-BE49-F238E27FC236}">
                <a16:creationId xmlns:a16="http://schemas.microsoft.com/office/drawing/2014/main" id="{23B71708-DD5B-D7AC-E43E-C059891FFB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8906" y="1997564"/>
            <a:ext cx="1047750" cy="2286000"/>
          </a:xfrm>
          <a:prstGeom prst="rect">
            <a:avLst/>
          </a:prstGeom>
        </p:spPr>
      </p:pic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EF9778B4-3885-A526-CD34-964EA42412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7656" y="1997564"/>
            <a:ext cx="1047750" cy="2286000"/>
          </a:xfrm>
          <a:prstGeom prst="rect">
            <a:avLst/>
          </a:prstGeom>
        </p:spPr>
      </p:pic>
      <p:pic>
        <p:nvPicPr>
          <p:cNvPr id="24" name="Picture 23" descr="image.png">
            <a:extLst>
              <a:ext uri="{FF2B5EF4-FFF2-40B4-BE49-F238E27FC236}">
                <a16:creationId xmlns:a16="http://schemas.microsoft.com/office/drawing/2014/main" id="{0AB1748E-4E5F-9E1B-947C-2A47C29E4D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6406" y="1997564"/>
            <a:ext cx="1047750" cy="2286000"/>
          </a:xfrm>
          <a:prstGeom prst="rect">
            <a:avLst/>
          </a:prstGeom>
        </p:spPr>
      </p:pic>
      <p:pic>
        <p:nvPicPr>
          <p:cNvPr id="27" name="Picture 26" descr="image.png">
            <a:extLst>
              <a:ext uri="{FF2B5EF4-FFF2-40B4-BE49-F238E27FC236}">
                <a16:creationId xmlns:a16="http://schemas.microsoft.com/office/drawing/2014/main" id="{7ED7F9AA-0338-E9C3-5F0E-4875E6802F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5156" y="1997564"/>
            <a:ext cx="1047750" cy="2286000"/>
          </a:xfrm>
          <a:prstGeom prst="rect">
            <a:avLst/>
          </a:prstGeom>
        </p:spPr>
      </p:pic>
      <p:pic>
        <p:nvPicPr>
          <p:cNvPr id="29" name="Picture 28" descr="image.png">
            <a:extLst>
              <a:ext uri="{FF2B5EF4-FFF2-40B4-BE49-F238E27FC236}">
                <a16:creationId xmlns:a16="http://schemas.microsoft.com/office/drawing/2014/main" id="{1F7D824D-03FD-1028-9E6A-C8FFA133F4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33906" y="1997564"/>
            <a:ext cx="1047750" cy="2286000"/>
          </a:xfrm>
          <a:prstGeom prst="rect">
            <a:avLst/>
          </a:prstGeom>
        </p:spPr>
      </p:pic>
      <p:pic>
        <p:nvPicPr>
          <p:cNvPr id="31" name="Picture 30" descr="image.png">
            <a:extLst>
              <a:ext uri="{FF2B5EF4-FFF2-40B4-BE49-F238E27FC236}">
                <a16:creationId xmlns:a16="http://schemas.microsoft.com/office/drawing/2014/main" id="{8351D368-66BF-1592-170D-5E17E55BAD3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6956" y="2111864"/>
            <a:ext cx="228600" cy="228600"/>
          </a:xfrm>
          <a:prstGeom prst="rect">
            <a:avLst/>
          </a:prstGeom>
        </p:spPr>
      </p:pic>
      <p:pic>
        <p:nvPicPr>
          <p:cNvPr id="33" name="Picture 32" descr="image.png">
            <a:extLst>
              <a:ext uri="{FF2B5EF4-FFF2-40B4-BE49-F238E27FC236}">
                <a16:creationId xmlns:a16="http://schemas.microsoft.com/office/drawing/2014/main" id="{8C368BBB-D8B5-8CEB-7FC2-9984CD0ADA9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75706" y="2111864"/>
            <a:ext cx="228600" cy="228600"/>
          </a:xfrm>
          <a:prstGeom prst="rect">
            <a:avLst/>
          </a:prstGeom>
        </p:spPr>
      </p:pic>
      <p:pic>
        <p:nvPicPr>
          <p:cNvPr id="35" name="Picture 34" descr="image.png">
            <a:extLst>
              <a:ext uri="{FF2B5EF4-FFF2-40B4-BE49-F238E27FC236}">
                <a16:creationId xmlns:a16="http://schemas.microsoft.com/office/drawing/2014/main" id="{975FD94B-5B04-1E0D-03CB-7202A9A600B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04456" y="2111864"/>
            <a:ext cx="228600" cy="228600"/>
          </a:xfrm>
          <a:prstGeom prst="rect">
            <a:avLst/>
          </a:prstGeom>
        </p:spPr>
      </p:pic>
      <p:pic>
        <p:nvPicPr>
          <p:cNvPr id="37" name="Picture 36" descr="image.png">
            <a:extLst>
              <a:ext uri="{FF2B5EF4-FFF2-40B4-BE49-F238E27FC236}">
                <a16:creationId xmlns:a16="http://schemas.microsoft.com/office/drawing/2014/main" id="{6B20D9A3-3300-8660-F2F4-868B0633A3E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33206" y="2111864"/>
            <a:ext cx="228600" cy="228600"/>
          </a:xfrm>
          <a:prstGeom prst="rect">
            <a:avLst/>
          </a:prstGeom>
        </p:spPr>
      </p:pic>
      <p:pic>
        <p:nvPicPr>
          <p:cNvPr id="39" name="Picture 38" descr="image.png">
            <a:extLst>
              <a:ext uri="{FF2B5EF4-FFF2-40B4-BE49-F238E27FC236}">
                <a16:creationId xmlns:a16="http://schemas.microsoft.com/office/drawing/2014/main" id="{1BD473E2-75E1-09CD-0046-A2A7B8E4024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61956" y="2111864"/>
            <a:ext cx="228600" cy="228600"/>
          </a:xfrm>
          <a:prstGeom prst="rect">
            <a:avLst/>
          </a:prstGeom>
        </p:spPr>
      </p:pic>
      <p:pic>
        <p:nvPicPr>
          <p:cNvPr id="41" name="Picture 40" descr="image.png">
            <a:extLst>
              <a:ext uri="{FF2B5EF4-FFF2-40B4-BE49-F238E27FC236}">
                <a16:creationId xmlns:a16="http://schemas.microsoft.com/office/drawing/2014/main" id="{4764DE0A-C25E-86F6-DDB6-545C8247119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90706" y="2111864"/>
            <a:ext cx="228600" cy="228600"/>
          </a:xfrm>
          <a:prstGeom prst="rect">
            <a:avLst/>
          </a:prstGeom>
        </p:spPr>
      </p:pic>
      <p:pic>
        <p:nvPicPr>
          <p:cNvPr id="43" name="Picture 42" descr="image.png">
            <a:extLst>
              <a:ext uri="{FF2B5EF4-FFF2-40B4-BE49-F238E27FC236}">
                <a16:creationId xmlns:a16="http://schemas.microsoft.com/office/drawing/2014/main" id="{78A5E25F-F22F-6EC1-977C-9E3C852B15F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19456" y="2111864"/>
            <a:ext cx="228600" cy="228600"/>
          </a:xfrm>
          <a:prstGeom prst="rect">
            <a:avLst/>
          </a:prstGeom>
        </p:spPr>
      </p:pic>
      <p:pic>
        <p:nvPicPr>
          <p:cNvPr id="45" name="Picture 44" descr="image.png">
            <a:extLst>
              <a:ext uri="{FF2B5EF4-FFF2-40B4-BE49-F238E27FC236}">
                <a16:creationId xmlns:a16="http://schemas.microsoft.com/office/drawing/2014/main" id="{C15CFE8B-295F-32E7-844A-18D3A990B86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748206" y="2111864"/>
            <a:ext cx="228600" cy="22860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999C787B-94ED-F0E5-9B30-C180DED60AAF}"/>
              </a:ext>
            </a:extLst>
          </p:cNvPr>
          <p:cNvSpPr txBox="1"/>
          <p:nvPr/>
        </p:nvSpPr>
        <p:spPr>
          <a:xfrm>
            <a:off x="2003965" y="751471"/>
            <a:ext cx="8181022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 u="none" dirty="0" err="1">
                <a:solidFill>
                  <a:srgbClr val="0F172A"/>
                </a:solidFill>
                <a:latin typeface="Aptos Display" panose="020B0004020202020204" pitchFamily="34" charset="0"/>
              </a:rPr>
              <a:t>Sathify</a:t>
            </a:r>
            <a:r>
              <a:rPr sz="3600" b="1" i="0" u="none" dirty="0">
                <a:solidFill>
                  <a:srgbClr val="0F172A"/>
                </a:solidFill>
                <a:latin typeface="Aptos Display" panose="020B0004020202020204" pitchFamily="34" charset="0"/>
              </a:rPr>
              <a:t> — End-to-End Functional Flow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3CD2B56-7399-01CB-A4A2-18373ABF4741}"/>
              </a:ext>
            </a:extLst>
          </p:cNvPr>
          <p:cNvSpPr txBox="1"/>
          <p:nvPr/>
        </p:nvSpPr>
        <p:spPr>
          <a:xfrm>
            <a:off x="2241182" y="1328139"/>
            <a:ext cx="7791450" cy="2947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600" b="0" i="0" u="none" dirty="0">
                <a:solidFill>
                  <a:srgbClr val="64748B"/>
                </a:solidFill>
                <a:latin typeface="Aptos Display" panose="020B0004020202020204" pitchFamily="34" charset="0"/>
              </a:rPr>
              <a:t>How a hire moves from onboarding to a completed, rated, and paid visit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2EA5FBB-F862-CF04-C4B6-7FFE57F33E18}"/>
              </a:ext>
            </a:extLst>
          </p:cNvPr>
          <p:cNvSpPr txBox="1"/>
          <p:nvPr/>
        </p:nvSpPr>
        <p:spPr>
          <a:xfrm>
            <a:off x="875543" y="4426439"/>
            <a:ext cx="65459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185CC6"/>
                </a:solidFill>
                <a:latin typeface="Aptos Display" panose="020B0004020202020204" pitchFamily="34" charset="0"/>
              </a:rPr>
              <a:t>Worker</a:t>
            </a:r>
          </a:p>
        </p:txBody>
      </p:sp>
      <p:pic>
        <p:nvPicPr>
          <p:cNvPr id="53" name="Picture 52" descr="image.png">
            <a:extLst>
              <a:ext uri="{FF2B5EF4-FFF2-40B4-BE49-F238E27FC236}">
                <a16:creationId xmlns:a16="http://schemas.microsoft.com/office/drawing/2014/main" id="{ADC96FC8-673F-9065-1F76-88745ABC55E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94706" y="3064364"/>
            <a:ext cx="152400" cy="17145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5A15386B-9ADC-B956-7DEE-316B3FB3627E}"/>
              </a:ext>
            </a:extLst>
          </p:cNvPr>
          <p:cNvSpPr txBox="1"/>
          <p:nvPr/>
        </p:nvSpPr>
        <p:spPr>
          <a:xfrm>
            <a:off x="2342393" y="4426439"/>
            <a:ext cx="56583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E4601C"/>
                </a:solidFill>
                <a:latin typeface="Aptos Display" panose="020B0004020202020204" pitchFamily="34" charset="0"/>
              </a:rPr>
              <a:t>Admin</a:t>
            </a:r>
          </a:p>
        </p:txBody>
      </p:sp>
      <p:pic>
        <p:nvPicPr>
          <p:cNvPr id="57" name="Picture 56" descr="image.png">
            <a:extLst>
              <a:ext uri="{FF2B5EF4-FFF2-40B4-BE49-F238E27FC236}">
                <a16:creationId xmlns:a16="http://schemas.microsoft.com/office/drawing/2014/main" id="{21B72A4F-8213-92CA-AA35-8165CDE93CE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23456" y="3064364"/>
            <a:ext cx="152400" cy="171450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75F5B17A-BFBE-7871-0236-3C0F605DF37B}"/>
              </a:ext>
            </a:extLst>
          </p:cNvPr>
          <p:cNvSpPr txBox="1"/>
          <p:nvPr/>
        </p:nvSpPr>
        <p:spPr>
          <a:xfrm>
            <a:off x="3680656" y="4426439"/>
            <a:ext cx="77663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218036"/>
                </a:solidFill>
                <a:latin typeface="Aptos Display" panose="020B0004020202020204" pitchFamily="34" charset="0"/>
              </a:rPr>
              <a:t>Resident</a:t>
            </a:r>
          </a:p>
        </p:txBody>
      </p:sp>
      <p:pic>
        <p:nvPicPr>
          <p:cNvPr id="61" name="Picture 60" descr="image.png">
            <a:extLst>
              <a:ext uri="{FF2B5EF4-FFF2-40B4-BE49-F238E27FC236}">
                <a16:creationId xmlns:a16="http://schemas.microsoft.com/office/drawing/2014/main" id="{E16980ED-8F66-A973-2B9C-484D1E6E59D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52206" y="3064364"/>
            <a:ext cx="152400" cy="171450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2DE7FE8A-9478-A262-E79B-6775D3B1AE3B}"/>
              </a:ext>
            </a:extLst>
          </p:cNvPr>
          <p:cNvSpPr txBox="1"/>
          <p:nvPr/>
        </p:nvSpPr>
        <p:spPr>
          <a:xfrm>
            <a:off x="5109406" y="4426439"/>
            <a:ext cx="77663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218036"/>
                </a:solidFill>
                <a:latin typeface="Aptos Display" panose="020B0004020202020204" pitchFamily="34" charset="0"/>
              </a:rPr>
              <a:t>Resident</a:t>
            </a:r>
          </a:p>
        </p:txBody>
      </p:sp>
      <p:pic>
        <p:nvPicPr>
          <p:cNvPr id="65" name="Picture 64" descr="image.png">
            <a:extLst>
              <a:ext uri="{FF2B5EF4-FFF2-40B4-BE49-F238E27FC236}">
                <a16:creationId xmlns:a16="http://schemas.microsoft.com/office/drawing/2014/main" id="{F9669B6B-AD04-8BE7-3655-A8230BA0158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80956" y="3064364"/>
            <a:ext cx="152400" cy="17145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050DB372-70BE-CA03-C31D-3F42A1614167}"/>
              </a:ext>
            </a:extLst>
          </p:cNvPr>
          <p:cNvSpPr txBox="1"/>
          <p:nvPr/>
        </p:nvSpPr>
        <p:spPr>
          <a:xfrm>
            <a:off x="6642931" y="4426439"/>
            <a:ext cx="53255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6D2994"/>
                </a:solidFill>
                <a:latin typeface="Aptos Display" panose="020B0004020202020204" pitchFamily="34" charset="0"/>
              </a:rPr>
              <a:t>Guard</a:t>
            </a:r>
          </a:p>
        </p:txBody>
      </p:sp>
      <p:pic>
        <p:nvPicPr>
          <p:cNvPr id="69" name="Picture 68" descr="image.png">
            <a:extLst>
              <a:ext uri="{FF2B5EF4-FFF2-40B4-BE49-F238E27FC236}">
                <a16:creationId xmlns:a16="http://schemas.microsoft.com/office/drawing/2014/main" id="{ED6D2D33-B74F-52A6-D872-ABEABAF636D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509706" y="3064364"/>
            <a:ext cx="152400" cy="171450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21F311EC-E6BE-E8F6-9FBD-3B1977D8A14E}"/>
              </a:ext>
            </a:extLst>
          </p:cNvPr>
          <p:cNvSpPr txBox="1"/>
          <p:nvPr/>
        </p:nvSpPr>
        <p:spPr>
          <a:xfrm>
            <a:off x="8019293" y="4426439"/>
            <a:ext cx="65459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185CC6"/>
                </a:solidFill>
                <a:latin typeface="Aptos Display" panose="020B0004020202020204" pitchFamily="34" charset="0"/>
              </a:rPr>
              <a:t>Worker</a:t>
            </a:r>
          </a:p>
        </p:txBody>
      </p:sp>
      <p:pic>
        <p:nvPicPr>
          <p:cNvPr id="73" name="Picture 72" descr="image.png">
            <a:extLst>
              <a:ext uri="{FF2B5EF4-FFF2-40B4-BE49-F238E27FC236}">
                <a16:creationId xmlns:a16="http://schemas.microsoft.com/office/drawing/2014/main" id="{C4DA91B0-E6F1-269D-958A-8A02D8FCE8C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38456" y="3064364"/>
            <a:ext cx="152400" cy="171450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6005B64A-758B-27F0-F944-EAF433509473}"/>
              </a:ext>
            </a:extLst>
          </p:cNvPr>
          <p:cNvSpPr txBox="1"/>
          <p:nvPr/>
        </p:nvSpPr>
        <p:spPr>
          <a:xfrm>
            <a:off x="9395656" y="4426439"/>
            <a:ext cx="77663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218036"/>
                </a:solidFill>
                <a:latin typeface="Aptos Display" panose="020B0004020202020204" pitchFamily="34" charset="0"/>
              </a:rPr>
              <a:t>Resident</a:t>
            </a:r>
          </a:p>
        </p:txBody>
      </p:sp>
      <p:pic>
        <p:nvPicPr>
          <p:cNvPr id="77" name="Picture 76" descr="image.png">
            <a:extLst>
              <a:ext uri="{FF2B5EF4-FFF2-40B4-BE49-F238E27FC236}">
                <a16:creationId xmlns:a16="http://schemas.microsoft.com/office/drawing/2014/main" id="{00540473-B110-A88D-B2B4-7480CD87CD0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67206" y="3064364"/>
            <a:ext cx="152400" cy="171450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8AAED69B-CA25-CEB3-C235-373C4FD30B57}"/>
              </a:ext>
            </a:extLst>
          </p:cNvPr>
          <p:cNvSpPr txBox="1"/>
          <p:nvPr/>
        </p:nvSpPr>
        <p:spPr>
          <a:xfrm>
            <a:off x="10824406" y="4426439"/>
            <a:ext cx="77663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218036"/>
                </a:solidFill>
                <a:latin typeface="Aptos Display" panose="020B0004020202020204" pitchFamily="34" charset="0"/>
              </a:rPr>
              <a:t>Resident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DBB6E80-F2BE-392A-CA25-ABF905A2F492}"/>
              </a:ext>
            </a:extLst>
          </p:cNvPr>
          <p:cNvSpPr txBox="1"/>
          <p:nvPr/>
        </p:nvSpPr>
        <p:spPr>
          <a:xfrm>
            <a:off x="766006" y="3264389"/>
            <a:ext cx="781050" cy="8918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1100" b="1" i="0" u="none" dirty="0">
                <a:solidFill>
                  <a:srgbClr val="1E293B"/>
                </a:solidFill>
                <a:latin typeface="Aptos Display" panose="020B0004020202020204" pitchFamily="34" charset="0"/>
              </a:rPr>
              <a:t>Worker registers &amp; uploads Aadhaar KYC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79439EF-0C76-CD86-2924-6E19ECBA6203}"/>
              </a:ext>
            </a:extLst>
          </p:cNvPr>
          <p:cNvSpPr txBox="1"/>
          <p:nvPr/>
        </p:nvSpPr>
        <p:spPr>
          <a:xfrm>
            <a:off x="2194756" y="3264389"/>
            <a:ext cx="781050" cy="528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1100" b="1" i="0" u="none">
                <a:solidFill>
                  <a:srgbClr val="1E293B"/>
                </a:solidFill>
                <a:latin typeface="Aptos Display" panose="020B0004020202020204" pitchFamily="34" charset="0"/>
              </a:rPr>
              <a:t>Admin verifies KYC &amp; approves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E73E8F9-33DF-72BB-424F-17D2DD9D41D5}"/>
              </a:ext>
            </a:extLst>
          </p:cNvPr>
          <p:cNvSpPr txBox="1"/>
          <p:nvPr/>
        </p:nvSpPr>
        <p:spPr>
          <a:xfrm>
            <a:off x="3623506" y="3264389"/>
            <a:ext cx="781050" cy="7078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1100" b="1" i="0" u="none">
                <a:solidFill>
                  <a:srgbClr val="1E293B"/>
                </a:solidFill>
                <a:latin typeface="Aptos Display" panose="020B0004020202020204" pitchFamily="34" charset="0"/>
              </a:rPr>
              <a:t>Resident discovers &amp; hires verified worker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86115E3-5A2B-E8D6-3651-3D2CDFE46B45}"/>
              </a:ext>
            </a:extLst>
          </p:cNvPr>
          <p:cNvSpPr txBox="1"/>
          <p:nvPr/>
        </p:nvSpPr>
        <p:spPr>
          <a:xfrm>
            <a:off x="5052256" y="3264389"/>
            <a:ext cx="781050" cy="7078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1100" b="1" i="0" u="none">
                <a:solidFill>
                  <a:srgbClr val="1E293B"/>
                </a:solidFill>
                <a:latin typeface="Aptos Display" panose="020B0004020202020204" pitchFamily="34" charset="0"/>
              </a:rPr>
              <a:t>Booking / recurring schedule created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62981A8-E926-BC4F-BC25-117E173521CC}"/>
              </a:ext>
            </a:extLst>
          </p:cNvPr>
          <p:cNvSpPr txBox="1"/>
          <p:nvPr/>
        </p:nvSpPr>
        <p:spPr>
          <a:xfrm>
            <a:off x="6481006" y="3264389"/>
            <a:ext cx="781050" cy="7123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1100" b="1" i="0" u="none">
                <a:solidFill>
                  <a:srgbClr val="1E293B"/>
                </a:solidFill>
                <a:latin typeface="Aptos Display" panose="020B0004020202020204" pitchFamily="34" charset="0"/>
              </a:rPr>
              <a:t>Guard verifies entry-exit via QR scan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AD1E249-A952-64EB-7357-254816F4DA71}"/>
              </a:ext>
            </a:extLst>
          </p:cNvPr>
          <p:cNvSpPr txBox="1"/>
          <p:nvPr/>
        </p:nvSpPr>
        <p:spPr>
          <a:xfrm>
            <a:off x="7909756" y="3264389"/>
            <a:ext cx="781050" cy="528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1100" b="1" i="0" u="none">
                <a:solidFill>
                  <a:srgbClr val="1E293B"/>
                </a:solidFill>
                <a:latin typeface="Aptos Display" panose="020B0004020202020204" pitchFamily="34" charset="0"/>
              </a:rPr>
              <a:t>Worker completes the service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68A1E03-1F6F-E80D-1F4A-B46EE85D07F1}"/>
              </a:ext>
            </a:extLst>
          </p:cNvPr>
          <p:cNvSpPr txBox="1"/>
          <p:nvPr/>
        </p:nvSpPr>
        <p:spPr>
          <a:xfrm>
            <a:off x="9338506" y="3264389"/>
            <a:ext cx="781050" cy="7123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1100" b="1" i="0" u="none">
                <a:solidFill>
                  <a:srgbClr val="1E293B"/>
                </a:solidFill>
                <a:latin typeface="Aptos Display" panose="020B0004020202020204" pitchFamily="34" charset="0"/>
              </a:rPr>
              <a:t>Resident pays via Razorpay; worker paid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22E5EC7-96F9-9263-8444-DADC55B9F1C7}"/>
              </a:ext>
            </a:extLst>
          </p:cNvPr>
          <p:cNvSpPr txBox="1"/>
          <p:nvPr/>
        </p:nvSpPr>
        <p:spPr>
          <a:xfrm>
            <a:off x="10767256" y="3264389"/>
            <a:ext cx="781050" cy="8918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1100" b="1" i="0" u="none">
                <a:solidFill>
                  <a:srgbClr val="1E293B"/>
                </a:solidFill>
                <a:latin typeface="Aptos Display" panose="020B0004020202020204" pitchFamily="34" charset="0"/>
              </a:rPr>
              <a:t>Resident rates the work; trust score updated</a:t>
            </a:r>
          </a:p>
        </p:txBody>
      </p:sp>
      <p:pic>
        <p:nvPicPr>
          <p:cNvPr id="97" name="Picture 96" descr="image.png">
            <a:extLst>
              <a:ext uri="{FF2B5EF4-FFF2-40B4-BE49-F238E27FC236}">
                <a16:creationId xmlns:a16="http://schemas.microsoft.com/office/drawing/2014/main" id="{6FC09889-E01F-E765-E307-8B25F6BF2D4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4593" y="2512497"/>
            <a:ext cx="443876" cy="493132"/>
          </a:xfrm>
          <a:prstGeom prst="rect">
            <a:avLst/>
          </a:prstGeom>
        </p:spPr>
      </p:pic>
      <p:pic>
        <p:nvPicPr>
          <p:cNvPr id="99" name="Picture 98" descr="image.png">
            <a:extLst>
              <a:ext uri="{FF2B5EF4-FFF2-40B4-BE49-F238E27FC236}">
                <a16:creationId xmlns:a16="http://schemas.microsoft.com/office/drawing/2014/main" id="{FF380969-F18E-D06D-9B24-E4532AD5C3B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37631" y="2540489"/>
            <a:ext cx="525810" cy="465140"/>
          </a:xfrm>
          <a:prstGeom prst="rect">
            <a:avLst/>
          </a:prstGeom>
        </p:spPr>
      </p:pic>
      <p:pic>
        <p:nvPicPr>
          <p:cNvPr id="101" name="Picture 100" descr="image.png">
            <a:extLst>
              <a:ext uri="{FF2B5EF4-FFF2-40B4-BE49-F238E27FC236}">
                <a16:creationId xmlns:a16="http://schemas.microsoft.com/office/drawing/2014/main" id="{E0D4C776-2227-A3B6-F901-879C31BADBB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737806" y="2540489"/>
            <a:ext cx="552450" cy="438150"/>
          </a:xfrm>
          <a:prstGeom prst="rect">
            <a:avLst/>
          </a:prstGeom>
        </p:spPr>
      </p:pic>
      <p:pic>
        <p:nvPicPr>
          <p:cNvPr id="103" name="Picture 102" descr="image.png">
            <a:extLst>
              <a:ext uri="{FF2B5EF4-FFF2-40B4-BE49-F238E27FC236}">
                <a16:creationId xmlns:a16="http://schemas.microsoft.com/office/drawing/2014/main" id="{8758B762-6740-636F-50FF-46DD84001FCC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252281" y="2540489"/>
            <a:ext cx="381000" cy="438150"/>
          </a:xfrm>
          <a:prstGeom prst="rect">
            <a:avLst/>
          </a:prstGeom>
        </p:spPr>
      </p:pic>
      <p:pic>
        <p:nvPicPr>
          <p:cNvPr id="105" name="Picture 104" descr="image.png">
            <a:extLst>
              <a:ext uri="{FF2B5EF4-FFF2-40B4-BE49-F238E27FC236}">
                <a16:creationId xmlns:a16="http://schemas.microsoft.com/office/drawing/2014/main" id="{1DACCF55-A603-8100-A559-6CB829B3D591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81031" y="2540489"/>
            <a:ext cx="381000" cy="438150"/>
          </a:xfrm>
          <a:prstGeom prst="rect">
            <a:avLst/>
          </a:prstGeom>
        </p:spPr>
      </p:pic>
      <p:pic>
        <p:nvPicPr>
          <p:cNvPr id="107" name="Picture 106" descr="image.png">
            <a:extLst>
              <a:ext uri="{FF2B5EF4-FFF2-40B4-BE49-F238E27FC236}">
                <a16:creationId xmlns:a16="http://schemas.microsoft.com/office/drawing/2014/main" id="{26A76F05-A1CF-F338-3C02-48F2856E450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52631" y="2540489"/>
            <a:ext cx="495300" cy="438150"/>
          </a:xfrm>
          <a:prstGeom prst="rect">
            <a:avLst/>
          </a:prstGeom>
        </p:spPr>
      </p:pic>
      <p:pic>
        <p:nvPicPr>
          <p:cNvPr id="109" name="Picture 108" descr="image.png">
            <a:extLst>
              <a:ext uri="{FF2B5EF4-FFF2-40B4-BE49-F238E27FC236}">
                <a16:creationId xmlns:a16="http://schemas.microsoft.com/office/drawing/2014/main" id="{AF088E9A-A613-237E-D3BF-B565EBBDC7B8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509956" y="2540489"/>
            <a:ext cx="438150" cy="438150"/>
          </a:xfrm>
          <a:prstGeom prst="rect">
            <a:avLst/>
          </a:prstGeom>
        </p:spPr>
      </p:pic>
      <p:pic>
        <p:nvPicPr>
          <p:cNvPr id="111" name="Picture 110" descr="image.png">
            <a:extLst>
              <a:ext uri="{FF2B5EF4-FFF2-40B4-BE49-F238E27FC236}">
                <a16:creationId xmlns:a16="http://schemas.microsoft.com/office/drawing/2014/main" id="{BB754249-F870-C3AF-5740-AC7762FF8202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875826" y="2536519"/>
            <a:ext cx="525810" cy="4651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2999232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006A4E"/>
                </a:solidFill>
                <a:latin typeface="Aptos"/>
              </a:rPr>
              <a:t>0</a:t>
            </a:r>
            <a:r>
              <a:rPr lang="en-IN" sz="1050" b="1" dirty="0">
                <a:solidFill>
                  <a:srgbClr val="006A4E"/>
                </a:solidFill>
                <a:latin typeface="Aptos"/>
              </a:rPr>
              <a:t>4</a:t>
            </a:r>
            <a:r>
              <a:rPr sz="1050" b="1" dirty="0">
                <a:solidFill>
                  <a:srgbClr val="006A4E"/>
                </a:solidFill>
                <a:latin typeface="Aptos"/>
              </a:rPr>
              <a:t> • PRODUCT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7130" y="580824"/>
            <a:ext cx="11894145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112A23"/>
                </a:solidFill>
                <a:latin typeface="Aptos Display"/>
              </a:rPr>
              <a:t>13 Functional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2560320" cy="96012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Rounded Rectangle 5"/>
          <p:cNvSpPr/>
          <p:nvPr/>
        </p:nvSpPr>
        <p:spPr>
          <a:xfrm>
            <a:off x="667512" y="1518113"/>
            <a:ext cx="475488" cy="347472"/>
          </a:xfrm>
          <a:prstGeom prst="roundRect">
            <a:avLst/>
          </a:prstGeom>
          <a:solidFill>
            <a:srgbClr val="006A4E"/>
          </a:solidFill>
          <a:ln w="12700"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713232" y="1572579"/>
            <a:ext cx="384048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1417320"/>
            <a:ext cx="16002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12A23"/>
                </a:solidFill>
                <a:latin typeface="Aptos"/>
              </a:rPr>
              <a:t>Identity &amp;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234440"/>
            <a:ext cx="2560320" cy="96012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Rounded Rectangle 9"/>
          <p:cNvSpPr/>
          <p:nvPr/>
        </p:nvSpPr>
        <p:spPr>
          <a:xfrm>
            <a:off x="3547872" y="1521559"/>
            <a:ext cx="475488" cy="347472"/>
          </a:xfrm>
          <a:prstGeom prst="roundRect">
            <a:avLst/>
          </a:prstGeom>
          <a:solidFill>
            <a:srgbClr val="006A4E"/>
          </a:solidFill>
          <a:ln w="12700"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3593592" y="1576025"/>
            <a:ext cx="384048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33088" y="1417320"/>
            <a:ext cx="1856232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12A23"/>
                </a:solidFill>
                <a:latin typeface="Aptos"/>
              </a:rPr>
              <a:t>Society / Resident Onboarding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234440"/>
            <a:ext cx="2560320" cy="96012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Rounded Rectangle 13"/>
          <p:cNvSpPr/>
          <p:nvPr/>
        </p:nvSpPr>
        <p:spPr>
          <a:xfrm>
            <a:off x="6428231" y="1516846"/>
            <a:ext cx="475488" cy="347472"/>
          </a:xfrm>
          <a:prstGeom prst="roundRect">
            <a:avLst/>
          </a:prstGeom>
          <a:solidFill>
            <a:srgbClr val="006A4E"/>
          </a:solidFill>
          <a:ln w="12700"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6473951" y="1571312"/>
            <a:ext cx="384048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3448" y="1516846"/>
            <a:ext cx="1600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1600" b="1" dirty="0">
                <a:solidFill>
                  <a:srgbClr val="112A23"/>
                </a:solidFill>
                <a:latin typeface="Aptos"/>
              </a:rPr>
              <a:t>Helper</a:t>
            </a:r>
            <a:r>
              <a:rPr sz="1600" b="1" dirty="0">
                <a:solidFill>
                  <a:srgbClr val="112A23"/>
                </a:solidFill>
                <a:latin typeface="Aptos"/>
              </a:rPr>
              <a:t> KYC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234440"/>
            <a:ext cx="2560320" cy="96012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Rounded Rectangle 17"/>
          <p:cNvSpPr/>
          <p:nvPr/>
        </p:nvSpPr>
        <p:spPr>
          <a:xfrm>
            <a:off x="9308592" y="1517185"/>
            <a:ext cx="475488" cy="347472"/>
          </a:xfrm>
          <a:prstGeom prst="roundRect">
            <a:avLst/>
          </a:prstGeom>
          <a:solidFill>
            <a:srgbClr val="006A4E"/>
          </a:solidFill>
          <a:ln w="12700"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9354312" y="1571651"/>
            <a:ext cx="384048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93808" y="1417320"/>
            <a:ext cx="16002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2A23"/>
                </a:solidFill>
                <a:latin typeface="Aptos"/>
              </a:rPr>
              <a:t>Discovery &amp; Hiring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468880"/>
            <a:ext cx="2560320" cy="96012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Rounded Rectangle 21"/>
          <p:cNvSpPr/>
          <p:nvPr/>
        </p:nvSpPr>
        <p:spPr>
          <a:xfrm>
            <a:off x="667512" y="2745744"/>
            <a:ext cx="475488" cy="347472"/>
          </a:xfrm>
          <a:prstGeom prst="roundRect">
            <a:avLst/>
          </a:prstGeom>
          <a:solidFill>
            <a:srgbClr val="006A4E"/>
          </a:solidFill>
          <a:ln w="12700"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713232" y="2792522"/>
            <a:ext cx="384048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52728" y="2651760"/>
            <a:ext cx="16002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2A23"/>
                </a:solidFill>
                <a:latin typeface="Aptos"/>
              </a:rPr>
              <a:t>One-Day Bookings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2468880"/>
            <a:ext cx="2560320" cy="96012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Rounded Rectangle 25"/>
          <p:cNvSpPr/>
          <p:nvPr/>
        </p:nvSpPr>
        <p:spPr>
          <a:xfrm>
            <a:off x="3547872" y="2745744"/>
            <a:ext cx="475488" cy="347472"/>
          </a:xfrm>
          <a:prstGeom prst="roundRect">
            <a:avLst/>
          </a:prstGeom>
          <a:solidFill>
            <a:srgbClr val="006A4E"/>
          </a:solidFill>
          <a:ln w="12700"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" name="TextBox 26"/>
          <p:cNvSpPr txBox="1"/>
          <p:nvPr/>
        </p:nvSpPr>
        <p:spPr>
          <a:xfrm>
            <a:off x="3593592" y="2792522"/>
            <a:ext cx="384048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42231" y="2715435"/>
            <a:ext cx="1600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12A23"/>
                </a:solidFill>
                <a:latin typeface="Aptos"/>
              </a:rPr>
              <a:t>Scheduling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2468880"/>
            <a:ext cx="2560320" cy="96012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Rounded Rectangle 29"/>
          <p:cNvSpPr/>
          <p:nvPr/>
        </p:nvSpPr>
        <p:spPr>
          <a:xfrm>
            <a:off x="6428231" y="2745744"/>
            <a:ext cx="475488" cy="347472"/>
          </a:xfrm>
          <a:prstGeom prst="roundRect">
            <a:avLst/>
          </a:prstGeom>
          <a:solidFill>
            <a:srgbClr val="D3A439"/>
          </a:solidFill>
          <a:ln w="12700">
            <a:solidFill>
              <a:srgbClr val="D3A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1" name="TextBox 30"/>
          <p:cNvSpPr txBox="1"/>
          <p:nvPr/>
        </p:nvSpPr>
        <p:spPr>
          <a:xfrm>
            <a:off x="6473951" y="2792522"/>
            <a:ext cx="384048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13448" y="2651760"/>
            <a:ext cx="16002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12A23"/>
                </a:solidFill>
                <a:latin typeface="Aptos"/>
              </a:rPr>
              <a:t>Attendance &amp; Gate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2468880"/>
            <a:ext cx="2560320" cy="96012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4" name="Rounded Rectangle 33"/>
          <p:cNvSpPr/>
          <p:nvPr/>
        </p:nvSpPr>
        <p:spPr>
          <a:xfrm>
            <a:off x="9308592" y="2745744"/>
            <a:ext cx="475488" cy="347472"/>
          </a:xfrm>
          <a:prstGeom prst="roundRect">
            <a:avLst/>
          </a:prstGeom>
          <a:solidFill>
            <a:srgbClr val="D3A439"/>
          </a:solidFill>
          <a:ln w="12700">
            <a:solidFill>
              <a:srgbClr val="D3A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5" name="TextBox 34"/>
          <p:cNvSpPr txBox="1"/>
          <p:nvPr/>
        </p:nvSpPr>
        <p:spPr>
          <a:xfrm>
            <a:off x="9354312" y="2792522"/>
            <a:ext cx="384048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93808" y="2750203"/>
            <a:ext cx="1600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12A23"/>
                </a:solidFill>
                <a:latin typeface="Aptos"/>
              </a:rPr>
              <a:t>Payments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3703320"/>
            <a:ext cx="2560320" cy="96012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8" name="Rounded Rectangle 37"/>
          <p:cNvSpPr/>
          <p:nvPr/>
        </p:nvSpPr>
        <p:spPr>
          <a:xfrm>
            <a:off x="667512" y="3980184"/>
            <a:ext cx="475488" cy="347472"/>
          </a:xfrm>
          <a:prstGeom prst="roundRect">
            <a:avLst/>
          </a:prstGeom>
          <a:solidFill>
            <a:srgbClr val="D3A439"/>
          </a:solidFill>
          <a:ln w="12700">
            <a:solidFill>
              <a:srgbClr val="D3A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9" name="TextBox 38"/>
          <p:cNvSpPr txBox="1"/>
          <p:nvPr/>
        </p:nvSpPr>
        <p:spPr>
          <a:xfrm>
            <a:off x="713232" y="4026962"/>
            <a:ext cx="384048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52728" y="3984643"/>
            <a:ext cx="1600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12A23"/>
                </a:solidFill>
                <a:latin typeface="Aptos"/>
              </a:rPr>
              <a:t>Ratings &amp; Trust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83280" y="3703320"/>
            <a:ext cx="2560320" cy="96012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2" name="Rounded Rectangle 41"/>
          <p:cNvSpPr/>
          <p:nvPr/>
        </p:nvSpPr>
        <p:spPr>
          <a:xfrm>
            <a:off x="3547872" y="3980184"/>
            <a:ext cx="475488" cy="347472"/>
          </a:xfrm>
          <a:prstGeom prst="roundRect">
            <a:avLst/>
          </a:prstGeom>
          <a:solidFill>
            <a:srgbClr val="D3A439"/>
          </a:solidFill>
          <a:ln w="12700">
            <a:solidFill>
              <a:srgbClr val="D3A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3" name="TextBox 42"/>
          <p:cNvSpPr txBox="1"/>
          <p:nvPr/>
        </p:nvSpPr>
        <p:spPr>
          <a:xfrm>
            <a:off x="3593592" y="4026962"/>
            <a:ext cx="384048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42231" y="3984643"/>
            <a:ext cx="1600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2A23"/>
                </a:solidFill>
                <a:latin typeface="Aptos"/>
              </a:rPr>
              <a:t>Notifications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3703320"/>
            <a:ext cx="2560320" cy="96012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6" name="Rounded Rectangle 45"/>
          <p:cNvSpPr/>
          <p:nvPr/>
        </p:nvSpPr>
        <p:spPr>
          <a:xfrm>
            <a:off x="6428231" y="3980184"/>
            <a:ext cx="475488" cy="347472"/>
          </a:xfrm>
          <a:prstGeom prst="roundRect">
            <a:avLst/>
          </a:prstGeom>
          <a:solidFill>
            <a:srgbClr val="D3A439"/>
          </a:solidFill>
          <a:ln w="12700">
            <a:solidFill>
              <a:srgbClr val="D3A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7" name="TextBox 46"/>
          <p:cNvSpPr txBox="1"/>
          <p:nvPr/>
        </p:nvSpPr>
        <p:spPr>
          <a:xfrm>
            <a:off x="6473951" y="4026962"/>
            <a:ext cx="384048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13448" y="3886200"/>
            <a:ext cx="19202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12A23"/>
                </a:solidFill>
                <a:latin typeface="Aptos"/>
              </a:rPr>
              <a:t>Admin / Reports / Complaints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44000" y="3703320"/>
            <a:ext cx="2560320" cy="96012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0" name="Rounded Rectangle 49"/>
          <p:cNvSpPr/>
          <p:nvPr/>
        </p:nvSpPr>
        <p:spPr>
          <a:xfrm>
            <a:off x="9308592" y="3980184"/>
            <a:ext cx="475488" cy="347472"/>
          </a:xfrm>
          <a:prstGeom prst="roundRect">
            <a:avLst/>
          </a:prstGeom>
          <a:solidFill>
            <a:srgbClr val="D3A439"/>
          </a:solidFill>
          <a:ln w="12700">
            <a:solidFill>
              <a:srgbClr val="D3A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1" name="TextBox 50"/>
          <p:cNvSpPr txBox="1"/>
          <p:nvPr/>
        </p:nvSpPr>
        <p:spPr>
          <a:xfrm>
            <a:off x="9354312" y="4026962"/>
            <a:ext cx="384048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93808" y="3942324"/>
            <a:ext cx="1600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12A23"/>
                </a:solidFill>
                <a:latin typeface="Aptos"/>
              </a:rPr>
              <a:t>AI Layer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2920" y="4937760"/>
            <a:ext cx="2560320" cy="96012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4" name="Rounded Rectangle 53"/>
          <p:cNvSpPr/>
          <p:nvPr/>
        </p:nvSpPr>
        <p:spPr>
          <a:xfrm>
            <a:off x="667512" y="5214624"/>
            <a:ext cx="475488" cy="347472"/>
          </a:xfrm>
          <a:prstGeom prst="roundRect">
            <a:avLst/>
          </a:prstGeom>
          <a:solidFill>
            <a:srgbClr val="D3A439"/>
          </a:solidFill>
          <a:ln w="12700">
            <a:solidFill>
              <a:srgbClr val="D3A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5" name="TextBox 54"/>
          <p:cNvSpPr txBox="1"/>
          <p:nvPr/>
        </p:nvSpPr>
        <p:spPr>
          <a:xfrm>
            <a:off x="713232" y="5261402"/>
            <a:ext cx="384048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13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52728" y="5120640"/>
            <a:ext cx="16002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2A23"/>
                </a:solidFill>
                <a:latin typeface="Aptos"/>
              </a:rPr>
              <a:t>Offline &amp; Resilience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8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0" name="TextBox 59"/>
          <p:cNvSpPr txBox="1"/>
          <p:nvPr/>
        </p:nvSpPr>
        <p:spPr>
          <a:xfrm>
            <a:off x="594360" y="6510528"/>
            <a:ext cx="7315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46C"/>
                </a:solidFill>
                <a:latin typeface="Aptos"/>
              </a:rPr>
              <a:t>SATHIFY  •  Smart Society Domestic Workforce Management System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835640" y="6492240"/>
            <a:ext cx="59436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IN" sz="1050" b="1" dirty="0">
                <a:solidFill>
                  <a:srgbClr val="006A4E"/>
                </a:solidFill>
                <a:latin typeface="Aptos"/>
              </a:rPr>
              <a:t>5</a:t>
            </a:r>
            <a:endParaRPr sz="1050" b="1" dirty="0">
              <a:solidFill>
                <a:srgbClr val="006A4E"/>
              </a:solidFill>
              <a:latin typeface="Aptos"/>
            </a:endParaRP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0349EA58-046E-B9CE-5114-46AF0C50D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420" y="5526282"/>
            <a:ext cx="662872" cy="662872"/>
          </a:xfrm>
          <a:prstGeom prst="rect">
            <a:avLst/>
          </a:prstGeom>
          <a:effectLst>
            <a:softEdge rad="101600"/>
          </a:effectLst>
        </p:spPr>
      </p:pic>
      <p:sp>
        <p:nvSpPr>
          <p:cNvPr id="62" name="Shape 4">
            <a:extLst>
              <a:ext uri="{FF2B5EF4-FFF2-40B4-BE49-F238E27FC236}">
                <a16:creationId xmlns:a16="http://schemas.microsoft.com/office/drawing/2014/main" id="{CAB8CE5F-6A08-271D-10CE-612E0BAA3320}"/>
              </a:ext>
            </a:extLst>
          </p:cNvPr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2291E"/>
          </a:solidFill>
          <a:ln/>
        </p:spPr>
      </p:sp>
      <p:sp>
        <p:nvSpPr>
          <p:cNvPr id="65" name="!!Spine">
            <a:extLst>
              <a:ext uri="{FF2B5EF4-FFF2-40B4-BE49-F238E27FC236}">
                <a16:creationId xmlns:a16="http://schemas.microsoft.com/office/drawing/2014/main" id="{54746A52-DF81-B162-2E37-E5D81B87F8DB}"/>
              </a:ext>
            </a:extLst>
          </p:cNvPr>
          <p:cNvSpPr/>
          <p:nvPr/>
        </p:nvSpPr>
        <p:spPr>
          <a:xfrm>
            <a:off x="640081" y="6327648"/>
            <a:ext cx="2678430" cy="82296"/>
          </a:xfrm>
          <a:prstGeom prst="rect">
            <a:avLst/>
          </a:prstGeom>
          <a:solidFill>
            <a:srgbClr val="14B8A6"/>
          </a:solidFill>
          <a:ln/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2743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06A4E"/>
                </a:solidFill>
                <a:latin typeface="Aptos"/>
              </a:rPr>
              <a:t>05 •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12A23"/>
                </a:solidFill>
                <a:latin typeface="Aptos Display"/>
              </a:rPr>
              <a:t>Functional Modules 1–4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Rounded Rectangle 5"/>
          <p:cNvSpPr/>
          <p:nvPr/>
        </p:nvSpPr>
        <p:spPr>
          <a:xfrm>
            <a:off x="822959" y="1463039"/>
            <a:ext cx="475488" cy="475488"/>
          </a:xfrm>
          <a:prstGeom prst="roundRect">
            <a:avLst/>
          </a:prstGeom>
          <a:solidFill>
            <a:srgbClr val="006A4E"/>
          </a:solidFill>
          <a:ln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822959" y="1600200"/>
            <a:ext cx="47548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63039"/>
            <a:ext cx="4251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 Display"/>
              </a:rPr>
              <a:t>Identity &amp; Access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947672"/>
            <a:ext cx="42519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46C"/>
                </a:solidFill>
                <a:latin typeface="Aptos"/>
              </a:rPr>
              <a:t>Phone OTP login with default-deny RBAC. Administrator approval controls access, while JWT sessions can be revoked for devices or guards.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8016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Rounded Rectangle 10"/>
          <p:cNvSpPr/>
          <p:nvPr/>
        </p:nvSpPr>
        <p:spPr>
          <a:xfrm>
            <a:off x="6446520" y="1463039"/>
            <a:ext cx="475488" cy="475488"/>
          </a:xfrm>
          <a:prstGeom prst="roundRect">
            <a:avLst/>
          </a:prstGeom>
          <a:solidFill>
            <a:srgbClr val="3D719D"/>
          </a:solidFill>
          <a:ln>
            <a:solidFill>
              <a:srgbClr val="3D71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6446520" y="1600200"/>
            <a:ext cx="47548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463039"/>
            <a:ext cx="4251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 Display"/>
              </a:rPr>
              <a:t>Society &amp; Resident Onboarding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1947672"/>
            <a:ext cx="42519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66746C"/>
                </a:solidFill>
                <a:latin typeface="Aptos"/>
              </a:rPr>
              <a:t>Creates towers, flats and gates for each society. Residents register against flats and submit proof for approval before using society services.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5760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Rounded Rectangle 15"/>
          <p:cNvSpPr/>
          <p:nvPr/>
        </p:nvSpPr>
        <p:spPr>
          <a:xfrm>
            <a:off x="822959" y="3840480"/>
            <a:ext cx="475488" cy="475488"/>
          </a:xfrm>
          <a:prstGeom prst="roundRect">
            <a:avLst/>
          </a:prstGeom>
          <a:solidFill>
            <a:srgbClr val="D3A439"/>
          </a:solidFill>
          <a:ln>
            <a:solidFill>
              <a:srgbClr val="D3A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822959" y="3977639"/>
            <a:ext cx="47548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840480"/>
            <a:ext cx="4251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dirty="0">
                <a:solidFill>
                  <a:srgbClr val="112A23"/>
                </a:solidFill>
                <a:latin typeface="Aptos Display"/>
              </a:rPr>
              <a:t>Helper</a:t>
            </a:r>
            <a:r>
              <a:rPr b="1" dirty="0">
                <a:solidFill>
                  <a:srgbClr val="112A23"/>
                </a:solidFill>
                <a:latin typeface="Aptos Display"/>
              </a:rPr>
              <a:t> Onboarding &amp; KYC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325112"/>
            <a:ext cx="42519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400" b="0" dirty="0">
                <a:solidFill>
                  <a:srgbClr val="66746C"/>
                </a:solidFill>
                <a:latin typeface="Aptos"/>
              </a:rPr>
              <a:t>Helper</a:t>
            </a:r>
            <a:r>
              <a:rPr sz="1400" b="0" dirty="0">
                <a:solidFill>
                  <a:srgbClr val="66746C"/>
                </a:solidFill>
                <a:latin typeface="Aptos"/>
              </a:rPr>
              <a:t> profiles include services, experience, languages, rate and availability. OCR, validation, consent and manual review make KYC approval auditable.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5760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Rounded Rectangle 20"/>
          <p:cNvSpPr/>
          <p:nvPr/>
        </p:nvSpPr>
        <p:spPr>
          <a:xfrm>
            <a:off x="6446520" y="3840480"/>
            <a:ext cx="475488" cy="475488"/>
          </a:xfrm>
          <a:prstGeom prst="roundRect">
            <a:avLst/>
          </a:prstGeom>
          <a:solidFill>
            <a:srgbClr val="C2564C"/>
          </a:solidFill>
          <a:ln>
            <a:solidFill>
              <a:srgbClr val="C25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TextBox 21"/>
          <p:cNvSpPr txBox="1"/>
          <p:nvPr/>
        </p:nvSpPr>
        <p:spPr>
          <a:xfrm>
            <a:off x="6446520" y="3977639"/>
            <a:ext cx="47548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3840480"/>
            <a:ext cx="4251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dirty="0">
                <a:solidFill>
                  <a:srgbClr val="112A23"/>
                </a:solidFill>
                <a:latin typeface="Aptos Display"/>
              </a:rPr>
              <a:t>Scheduling and Task Managing</a:t>
            </a:r>
            <a:endParaRPr b="1" dirty="0">
              <a:solidFill>
                <a:srgbClr val="112A23"/>
              </a:solidFill>
              <a:latin typeface="Aptos Display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086600" y="4325112"/>
            <a:ext cx="42519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66746C"/>
                </a:solidFill>
                <a:latin typeface="Aptos"/>
              </a:rPr>
              <a:t>Visits are derived from engagement or booking terms. Arrival/departure timing, a 15-minute grace window, reminders, tasks and urgent leave are supported.</a:t>
            </a:r>
          </a:p>
          <a:p>
            <a:pPr algn="l"/>
            <a:endParaRPr sz="1400" b="0" dirty="0">
              <a:solidFill>
                <a:srgbClr val="66746C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7132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46C"/>
                </a:solidFill>
                <a:latin typeface="Aptos"/>
              </a:rPr>
              <a:t>SATHIFY  •  Smart Society Domestic Workforce Management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4114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>
                <a:solidFill>
                  <a:srgbClr val="006A4E"/>
                </a:solidFill>
                <a:latin typeface="Aptos"/>
              </a:rPr>
              <a:t>6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865DEE8-A004-2911-F091-276EE6EE9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420" y="5703604"/>
            <a:ext cx="662872" cy="662872"/>
          </a:xfrm>
          <a:prstGeom prst="rect">
            <a:avLst/>
          </a:prstGeom>
          <a:effectLst>
            <a:softEdge rad="101600"/>
          </a:effectLst>
        </p:spPr>
      </p:pic>
      <p:sp>
        <p:nvSpPr>
          <p:cNvPr id="29" name="Shape 4">
            <a:extLst>
              <a:ext uri="{FF2B5EF4-FFF2-40B4-BE49-F238E27FC236}">
                <a16:creationId xmlns:a16="http://schemas.microsoft.com/office/drawing/2014/main" id="{7DC80DA0-7A34-7CA3-0A98-AA12FB56349E}"/>
              </a:ext>
            </a:extLst>
          </p:cNvPr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2291E"/>
          </a:solidFill>
          <a:ln/>
        </p:spPr>
      </p:sp>
      <p:sp>
        <p:nvSpPr>
          <p:cNvPr id="30" name="!!Spine">
            <a:extLst>
              <a:ext uri="{FF2B5EF4-FFF2-40B4-BE49-F238E27FC236}">
                <a16:creationId xmlns:a16="http://schemas.microsoft.com/office/drawing/2014/main" id="{EBDFE84C-F5D9-C206-B4D6-8D905784D7C0}"/>
              </a:ext>
            </a:extLst>
          </p:cNvPr>
          <p:cNvSpPr/>
          <p:nvPr/>
        </p:nvSpPr>
        <p:spPr>
          <a:xfrm>
            <a:off x="640080" y="6327648"/>
            <a:ext cx="3470979" cy="82296"/>
          </a:xfrm>
          <a:prstGeom prst="rect">
            <a:avLst/>
          </a:prstGeom>
          <a:solidFill>
            <a:srgbClr val="2ECC71"/>
          </a:solidFill>
          <a:ln/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2743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06A4E"/>
                </a:solidFill>
                <a:latin typeface="Aptos"/>
              </a:rPr>
              <a:t>07 •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dirty="0">
                <a:solidFill>
                  <a:srgbClr val="112A23"/>
                </a:solidFill>
                <a:latin typeface="Aptos Display"/>
              </a:rPr>
              <a:t>Functional Modules </a:t>
            </a:r>
            <a:r>
              <a:rPr lang="en-IN" sz="3600" b="1" dirty="0">
                <a:solidFill>
                  <a:srgbClr val="112A23"/>
                </a:solidFill>
                <a:latin typeface="Aptos Display"/>
              </a:rPr>
              <a:t>5-7</a:t>
            </a:r>
            <a:endParaRPr sz="3600" b="1" dirty="0">
              <a:solidFill>
                <a:srgbClr val="112A23"/>
              </a:solidFill>
              <a:latin typeface="Aptos Display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396139"/>
            <a:ext cx="3246120" cy="3633061"/>
          </a:xfrm>
          <a:prstGeom prst="roundRect">
            <a:avLst/>
          </a:prstGeom>
          <a:solidFill>
            <a:srgbClr val="FFFFFF"/>
          </a:solidFill>
          <a:ln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Rounded Rectangle 5"/>
          <p:cNvSpPr/>
          <p:nvPr/>
        </p:nvSpPr>
        <p:spPr>
          <a:xfrm>
            <a:off x="822959" y="1691639"/>
            <a:ext cx="475488" cy="475488"/>
          </a:xfrm>
          <a:prstGeom prst="roundRect">
            <a:avLst/>
          </a:prstGeom>
          <a:solidFill>
            <a:srgbClr val="D3A439"/>
          </a:solidFill>
          <a:ln>
            <a:solidFill>
              <a:srgbClr val="D3A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47548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Aptos"/>
              </a:rPr>
              <a:t>0</a:t>
            </a:r>
            <a:r>
              <a:rPr lang="en-IN" sz="1050" b="1" dirty="0">
                <a:solidFill>
                  <a:srgbClr val="FFFFFF"/>
                </a:solidFill>
                <a:latin typeface="Aptos"/>
              </a:rPr>
              <a:t>5</a:t>
            </a:r>
            <a:endParaRPr sz="105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63040" y="1691639"/>
            <a:ext cx="22402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112A23"/>
                </a:solidFill>
                <a:latin typeface="Aptos Display"/>
              </a:rPr>
              <a:t>Ratings, Reviews &amp; Trust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5001"/>
            <a:ext cx="288036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400" b="0" dirty="0">
                <a:solidFill>
                  <a:srgbClr val="66746C"/>
                </a:solidFill>
                <a:latin typeface="Aptos"/>
              </a:rPr>
              <a:t>Helper</a:t>
            </a:r>
            <a:r>
              <a:rPr sz="1400" b="0" dirty="0">
                <a:solidFill>
                  <a:srgbClr val="66746C"/>
                </a:solidFill>
                <a:latin typeface="Aptos"/>
              </a:rPr>
              <a:t> and resident trust scores create two-sided accountability.</a:t>
            </a:r>
            <a:endParaRPr lang="en-IN" sz="1400" b="0" dirty="0">
              <a:solidFill>
                <a:srgbClr val="66746C"/>
              </a:solidFill>
              <a:latin typeface="Aptos"/>
            </a:endParaRPr>
          </a:p>
          <a:p>
            <a:pPr algn="l"/>
            <a:endParaRPr lang="en-IN" sz="1400" b="0" dirty="0">
              <a:solidFill>
                <a:srgbClr val="66746C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b="0" dirty="0">
                <a:solidFill>
                  <a:srgbClr val="66746C"/>
                </a:solidFill>
                <a:latin typeface="Aptos"/>
              </a:rPr>
              <a:t> Scores use defined components, cold-start smoothing and frozen calculation breakdowns.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396139"/>
            <a:ext cx="3246120" cy="3633061"/>
          </a:xfrm>
          <a:prstGeom prst="roundRect">
            <a:avLst/>
          </a:prstGeom>
          <a:solidFill>
            <a:srgbClr val="FFFFFF"/>
          </a:solidFill>
          <a:ln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Rounded Rectangle 10"/>
          <p:cNvSpPr/>
          <p:nvPr/>
        </p:nvSpPr>
        <p:spPr>
          <a:xfrm>
            <a:off x="4343400" y="1691639"/>
            <a:ext cx="475488" cy="475488"/>
          </a:xfrm>
          <a:prstGeom prst="roundRect">
            <a:avLst/>
          </a:prstGeom>
          <a:solidFill>
            <a:srgbClr val="3D719D"/>
          </a:solidFill>
          <a:ln>
            <a:solidFill>
              <a:srgbClr val="3D71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4343400" y="1828800"/>
            <a:ext cx="47548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50" b="1" dirty="0">
                <a:solidFill>
                  <a:srgbClr val="FFFFFF"/>
                </a:solidFill>
                <a:latin typeface="Aptos"/>
              </a:rPr>
              <a:t>06</a:t>
            </a:r>
            <a:endParaRPr sz="105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983480" y="1691639"/>
            <a:ext cx="22402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 Display"/>
              </a:rPr>
              <a:t>Notifications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515001"/>
            <a:ext cx="288036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b="0" dirty="0">
                <a:solidFill>
                  <a:srgbClr val="66746C"/>
                </a:solidFill>
                <a:latin typeface="Aptos"/>
              </a:rPr>
              <a:t>Durable in-app notification records are created before delivery attempts.</a:t>
            </a:r>
            <a:endParaRPr lang="en-IN" sz="1400" b="0" dirty="0">
              <a:solidFill>
                <a:srgbClr val="66746C"/>
              </a:solidFill>
              <a:latin typeface="Aptos"/>
            </a:endParaRPr>
          </a:p>
          <a:p>
            <a:pPr algn="l"/>
            <a:endParaRPr lang="en-IN" sz="1400" b="0" dirty="0">
              <a:solidFill>
                <a:srgbClr val="66746C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b="0" dirty="0">
                <a:solidFill>
                  <a:srgbClr val="66746C"/>
                </a:solidFill>
                <a:latin typeface="Aptos"/>
              </a:rPr>
              <a:t> Category mutes are supported, while critical gate and safety-related notices remain mandatory.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1396139"/>
            <a:ext cx="3246120" cy="3633061"/>
          </a:xfrm>
          <a:prstGeom prst="roundRect">
            <a:avLst/>
          </a:prstGeom>
          <a:solidFill>
            <a:srgbClr val="FFFFFF"/>
          </a:solidFill>
          <a:ln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Rounded Rectangle 15"/>
          <p:cNvSpPr/>
          <p:nvPr/>
        </p:nvSpPr>
        <p:spPr>
          <a:xfrm>
            <a:off x="7863840" y="1691639"/>
            <a:ext cx="475488" cy="475488"/>
          </a:xfrm>
          <a:prstGeom prst="roundRect">
            <a:avLst/>
          </a:prstGeom>
          <a:solidFill>
            <a:srgbClr val="C2564C"/>
          </a:solidFill>
          <a:ln>
            <a:solidFill>
              <a:srgbClr val="C25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7863840" y="1828800"/>
            <a:ext cx="47548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50" b="1" dirty="0">
                <a:solidFill>
                  <a:srgbClr val="FFFFFF"/>
                </a:solidFill>
                <a:latin typeface="Aptos"/>
              </a:rPr>
              <a:t>07</a:t>
            </a:r>
            <a:endParaRPr sz="105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03920" y="1691639"/>
            <a:ext cx="22402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 Display"/>
              </a:rPr>
              <a:t>Admin, Reporting &amp; Complaints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515001"/>
            <a:ext cx="288035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b="0" dirty="0">
                <a:solidFill>
                  <a:srgbClr val="66746C"/>
                </a:solidFill>
                <a:latin typeface="Aptos"/>
              </a:rPr>
              <a:t>Provides complaint SLAs, escalation and append-only history.</a:t>
            </a:r>
            <a:endParaRPr lang="en-IN" sz="1400" b="0" dirty="0">
              <a:solidFill>
                <a:srgbClr val="66746C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400" dirty="0">
              <a:solidFill>
                <a:srgbClr val="66746C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b="0" dirty="0">
                <a:solidFill>
                  <a:srgbClr val="66746C"/>
                </a:solidFill>
                <a:latin typeface="Aptos"/>
              </a:rPr>
              <a:t> Unmet-demand logs and operational records support reporting and CSV/PDF exports.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7132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46C"/>
                </a:solidFill>
                <a:latin typeface="Aptos"/>
              </a:rPr>
              <a:t>SATHIFY  •  Smart Society Domestic Workforce Management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92240"/>
            <a:ext cx="4114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1050" b="1" dirty="0">
                <a:solidFill>
                  <a:srgbClr val="006A4E"/>
                </a:solidFill>
                <a:latin typeface="Aptos"/>
              </a:rPr>
              <a:t>7</a:t>
            </a:r>
            <a:endParaRPr sz="1050" b="1" dirty="0">
              <a:solidFill>
                <a:srgbClr val="006A4E"/>
              </a:solidFill>
              <a:latin typeface="Aptos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51E0E68-5C90-08D9-6CED-D2FD12C44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420" y="5526282"/>
            <a:ext cx="662872" cy="662872"/>
          </a:xfrm>
          <a:prstGeom prst="rect">
            <a:avLst/>
          </a:prstGeom>
          <a:effectLst>
            <a:softEdge rad="101600"/>
          </a:effectLst>
        </p:spPr>
      </p:pic>
      <p:sp>
        <p:nvSpPr>
          <p:cNvPr id="23" name="Shape 4">
            <a:extLst>
              <a:ext uri="{FF2B5EF4-FFF2-40B4-BE49-F238E27FC236}">
                <a16:creationId xmlns:a16="http://schemas.microsoft.com/office/drawing/2014/main" id="{C3879797-4EB2-AEF5-5D4E-57598A6C06AA}"/>
              </a:ext>
            </a:extLst>
          </p:cNvPr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2291E"/>
          </a:solidFill>
          <a:ln/>
        </p:spPr>
      </p:sp>
      <p:sp>
        <p:nvSpPr>
          <p:cNvPr id="24" name="!!Spine">
            <a:extLst>
              <a:ext uri="{FF2B5EF4-FFF2-40B4-BE49-F238E27FC236}">
                <a16:creationId xmlns:a16="http://schemas.microsoft.com/office/drawing/2014/main" id="{826D44E6-75AF-B1F7-FEDB-D5FC2661F94F}"/>
              </a:ext>
            </a:extLst>
          </p:cNvPr>
          <p:cNvSpPr/>
          <p:nvPr/>
        </p:nvSpPr>
        <p:spPr>
          <a:xfrm>
            <a:off x="640080" y="6327648"/>
            <a:ext cx="4462688" cy="82296"/>
          </a:xfrm>
          <a:prstGeom prst="rect">
            <a:avLst/>
          </a:prstGeom>
          <a:solidFill>
            <a:srgbClr val="2ECC71"/>
          </a:solidFill>
          <a:ln/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2743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06A4E"/>
                </a:solidFill>
                <a:latin typeface="Aptos"/>
              </a:rPr>
              <a:t>08 •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dirty="0">
                <a:solidFill>
                  <a:srgbClr val="112A23"/>
                </a:solidFill>
                <a:latin typeface="Aptos Display"/>
              </a:rPr>
              <a:t>Functional Modules </a:t>
            </a:r>
            <a:r>
              <a:rPr lang="en-IN" sz="3600" b="1" dirty="0">
                <a:solidFill>
                  <a:srgbClr val="112A23"/>
                </a:solidFill>
                <a:latin typeface="Aptos Display"/>
              </a:rPr>
              <a:t>8-9</a:t>
            </a:r>
            <a:endParaRPr sz="3600" b="1" dirty="0">
              <a:solidFill>
                <a:srgbClr val="112A23"/>
              </a:solidFill>
              <a:latin typeface="Aptos Display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396139"/>
            <a:ext cx="4826450" cy="3457211"/>
          </a:xfrm>
          <a:prstGeom prst="roundRect">
            <a:avLst/>
          </a:prstGeom>
          <a:solidFill>
            <a:srgbClr val="FFFFFF"/>
          </a:solidFill>
          <a:ln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Rounded Rectangle 5"/>
          <p:cNvSpPr/>
          <p:nvPr/>
        </p:nvSpPr>
        <p:spPr>
          <a:xfrm>
            <a:off x="822958" y="1691639"/>
            <a:ext cx="640081" cy="475488"/>
          </a:xfrm>
          <a:prstGeom prst="roundRect">
            <a:avLst/>
          </a:prstGeom>
          <a:solidFill>
            <a:srgbClr val="006A4E"/>
          </a:solidFill>
          <a:ln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905254" y="1828800"/>
            <a:ext cx="47548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50" b="1" dirty="0">
                <a:solidFill>
                  <a:srgbClr val="FFFFFF"/>
                </a:solidFill>
                <a:latin typeface="Aptos"/>
              </a:rPr>
              <a:t>08</a:t>
            </a:r>
            <a:endParaRPr sz="105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45335" y="1758113"/>
            <a:ext cx="22402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112A23"/>
                </a:solidFill>
                <a:latin typeface="Aptos Display"/>
              </a:rPr>
              <a:t>AI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4" y="2385408"/>
            <a:ext cx="402556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66746C"/>
                </a:solidFill>
                <a:latin typeface="Aptos"/>
              </a:rPr>
              <a:t>Uses a four-tier provider fallback for recommendations, assistant and analysis features.</a:t>
            </a:r>
            <a:endParaRPr lang="en-IN" b="0" dirty="0">
              <a:solidFill>
                <a:srgbClr val="66746C"/>
              </a:solidFill>
              <a:latin typeface="Aptos"/>
            </a:endParaRPr>
          </a:p>
          <a:p>
            <a:pPr algn="l"/>
            <a:endParaRPr lang="en-IN" b="0" dirty="0">
              <a:solidFill>
                <a:srgbClr val="66746C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66746C"/>
                </a:solidFill>
                <a:latin typeface="Aptos"/>
              </a:rPr>
              <a:t> Application data is queried for figures instead of letting the assistant invent them.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71192" y="1508760"/>
            <a:ext cx="4444678" cy="3344589"/>
          </a:xfrm>
          <a:prstGeom prst="roundRect">
            <a:avLst/>
          </a:prstGeom>
          <a:solidFill>
            <a:srgbClr val="FFFFFF"/>
          </a:solidFill>
          <a:ln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Rounded Rectangle 10"/>
          <p:cNvSpPr/>
          <p:nvPr/>
        </p:nvSpPr>
        <p:spPr>
          <a:xfrm>
            <a:off x="7075629" y="1691639"/>
            <a:ext cx="651051" cy="475488"/>
          </a:xfrm>
          <a:prstGeom prst="roundRect">
            <a:avLst/>
          </a:prstGeom>
          <a:solidFill>
            <a:srgbClr val="D3A439"/>
          </a:solidFill>
          <a:ln>
            <a:solidFill>
              <a:srgbClr val="D3A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7075629" y="1828800"/>
            <a:ext cx="65105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50" b="1" dirty="0">
                <a:solidFill>
                  <a:srgbClr val="FFFFFF"/>
                </a:solidFill>
                <a:latin typeface="Aptos"/>
              </a:rPr>
              <a:t>09</a:t>
            </a:r>
            <a:endParaRPr sz="105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91052" y="1691639"/>
            <a:ext cx="30674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112A23"/>
                </a:solidFill>
                <a:latin typeface="Aptos Display"/>
              </a:rPr>
              <a:t>Offline &amp; Resilience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6306" y="2420480"/>
            <a:ext cx="368219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66746C"/>
                </a:solidFill>
                <a:latin typeface="Aptos"/>
              </a:rPr>
              <a:t>Gate decisions can work from cached data and sync later using idempotent identifiers. </a:t>
            </a:r>
            <a:endParaRPr lang="en-IN" b="0" dirty="0">
              <a:solidFill>
                <a:srgbClr val="66746C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b="0" dirty="0">
              <a:solidFill>
                <a:srgbClr val="66746C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66746C"/>
                </a:solidFill>
                <a:latin typeface="Aptos"/>
              </a:rPr>
              <a:t>OCR, AI and face verification include fallback or human-review paths.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7132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46C"/>
                </a:solidFill>
                <a:latin typeface="Aptos"/>
              </a:rPr>
              <a:t>SATHIFY  •  Smart Society Domestic Workforce Management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92240"/>
            <a:ext cx="4114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1050" b="1" dirty="0">
                <a:solidFill>
                  <a:srgbClr val="006A4E"/>
                </a:solidFill>
                <a:latin typeface="Aptos"/>
              </a:rPr>
              <a:t>8</a:t>
            </a:r>
            <a:endParaRPr sz="1050" b="1" dirty="0">
              <a:solidFill>
                <a:srgbClr val="006A4E"/>
              </a:solidFill>
              <a:latin typeface="Apto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1032C80-5F56-67B0-0421-87B2C13FC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420" y="5526282"/>
            <a:ext cx="662872" cy="662872"/>
          </a:xfrm>
          <a:prstGeom prst="rect">
            <a:avLst/>
          </a:prstGeom>
          <a:effectLst>
            <a:softEdge rad="101600"/>
          </a:effectLst>
        </p:spPr>
      </p:pic>
      <p:sp>
        <p:nvSpPr>
          <p:cNvPr id="16" name="Shape 4">
            <a:extLst>
              <a:ext uri="{FF2B5EF4-FFF2-40B4-BE49-F238E27FC236}">
                <a16:creationId xmlns:a16="http://schemas.microsoft.com/office/drawing/2014/main" id="{543BFD3E-DD4F-6993-9A10-1B3DFB279EC3}"/>
              </a:ext>
            </a:extLst>
          </p:cNvPr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2291E"/>
          </a:solidFill>
          <a:ln/>
        </p:spPr>
      </p:sp>
      <p:sp>
        <p:nvSpPr>
          <p:cNvPr id="17" name="!!Spine">
            <a:extLst>
              <a:ext uri="{FF2B5EF4-FFF2-40B4-BE49-F238E27FC236}">
                <a16:creationId xmlns:a16="http://schemas.microsoft.com/office/drawing/2014/main" id="{4B80512B-554D-6580-6937-D0788212B858}"/>
              </a:ext>
            </a:extLst>
          </p:cNvPr>
          <p:cNvSpPr/>
          <p:nvPr/>
        </p:nvSpPr>
        <p:spPr>
          <a:xfrm>
            <a:off x="640080" y="6327648"/>
            <a:ext cx="4958542" cy="82296"/>
          </a:xfrm>
          <a:prstGeom prst="rect">
            <a:avLst/>
          </a:prstGeom>
          <a:solidFill>
            <a:srgbClr val="14B8A6"/>
          </a:solidFill>
          <a:ln/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201168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06A4E"/>
                </a:solidFill>
                <a:latin typeface="Aptos"/>
              </a:rPr>
              <a:t>04 •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78992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12A23"/>
                </a:solidFill>
                <a:latin typeface="Aptos Display"/>
              </a:rPr>
              <a:t>Technology Stack &amp; Why It Fits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3429000" cy="123444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30175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 Display"/>
              </a:rPr>
              <a:t>Flutter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30175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46C"/>
                </a:solidFill>
                <a:latin typeface="Aptos"/>
              </a:rPr>
              <a:t>Cross-platform mobile delivery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34440"/>
            <a:ext cx="3429000" cy="123444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TextBox 8"/>
          <p:cNvSpPr txBox="1"/>
          <p:nvPr/>
        </p:nvSpPr>
        <p:spPr>
          <a:xfrm>
            <a:off x="4526280" y="1417320"/>
            <a:ext cx="30175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 Display"/>
              </a:rPr>
              <a:t>Django + DRF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847088"/>
            <a:ext cx="30175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46C"/>
                </a:solidFill>
                <a:latin typeface="Aptos"/>
              </a:rPr>
              <a:t>Fast, structured API + mature admin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234440"/>
            <a:ext cx="3429000" cy="123444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8275319" y="1417320"/>
            <a:ext cx="30175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 Display"/>
              </a:rPr>
              <a:t>PostgreSQL / Supabase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1847088"/>
            <a:ext cx="30175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46C"/>
                </a:solidFill>
                <a:latin typeface="Aptos"/>
              </a:rPr>
              <a:t>Durable relational, society-scoped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788920"/>
            <a:ext cx="3429000" cy="123444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777240" y="2971800"/>
            <a:ext cx="30175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 Display"/>
              </a:rPr>
              <a:t>Render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01568"/>
            <a:ext cx="30175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46C"/>
                </a:solidFill>
                <a:latin typeface="Aptos"/>
              </a:rPr>
              <a:t>Zero-recurring-cost deployment today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2788920"/>
            <a:ext cx="3429000" cy="123444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4526280" y="2971800"/>
            <a:ext cx="30175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 Display"/>
              </a:rPr>
              <a:t>Razorpay 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401568"/>
            <a:ext cx="30175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46C"/>
                </a:solidFill>
                <a:latin typeface="Aptos"/>
              </a:rPr>
              <a:t>Payments, refunds and webhooks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2788920"/>
            <a:ext cx="3429000" cy="123444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8275319" y="2971800"/>
            <a:ext cx="30175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 Display"/>
              </a:rPr>
              <a:t>Firebase FCM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3401568"/>
            <a:ext cx="30175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46C"/>
                </a:solidFill>
                <a:latin typeface="Aptos"/>
              </a:rPr>
              <a:t>Optional push notification layer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343400"/>
            <a:ext cx="3429000" cy="123444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4" name="TextBox 23"/>
          <p:cNvSpPr txBox="1"/>
          <p:nvPr/>
        </p:nvSpPr>
        <p:spPr>
          <a:xfrm>
            <a:off x="777240" y="4526280"/>
            <a:ext cx="30175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 Display"/>
              </a:rPr>
              <a:t>PaddleOCR / EasyOCR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956048"/>
            <a:ext cx="30175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46C"/>
                </a:solidFill>
                <a:latin typeface="Aptos"/>
              </a:rPr>
              <a:t>Swappable document extraction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43400" y="4343400"/>
            <a:ext cx="3429000" cy="123444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TextBox 29"/>
          <p:cNvSpPr txBox="1"/>
          <p:nvPr/>
        </p:nvSpPr>
        <p:spPr>
          <a:xfrm>
            <a:off x="4526278" y="4526280"/>
            <a:ext cx="3108961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112A23"/>
                </a:solidFill>
                <a:latin typeface="Aptos Display"/>
              </a:rPr>
              <a:t>Gemini → </a:t>
            </a:r>
            <a:r>
              <a:rPr b="1" dirty="0" err="1">
                <a:solidFill>
                  <a:srgbClr val="112A23"/>
                </a:solidFill>
                <a:latin typeface="Aptos Display"/>
              </a:rPr>
              <a:t>Groq</a:t>
            </a:r>
            <a:r>
              <a:rPr b="1" dirty="0">
                <a:solidFill>
                  <a:srgbClr val="112A23"/>
                </a:solidFill>
                <a:latin typeface="Aptos Display"/>
              </a:rPr>
              <a:t> → </a:t>
            </a:r>
            <a:r>
              <a:rPr b="1" dirty="0" err="1">
                <a:solidFill>
                  <a:srgbClr val="112A23"/>
                </a:solidFill>
                <a:latin typeface="Aptos Display"/>
              </a:rPr>
              <a:t>OpenRouter</a:t>
            </a:r>
            <a:r>
              <a:rPr b="1" dirty="0">
                <a:solidFill>
                  <a:srgbClr val="112A23"/>
                </a:solidFill>
                <a:latin typeface="Aptos Display"/>
              </a:rPr>
              <a:t> → HF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79" y="5143549"/>
            <a:ext cx="30175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66746C"/>
                </a:solidFill>
                <a:latin typeface="Aptos"/>
              </a:rPr>
              <a:t>Four-tier AI fallback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8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3" name="TextBox 32"/>
          <p:cNvSpPr txBox="1"/>
          <p:nvPr/>
        </p:nvSpPr>
        <p:spPr>
          <a:xfrm>
            <a:off x="594360" y="6510528"/>
            <a:ext cx="7315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46C"/>
                </a:solidFill>
                <a:latin typeface="Aptos"/>
              </a:rPr>
              <a:t>SATHIFY  •  Smart Society Domestic Workforce Management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35640" y="6492240"/>
            <a:ext cx="59436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IN" sz="1050" b="1" dirty="0">
                <a:solidFill>
                  <a:srgbClr val="006A4E"/>
                </a:solidFill>
                <a:latin typeface="Aptos"/>
              </a:rPr>
              <a:t>9</a:t>
            </a:r>
            <a:endParaRPr sz="1050" b="1" dirty="0">
              <a:solidFill>
                <a:srgbClr val="006A4E"/>
              </a:solidFill>
              <a:latin typeface="Aptos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B9E52EE-EF33-9BBC-5C3F-41016C9E6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1403" y="5684566"/>
            <a:ext cx="662872" cy="662872"/>
          </a:xfrm>
          <a:prstGeom prst="rect">
            <a:avLst/>
          </a:prstGeom>
          <a:effectLst>
            <a:softEdge rad="101600"/>
          </a:effectLst>
        </p:spPr>
      </p:pic>
      <p:sp>
        <p:nvSpPr>
          <p:cNvPr id="36" name="Shape 4">
            <a:extLst>
              <a:ext uri="{FF2B5EF4-FFF2-40B4-BE49-F238E27FC236}">
                <a16:creationId xmlns:a16="http://schemas.microsoft.com/office/drawing/2014/main" id="{F506DDB9-3079-32CA-03C9-E517A13BF49D}"/>
              </a:ext>
            </a:extLst>
          </p:cNvPr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2291E"/>
          </a:solidFill>
          <a:ln/>
        </p:spPr>
      </p:sp>
      <p:sp>
        <p:nvSpPr>
          <p:cNvPr id="37" name="!!Spine">
            <a:extLst>
              <a:ext uri="{FF2B5EF4-FFF2-40B4-BE49-F238E27FC236}">
                <a16:creationId xmlns:a16="http://schemas.microsoft.com/office/drawing/2014/main" id="{259FD754-0314-6C0B-5F56-7E8B61DD64CB}"/>
              </a:ext>
            </a:extLst>
          </p:cNvPr>
          <p:cNvSpPr/>
          <p:nvPr/>
        </p:nvSpPr>
        <p:spPr>
          <a:xfrm>
            <a:off x="640080" y="6327648"/>
            <a:ext cx="5950250" cy="82296"/>
          </a:xfrm>
          <a:prstGeom prst="rect">
            <a:avLst/>
          </a:prstGeom>
          <a:solidFill>
            <a:srgbClr val="14B8A6"/>
          </a:solidFill>
          <a:ln/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201168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06A4E"/>
                </a:solidFill>
                <a:latin typeface="Aptos"/>
              </a:rPr>
              <a:t>06 •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78992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dirty="0">
                <a:solidFill>
                  <a:srgbClr val="112A23"/>
                </a:solidFill>
                <a:latin typeface="Aptos Display"/>
              </a:rPr>
              <a:t>Attendance &amp; Gate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27432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006A4E"/>
                </a:solidFill>
                <a:latin typeface="Aptos"/>
              </a:rPr>
              <a:t>Evidence hierarchy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54864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Rounded Rectangle 6"/>
          <p:cNvSpPr/>
          <p:nvPr/>
        </p:nvSpPr>
        <p:spPr>
          <a:xfrm>
            <a:off x="868680" y="1874520"/>
            <a:ext cx="457200" cy="347472"/>
          </a:xfrm>
          <a:prstGeom prst="roundRect">
            <a:avLst/>
          </a:prstGeom>
          <a:solidFill>
            <a:srgbClr val="006A4E"/>
          </a:solidFill>
          <a:ln w="12700"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914400" y="1947672"/>
            <a:ext cx="36576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37944"/>
            <a:ext cx="2468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112A23"/>
                </a:solidFill>
                <a:latin typeface="Aptos"/>
              </a:rPr>
              <a:t>QR </a:t>
            </a:r>
            <a:r>
              <a:rPr lang="en-IN" b="1" dirty="0">
                <a:solidFill>
                  <a:srgbClr val="112A23"/>
                </a:solidFill>
                <a:latin typeface="Aptos"/>
              </a:rPr>
              <a:t>Scanning</a:t>
            </a:r>
            <a:endParaRPr b="1" dirty="0">
              <a:solidFill>
                <a:srgbClr val="112A23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60520" y="1837944"/>
            <a:ext cx="20116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66746C"/>
                </a:solidFill>
                <a:latin typeface="Aptos"/>
              </a:rPr>
              <a:t>Highest-confidence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06040"/>
            <a:ext cx="54864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Rounded Rectangle 11"/>
          <p:cNvSpPr/>
          <p:nvPr/>
        </p:nvSpPr>
        <p:spPr>
          <a:xfrm>
            <a:off x="868680" y="2788920"/>
            <a:ext cx="457200" cy="347472"/>
          </a:xfrm>
          <a:prstGeom prst="roundRect">
            <a:avLst/>
          </a:prstGeom>
          <a:solidFill>
            <a:srgbClr val="006A4E"/>
          </a:solidFill>
          <a:ln w="12700"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/>
          <p:cNvSpPr txBox="1"/>
          <p:nvPr/>
        </p:nvSpPr>
        <p:spPr>
          <a:xfrm>
            <a:off x="914400" y="2862072"/>
            <a:ext cx="36576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672941"/>
            <a:ext cx="225552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b="1" dirty="0">
                <a:solidFill>
                  <a:srgbClr val="112A23"/>
                </a:solidFill>
                <a:latin typeface="Aptos"/>
              </a:rPr>
              <a:t>Helper</a:t>
            </a:r>
            <a:r>
              <a:rPr b="1" dirty="0">
                <a:solidFill>
                  <a:srgbClr val="112A23"/>
                </a:solidFill>
                <a:latin typeface="Aptos"/>
              </a:rPr>
              <a:t> self-check-in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45280" y="2752344"/>
            <a:ext cx="20116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66746C"/>
                </a:solidFill>
                <a:latin typeface="Aptos"/>
              </a:rPr>
              <a:t>~250 m configurable radius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20440"/>
            <a:ext cx="54864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Rounded Rectangle 16"/>
          <p:cNvSpPr/>
          <p:nvPr/>
        </p:nvSpPr>
        <p:spPr>
          <a:xfrm>
            <a:off x="868680" y="3703320"/>
            <a:ext cx="457200" cy="347472"/>
          </a:xfrm>
          <a:prstGeom prst="roundRect">
            <a:avLst/>
          </a:prstGeom>
          <a:solidFill>
            <a:srgbClr val="D3A439"/>
          </a:solidFill>
          <a:ln w="12700">
            <a:solidFill>
              <a:srgbClr val="D3A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914400" y="3776472"/>
            <a:ext cx="36576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666744"/>
            <a:ext cx="26822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112A23"/>
                </a:solidFill>
                <a:latin typeface="Aptos"/>
              </a:rPr>
              <a:t>Resident-scanned card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83380" y="3666744"/>
            <a:ext cx="20116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66746C"/>
                </a:solidFill>
                <a:latin typeface="Aptos"/>
              </a:rPr>
              <a:t>Works when </a:t>
            </a:r>
            <a:r>
              <a:rPr lang="en-IN" sz="1100" b="0" dirty="0">
                <a:solidFill>
                  <a:srgbClr val="66746C"/>
                </a:solidFill>
                <a:latin typeface="Aptos"/>
              </a:rPr>
              <a:t>helper</a:t>
            </a:r>
            <a:r>
              <a:rPr sz="1100" b="0" dirty="0">
                <a:solidFill>
                  <a:srgbClr val="66746C"/>
                </a:solidFill>
                <a:latin typeface="Aptos"/>
              </a:rPr>
              <a:t> has no phone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434839"/>
            <a:ext cx="5486400" cy="95543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Rounded Rectangle 21"/>
          <p:cNvSpPr/>
          <p:nvPr/>
        </p:nvSpPr>
        <p:spPr>
          <a:xfrm>
            <a:off x="868680" y="4722422"/>
            <a:ext cx="457200" cy="347472"/>
          </a:xfrm>
          <a:prstGeom prst="roundRect">
            <a:avLst/>
          </a:prstGeom>
          <a:solidFill>
            <a:srgbClr val="D3A439"/>
          </a:solidFill>
          <a:ln w="12700">
            <a:solidFill>
              <a:srgbClr val="D3A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914400" y="4795574"/>
            <a:ext cx="36576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581144"/>
            <a:ext cx="2924344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112A23"/>
                </a:solidFill>
                <a:latin typeface="Aptos"/>
              </a:rPr>
              <a:t>Photographed paper register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4790337"/>
            <a:ext cx="20116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66746C"/>
                </a:solidFill>
                <a:latin typeface="Aptos"/>
              </a:rPr>
              <a:t>Last-resort evidence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29400" y="1691640"/>
            <a:ext cx="4846320" cy="3611880"/>
          </a:xfrm>
          <a:prstGeom prst="roundRect">
            <a:avLst/>
          </a:prstGeom>
          <a:solidFill>
            <a:srgbClr val="112A23"/>
          </a:solidFill>
          <a:ln w="12700">
            <a:solidFill>
              <a:srgbClr val="112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" name="TextBox 26"/>
          <p:cNvSpPr txBox="1"/>
          <p:nvPr/>
        </p:nvSpPr>
        <p:spPr>
          <a:xfrm>
            <a:off x="6995160" y="2057400"/>
            <a:ext cx="4114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D3A439"/>
                </a:solidFill>
                <a:latin typeface="Aptos"/>
              </a:rPr>
              <a:t>THE NON-NEGOTIABLE RULE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51320" y="2371305"/>
            <a:ext cx="4754880" cy="1569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dirty="0">
                <a:solidFill>
                  <a:srgbClr val="FFFFFF"/>
                </a:solidFill>
                <a:latin typeface="Aptos Display"/>
              </a:rPr>
              <a:t>No automated tier may
alone deny income or access.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4069080"/>
            <a:ext cx="411480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dirty="0">
                <a:solidFill>
                  <a:srgbClr val="CAE0D6"/>
                </a:solidFill>
                <a:latin typeface="Aptos"/>
              </a:rPr>
              <a:t>Low-confidence face • missing GPS </a:t>
            </a:r>
            <a:endParaRPr lang="en-IN" sz="1600" b="0" dirty="0">
              <a:solidFill>
                <a:srgbClr val="CAE0D6"/>
              </a:solidFill>
              <a:latin typeface="Aptos"/>
            </a:endParaRPr>
          </a:p>
          <a:p>
            <a:pPr algn="ctr"/>
            <a:r>
              <a:rPr sz="1600" b="0" dirty="0">
                <a:solidFill>
                  <a:srgbClr val="CAE0D6"/>
                </a:solidFill>
                <a:latin typeface="Aptos"/>
              </a:rPr>
              <a:t>• OCR failure • AI outage
→ route to a human decision, with an audit trail.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8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7315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46C"/>
                </a:solidFill>
                <a:latin typeface="Aptos"/>
              </a:rPr>
              <a:t>SATHIFY  •  Smart Society Domestic Workforce Management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35640" y="6492240"/>
            <a:ext cx="59436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 dirty="0">
                <a:solidFill>
                  <a:srgbClr val="006A4E"/>
                </a:solidFill>
                <a:latin typeface="Aptos"/>
              </a:rPr>
              <a:t>1</a:t>
            </a:r>
            <a:r>
              <a:rPr lang="en-IN" sz="1050" b="1" dirty="0">
                <a:solidFill>
                  <a:srgbClr val="006A4E"/>
                </a:solidFill>
                <a:latin typeface="Aptos"/>
              </a:rPr>
              <a:t>0</a:t>
            </a:r>
            <a:endParaRPr sz="1050" b="1" dirty="0">
              <a:solidFill>
                <a:srgbClr val="006A4E"/>
              </a:solidFill>
              <a:latin typeface="Aptos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3E82594-2442-1E03-24AC-46044CD99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420" y="5526282"/>
            <a:ext cx="662872" cy="662872"/>
          </a:xfrm>
          <a:prstGeom prst="rect">
            <a:avLst/>
          </a:prstGeom>
          <a:effectLst>
            <a:softEdge rad="101600"/>
          </a:effectLst>
        </p:spPr>
      </p:pic>
      <p:sp>
        <p:nvSpPr>
          <p:cNvPr id="34" name="Shape 4">
            <a:extLst>
              <a:ext uri="{FF2B5EF4-FFF2-40B4-BE49-F238E27FC236}">
                <a16:creationId xmlns:a16="http://schemas.microsoft.com/office/drawing/2014/main" id="{D62866A4-0E9D-5F44-3C65-8687C3A56B31}"/>
              </a:ext>
            </a:extLst>
          </p:cNvPr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2291E"/>
          </a:solidFill>
          <a:ln/>
        </p:spPr>
      </p:sp>
      <p:sp>
        <p:nvSpPr>
          <p:cNvPr id="35" name="!!Spine">
            <a:extLst>
              <a:ext uri="{FF2B5EF4-FFF2-40B4-BE49-F238E27FC236}">
                <a16:creationId xmlns:a16="http://schemas.microsoft.com/office/drawing/2014/main" id="{BA6AA245-33A6-3F40-7784-55066E55798E}"/>
              </a:ext>
            </a:extLst>
          </p:cNvPr>
          <p:cNvSpPr/>
          <p:nvPr/>
        </p:nvSpPr>
        <p:spPr>
          <a:xfrm>
            <a:off x="640080" y="6327648"/>
            <a:ext cx="6446104" cy="82296"/>
          </a:xfrm>
          <a:prstGeom prst="rect">
            <a:avLst/>
          </a:prstGeom>
          <a:solidFill>
            <a:srgbClr val="2ECC71"/>
          </a:solidFill>
          <a:ln/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201168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06A4E"/>
                </a:solidFill>
                <a:latin typeface="Aptos"/>
              </a:rPr>
              <a:t>05 • TRUST &amp;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1422" y="558341"/>
            <a:ext cx="11883149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4000" b="1" dirty="0">
                <a:solidFill>
                  <a:srgbClr val="112A23"/>
                </a:solidFill>
                <a:latin typeface="Aptos Display"/>
              </a:rPr>
              <a:t>Helper</a:t>
            </a:r>
            <a:r>
              <a:rPr sz="4000" b="1" dirty="0">
                <a:solidFill>
                  <a:srgbClr val="112A23"/>
                </a:solidFill>
                <a:latin typeface="Aptos Display"/>
              </a:rPr>
              <a:t> KYC: From Document Image to Verified Profile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1368" y="2011680"/>
            <a:ext cx="557784" cy="0"/>
          </a:xfrm>
          <a:prstGeom prst="line">
            <a:avLst/>
          </a:prstGeom>
          <a:ln w="19050">
            <a:solidFill>
              <a:srgbClr val="D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758952" y="1508760"/>
            <a:ext cx="822960" cy="822960"/>
          </a:xfrm>
          <a:prstGeom prst="ellipse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758952" y="1783080"/>
            <a:ext cx="8229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51760"/>
            <a:ext cx="13716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112A23"/>
                </a:solidFill>
                <a:latin typeface="Aptos"/>
              </a:rPr>
              <a:t>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35808"/>
            <a:ext cx="13716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Aadhaar front / back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03320" y="2011680"/>
            <a:ext cx="557784" cy="0"/>
          </a:xfrm>
          <a:prstGeom prst="line">
            <a:avLst/>
          </a:prstGeom>
          <a:ln w="19050">
            <a:solidFill>
              <a:srgbClr val="D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660904" y="1508760"/>
            <a:ext cx="822960" cy="822960"/>
          </a:xfrm>
          <a:prstGeom prst="ellipse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2660904" y="1783080"/>
            <a:ext cx="8229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04872" y="2651760"/>
            <a:ext cx="13716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112A23"/>
                </a:solidFill>
                <a:latin typeface="Aptos"/>
              </a:rPr>
              <a:t>OCR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4872" y="3035808"/>
            <a:ext cx="13716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Extract fields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05272" y="2011680"/>
            <a:ext cx="557784" cy="0"/>
          </a:xfrm>
          <a:prstGeom prst="line">
            <a:avLst/>
          </a:prstGeom>
          <a:ln w="19050">
            <a:solidFill>
              <a:srgbClr val="D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562856" y="1508760"/>
            <a:ext cx="822960" cy="822960"/>
          </a:xfrm>
          <a:prstGeom prst="ellipse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4562856" y="1783080"/>
            <a:ext cx="8229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6824" y="2651760"/>
            <a:ext cx="13716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112A23"/>
                </a:solidFill>
                <a:latin typeface="Aptos"/>
              </a:rPr>
              <a:t>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6824" y="3035808"/>
            <a:ext cx="13716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Verhoeff + age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07224" y="2011680"/>
            <a:ext cx="557784" cy="0"/>
          </a:xfrm>
          <a:prstGeom prst="line">
            <a:avLst/>
          </a:prstGeom>
          <a:ln w="19050">
            <a:solidFill>
              <a:srgbClr val="D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464808" y="1508760"/>
            <a:ext cx="822960" cy="822960"/>
          </a:xfrm>
          <a:prstGeom prst="ellipse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TextBox 21"/>
          <p:cNvSpPr txBox="1"/>
          <p:nvPr/>
        </p:nvSpPr>
        <p:spPr>
          <a:xfrm>
            <a:off x="6464808" y="1783080"/>
            <a:ext cx="8229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2651760"/>
            <a:ext cx="1700784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 dirty="0">
                <a:solidFill>
                  <a:srgbClr val="112A23"/>
                </a:solidFill>
                <a:latin typeface="Aptos"/>
              </a:rPr>
              <a:t>Cross-check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08776" y="3035808"/>
            <a:ext cx="13716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dirty="0">
                <a:solidFill>
                  <a:srgbClr val="66746C"/>
                </a:solidFill>
                <a:latin typeface="Aptos"/>
              </a:rPr>
              <a:t>Front / back consistency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09176" y="2011680"/>
            <a:ext cx="557784" cy="0"/>
          </a:xfrm>
          <a:prstGeom prst="line">
            <a:avLst/>
          </a:prstGeom>
          <a:ln w="19050">
            <a:solidFill>
              <a:srgbClr val="D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8366760" y="1508760"/>
            <a:ext cx="822960" cy="822960"/>
          </a:xfrm>
          <a:prstGeom prst="ellipse">
            <a:avLst/>
          </a:prstGeom>
          <a:solidFill>
            <a:srgbClr val="D3A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" name="TextBox 26"/>
          <p:cNvSpPr txBox="1"/>
          <p:nvPr/>
        </p:nvSpPr>
        <p:spPr>
          <a:xfrm>
            <a:off x="8366760" y="1783080"/>
            <a:ext cx="8229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0728" y="2651760"/>
            <a:ext cx="13716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112A23"/>
                </a:solidFill>
                <a:latin typeface="Aptos"/>
              </a:rPr>
              <a:t>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0728" y="3035808"/>
            <a:ext cx="13716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Human escalation</a:t>
            </a:r>
          </a:p>
        </p:txBody>
      </p:sp>
      <p:sp>
        <p:nvSpPr>
          <p:cNvPr id="30" name="Oval 29"/>
          <p:cNvSpPr/>
          <p:nvPr/>
        </p:nvSpPr>
        <p:spPr>
          <a:xfrm>
            <a:off x="10268712" y="1508760"/>
            <a:ext cx="822960" cy="822960"/>
          </a:xfrm>
          <a:prstGeom prst="ellipse">
            <a:avLst/>
          </a:prstGeom>
          <a:solidFill>
            <a:srgbClr val="D3A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1" name="TextBox 30"/>
          <p:cNvSpPr txBox="1"/>
          <p:nvPr/>
        </p:nvSpPr>
        <p:spPr>
          <a:xfrm>
            <a:off x="10268712" y="1783080"/>
            <a:ext cx="8229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2651760"/>
            <a:ext cx="13716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112A23"/>
                </a:solidFill>
                <a:latin typeface="Aptos"/>
              </a:rPr>
              <a:t>Activate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3035808"/>
            <a:ext cx="13716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Search + gate eligibility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4251960"/>
            <a:ext cx="9966960" cy="147485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5" name="Rectangle 34"/>
          <p:cNvSpPr/>
          <p:nvPr/>
        </p:nvSpPr>
        <p:spPr>
          <a:xfrm>
            <a:off x="1097280" y="4251960"/>
            <a:ext cx="45719" cy="1455014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6" name="TextBox 35"/>
          <p:cNvSpPr txBox="1"/>
          <p:nvPr/>
        </p:nvSpPr>
        <p:spPr>
          <a:xfrm>
            <a:off x="1298448" y="4416552"/>
            <a:ext cx="96012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2A23"/>
                </a:solidFill>
                <a:latin typeface="Aptos Display"/>
              </a:rPr>
              <a:t>Privacy posture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98448" y="4873752"/>
            <a:ext cx="96012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66746C"/>
                </a:solidFill>
                <a:latin typeface="Aptos"/>
              </a:rPr>
              <a:t>Full Aadhaar numbers are never stored. The system keeps masked display data and a keyed hash for duplicate detection; sensitive processing is consent-gated and reviewable.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8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9" name="TextBox 38"/>
          <p:cNvSpPr txBox="1"/>
          <p:nvPr/>
        </p:nvSpPr>
        <p:spPr>
          <a:xfrm>
            <a:off x="594360" y="6510528"/>
            <a:ext cx="7315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46C"/>
                </a:solidFill>
                <a:latin typeface="Aptos"/>
              </a:rPr>
              <a:t>SATHIFY  •  Smart Society Domestic Workforce Management System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35640" y="6492240"/>
            <a:ext cx="59436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 dirty="0">
                <a:solidFill>
                  <a:srgbClr val="006A4E"/>
                </a:solidFill>
                <a:latin typeface="Aptos"/>
              </a:rPr>
              <a:t>1</a:t>
            </a:r>
            <a:r>
              <a:rPr lang="en-IN" sz="1050" b="1" dirty="0">
                <a:solidFill>
                  <a:srgbClr val="006A4E"/>
                </a:solidFill>
                <a:latin typeface="Aptos"/>
              </a:rPr>
              <a:t>1</a:t>
            </a:r>
            <a:endParaRPr sz="1050" b="1" dirty="0">
              <a:solidFill>
                <a:srgbClr val="006A4E"/>
              </a:solidFill>
              <a:latin typeface="Aptos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E08B19A-4660-79AB-71FD-63B7CE4CC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2820" y="5636787"/>
            <a:ext cx="662872" cy="662872"/>
          </a:xfrm>
          <a:prstGeom prst="rect">
            <a:avLst/>
          </a:prstGeom>
          <a:effectLst>
            <a:softEdge rad="101600"/>
          </a:effectLst>
        </p:spPr>
      </p:pic>
      <p:sp>
        <p:nvSpPr>
          <p:cNvPr id="42" name="Shape 4">
            <a:extLst>
              <a:ext uri="{FF2B5EF4-FFF2-40B4-BE49-F238E27FC236}">
                <a16:creationId xmlns:a16="http://schemas.microsoft.com/office/drawing/2014/main" id="{0F3E9FAA-B388-626B-C966-7EEC4984A903}"/>
              </a:ext>
            </a:extLst>
          </p:cNvPr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2291E"/>
          </a:solidFill>
          <a:ln/>
        </p:spPr>
      </p:sp>
      <p:sp>
        <p:nvSpPr>
          <p:cNvPr id="43" name="!!Spine">
            <a:extLst>
              <a:ext uri="{FF2B5EF4-FFF2-40B4-BE49-F238E27FC236}">
                <a16:creationId xmlns:a16="http://schemas.microsoft.com/office/drawing/2014/main" id="{D585CD3D-6AAE-3F6B-54EF-EA2CB8F9A61A}"/>
              </a:ext>
            </a:extLst>
          </p:cNvPr>
          <p:cNvSpPr/>
          <p:nvPr/>
        </p:nvSpPr>
        <p:spPr>
          <a:xfrm>
            <a:off x="640080" y="6327648"/>
            <a:ext cx="6941959" cy="82296"/>
          </a:xfrm>
          <a:prstGeom prst="rect">
            <a:avLst/>
          </a:prstGeom>
          <a:solidFill>
            <a:srgbClr val="14B8A6"/>
          </a:solidFill>
          <a:ln/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201168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06A4E"/>
                </a:solidFill>
                <a:latin typeface="Aptos"/>
              </a:rPr>
              <a:t>05 •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78992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12A23"/>
                </a:solidFill>
                <a:latin typeface="Aptos Display"/>
              </a:rPr>
              <a:t>Discovery, Hiring &amp; One-Day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120640" cy="448056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29768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12A23"/>
                </a:solidFill>
                <a:latin typeface="Aptos Display"/>
              </a:rPr>
              <a:t>Explainable </a:t>
            </a:r>
            <a:r>
              <a:rPr lang="en-IN" sz="2800" b="1" dirty="0">
                <a:solidFill>
                  <a:srgbClr val="112A23"/>
                </a:solidFill>
                <a:latin typeface="Aptos Display"/>
              </a:rPr>
              <a:t>helper</a:t>
            </a:r>
            <a:r>
              <a:rPr sz="2800" b="1" dirty="0">
                <a:solidFill>
                  <a:srgbClr val="112A23"/>
                </a:solidFill>
                <a:latin typeface="Aptos Display"/>
              </a:rPr>
              <a:t> ranking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20116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"/>
              </a:rPr>
              <a:t>Trust score 30%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514600"/>
            <a:ext cx="4160520" cy="201168"/>
          </a:xfrm>
          <a:prstGeom prst="roundRect">
            <a:avLst/>
          </a:prstGeom>
          <a:solidFill>
            <a:srgbClr val="E2F3EC"/>
          </a:solidFill>
          <a:ln w="12700">
            <a:solidFill>
              <a:srgbClr val="E2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Rounded Rectangle 8"/>
          <p:cNvSpPr/>
          <p:nvPr/>
        </p:nvSpPr>
        <p:spPr>
          <a:xfrm>
            <a:off x="960120" y="2514600"/>
            <a:ext cx="1252728" cy="201168"/>
          </a:xfrm>
          <a:prstGeom prst="roundRect">
            <a:avLst/>
          </a:prstGeom>
          <a:solidFill>
            <a:srgbClr val="006A4E"/>
          </a:solidFill>
          <a:ln w="12700"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201168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"/>
              </a:rPr>
              <a:t>Rating history 25%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246120"/>
            <a:ext cx="4160520" cy="201168"/>
          </a:xfrm>
          <a:prstGeom prst="roundRect">
            <a:avLst/>
          </a:prstGeom>
          <a:solidFill>
            <a:srgbClr val="E2F3EC"/>
          </a:solidFill>
          <a:ln w="12700">
            <a:solidFill>
              <a:srgbClr val="E2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Rounded Rectangle 11"/>
          <p:cNvSpPr/>
          <p:nvPr/>
        </p:nvSpPr>
        <p:spPr>
          <a:xfrm>
            <a:off x="960120" y="3246120"/>
            <a:ext cx="1042415" cy="201168"/>
          </a:xfrm>
          <a:prstGeom prst="roundRect">
            <a:avLst/>
          </a:prstGeom>
          <a:solidFill>
            <a:srgbClr val="3D719D"/>
          </a:solidFill>
          <a:ln w="12700">
            <a:solidFill>
              <a:srgbClr val="3D71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/>
          <p:cNvSpPr txBox="1"/>
          <p:nvPr/>
        </p:nvSpPr>
        <p:spPr>
          <a:xfrm>
            <a:off x="960120" y="3657600"/>
            <a:ext cx="425196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746C"/>
                </a:solidFill>
                <a:latin typeface="Aptos"/>
              </a:rPr>
              <a:t>Availability 20%  •  Responsiveness 15%  •  Proximity 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617720"/>
            <a:ext cx="425196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6A4E"/>
                </a:solidFill>
                <a:latin typeface="Aptos"/>
              </a:rPr>
              <a:t>The breakdown is visible to the user — no black-box score.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1234440"/>
            <a:ext cx="54406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6400800" y="1554480"/>
            <a:ext cx="448056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12A23"/>
                </a:solidFill>
                <a:latin typeface="Aptos Display"/>
              </a:rPr>
              <a:t>Two ways to engage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103120"/>
            <a:ext cx="4709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Rectangle 17"/>
          <p:cNvSpPr/>
          <p:nvPr/>
        </p:nvSpPr>
        <p:spPr>
          <a:xfrm>
            <a:off x="6400800" y="2103120"/>
            <a:ext cx="59436" cy="1417320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6601968" y="2267712"/>
            <a:ext cx="43434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2A23"/>
                </a:solidFill>
                <a:latin typeface="Aptos Display"/>
              </a:rPr>
              <a:t>Recurring Engagement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2724912"/>
            <a:ext cx="4343400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66746C"/>
                </a:solidFill>
                <a:latin typeface="Aptos"/>
              </a:rPr>
              <a:t>Hire a </a:t>
            </a:r>
            <a:r>
              <a:rPr lang="en-IN" sz="1400" b="0" dirty="0">
                <a:solidFill>
                  <a:srgbClr val="66746C"/>
                </a:solidFill>
                <a:latin typeface="Aptos"/>
              </a:rPr>
              <a:t>helper</a:t>
            </a:r>
            <a:r>
              <a:rPr sz="1400" b="0" dirty="0">
                <a:solidFill>
                  <a:srgbClr val="66746C"/>
                </a:solidFill>
                <a:latin typeface="Aptos"/>
              </a:rPr>
              <a:t> for an ongoing relationship. Response deadline, pause/resume, notice rules and urgent safety termination are built into the lifecycle.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749039"/>
            <a:ext cx="4709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Rectangle 21"/>
          <p:cNvSpPr/>
          <p:nvPr/>
        </p:nvSpPr>
        <p:spPr>
          <a:xfrm>
            <a:off x="6400800" y="3749039"/>
            <a:ext cx="59436" cy="1417320"/>
          </a:xfrm>
          <a:prstGeom prst="rect">
            <a:avLst/>
          </a:prstGeom>
          <a:solidFill>
            <a:srgbClr val="D3A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6601968" y="3913631"/>
            <a:ext cx="43434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2A23"/>
                </a:solidFill>
                <a:latin typeface="Aptos Display"/>
              </a:rPr>
              <a:t>One-Day Booking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4370831"/>
            <a:ext cx="4343400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46C"/>
                </a:solidFill>
                <a:latin typeface="Aptos"/>
              </a:rPr>
              <a:t>Deep cleaning, shifting, event prep, temporary cooking or emergency assistance — with date-specific availability and a separate booking lifecycle.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8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7315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46C"/>
                </a:solidFill>
                <a:latin typeface="Aptos"/>
              </a:rPr>
              <a:t>SATHIFY  •  Smart Society Domestic Workforce Management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92240"/>
            <a:ext cx="59436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 dirty="0">
                <a:solidFill>
                  <a:srgbClr val="006A4E"/>
                </a:solidFill>
                <a:latin typeface="Aptos"/>
              </a:rPr>
              <a:t>1</a:t>
            </a:r>
            <a:r>
              <a:rPr lang="en-IN" sz="1050" b="1" dirty="0">
                <a:solidFill>
                  <a:srgbClr val="006A4E"/>
                </a:solidFill>
                <a:latin typeface="Aptos"/>
              </a:rPr>
              <a:t>2</a:t>
            </a:r>
            <a:endParaRPr sz="1050" b="1" dirty="0">
              <a:solidFill>
                <a:srgbClr val="006A4E"/>
              </a:solidFill>
              <a:latin typeface="Aptos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9DA56C6-9F7D-4684-A114-A66307720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2844" y="5583924"/>
            <a:ext cx="662872" cy="662872"/>
          </a:xfrm>
          <a:prstGeom prst="rect">
            <a:avLst/>
          </a:prstGeom>
          <a:effectLst>
            <a:softEdge rad="101600"/>
          </a:effectLst>
        </p:spPr>
      </p:pic>
      <p:sp>
        <p:nvSpPr>
          <p:cNvPr id="29" name="Shape 4">
            <a:extLst>
              <a:ext uri="{FF2B5EF4-FFF2-40B4-BE49-F238E27FC236}">
                <a16:creationId xmlns:a16="http://schemas.microsoft.com/office/drawing/2014/main" id="{1ADDC9A3-49DC-BE96-ECA9-486683CE799E}"/>
              </a:ext>
            </a:extLst>
          </p:cNvPr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2291E"/>
          </a:solidFill>
          <a:ln/>
        </p:spPr>
      </p:sp>
      <p:sp>
        <p:nvSpPr>
          <p:cNvPr id="30" name="!!Spine">
            <a:extLst>
              <a:ext uri="{FF2B5EF4-FFF2-40B4-BE49-F238E27FC236}">
                <a16:creationId xmlns:a16="http://schemas.microsoft.com/office/drawing/2014/main" id="{39CB3F0B-F8AD-F7E3-5951-35451DF1E96E}"/>
              </a:ext>
            </a:extLst>
          </p:cNvPr>
          <p:cNvSpPr/>
          <p:nvPr/>
        </p:nvSpPr>
        <p:spPr>
          <a:xfrm>
            <a:off x="640080" y="6327648"/>
            <a:ext cx="7437813" cy="82296"/>
          </a:xfrm>
          <a:prstGeom prst="rect">
            <a:avLst/>
          </a:prstGeom>
          <a:solidFill>
            <a:srgbClr val="2ECC71"/>
          </a:solidFill>
          <a:ln/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201168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06A4E"/>
                </a:solidFill>
                <a:latin typeface="Aptos"/>
              </a:rPr>
              <a:t>06 •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0625" y="492651"/>
            <a:ext cx="11883149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dirty="0">
                <a:solidFill>
                  <a:srgbClr val="112A23"/>
                </a:solidFill>
                <a:latin typeface="Aptos Display"/>
              </a:rPr>
              <a:t>Payments: Transparent for Residents, Fair for </a:t>
            </a:r>
            <a:r>
              <a:rPr lang="en-IN" sz="4000" b="1" dirty="0">
                <a:solidFill>
                  <a:srgbClr val="112A23"/>
                </a:solidFill>
                <a:latin typeface="Aptos Display"/>
              </a:rPr>
              <a:t>Helper</a:t>
            </a:r>
            <a:r>
              <a:rPr sz="4000" b="1" dirty="0">
                <a:solidFill>
                  <a:srgbClr val="112A23"/>
                </a:solidFill>
                <a:latin typeface="Aptos Display"/>
              </a:rPr>
              <a:t>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606040" y="1965960"/>
            <a:ext cx="777240" cy="0"/>
          </a:xfrm>
          <a:prstGeom prst="line">
            <a:avLst/>
          </a:prstGeom>
          <a:ln w="25400">
            <a:solidFill>
              <a:srgbClr val="D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417320"/>
            <a:ext cx="2011680" cy="114300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8288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112A23"/>
                </a:solidFill>
                <a:latin typeface="Aptos"/>
              </a:rPr>
              <a:t>RESIDENT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29968"/>
            <a:ext cx="18288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Pays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94960" y="1965960"/>
            <a:ext cx="777240" cy="0"/>
          </a:xfrm>
          <a:prstGeom prst="line">
            <a:avLst/>
          </a:prstGeom>
          <a:ln w="25400">
            <a:solidFill>
              <a:srgbClr val="D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74720" y="1417320"/>
            <a:ext cx="2011680" cy="114300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3566160" y="1691640"/>
            <a:ext cx="18288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112A23"/>
                </a:solidFill>
                <a:latin typeface="Aptos"/>
              </a:rPr>
              <a:t>RAZORPAY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029968"/>
            <a:ext cx="18288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Verifies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83879" y="1965960"/>
            <a:ext cx="777241" cy="0"/>
          </a:xfrm>
          <a:prstGeom prst="line">
            <a:avLst/>
          </a:prstGeom>
          <a:ln w="25400">
            <a:solidFill>
              <a:srgbClr val="D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63640" y="1417320"/>
            <a:ext cx="2011680" cy="114300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6355079" y="1691640"/>
            <a:ext cx="18288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112A23"/>
                </a:solidFill>
                <a:latin typeface="Aptos"/>
              </a:rPr>
              <a:t>SATHIFY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79" y="2029968"/>
            <a:ext cx="18288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Records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1417320"/>
            <a:ext cx="2011680" cy="114300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9143999" y="1691640"/>
            <a:ext cx="18288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112A23"/>
                </a:solidFill>
                <a:latin typeface="Aptos"/>
              </a:rPr>
              <a:t>WORKER</a:t>
            </a:r>
            <a:endParaRPr b="1" dirty="0">
              <a:solidFill>
                <a:srgbClr val="112A23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3999" y="2029968"/>
            <a:ext cx="18288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Receives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24612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822960" y="3410712"/>
            <a:ext cx="233172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006A4E"/>
                </a:solidFill>
                <a:latin typeface="Aptos Display"/>
              </a:rPr>
              <a:t>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959352"/>
            <a:ext cx="23317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Platform fee on recurring wages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29000" y="324612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4" name="TextBox 23"/>
          <p:cNvSpPr txBox="1"/>
          <p:nvPr/>
        </p:nvSpPr>
        <p:spPr>
          <a:xfrm>
            <a:off x="3520440" y="3410712"/>
            <a:ext cx="233172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D3A439"/>
                </a:solidFill>
                <a:latin typeface="Aptos Display"/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959352"/>
            <a:ext cx="23317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dirty="0">
                <a:solidFill>
                  <a:srgbClr val="66746C"/>
                </a:solidFill>
                <a:latin typeface="Aptos"/>
              </a:rPr>
              <a:t>Tips reach the </a:t>
            </a:r>
            <a:r>
              <a:rPr lang="en-IN" sz="1100" b="0" dirty="0">
                <a:solidFill>
                  <a:srgbClr val="66746C"/>
                </a:solidFill>
                <a:latin typeface="Aptos"/>
              </a:rPr>
              <a:t>helper</a:t>
            </a:r>
            <a:endParaRPr sz="1100" b="0" dirty="0">
              <a:solidFill>
                <a:srgbClr val="66746C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126480" y="324612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" name="TextBox 26"/>
          <p:cNvSpPr txBox="1"/>
          <p:nvPr/>
        </p:nvSpPr>
        <p:spPr>
          <a:xfrm>
            <a:off x="6217920" y="3410712"/>
            <a:ext cx="233172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3D719D"/>
                </a:solidFill>
                <a:latin typeface="Aptos Display"/>
              </a:rPr>
              <a:t>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959352"/>
            <a:ext cx="23317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One-day booking fee, capped ₹40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23960" y="324612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TextBox 29"/>
          <p:cNvSpPr txBox="1"/>
          <p:nvPr/>
        </p:nvSpPr>
        <p:spPr>
          <a:xfrm>
            <a:off x="8915400" y="3410712"/>
            <a:ext cx="233172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C2564C"/>
                </a:solidFill>
                <a:latin typeface="Aptos Display"/>
              </a:rPr>
              <a:t>₹0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3959352"/>
            <a:ext cx="23317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Platform revenue from tips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983480"/>
            <a:ext cx="1014984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66746C"/>
                </a:solidFill>
                <a:latin typeface="Aptos"/>
              </a:rPr>
              <a:t>Payment state advances only after a cryptographically verified gateway message; webhooks are logged and deduplicated.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8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7315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>
                <a:solidFill>
                  <a:srgbClr val="66746C"/>
                </a:solidFill>
                <a:latin typeface="Aptos"/>
              </a:rPr>
              <a:t>SATHIFY  •  Smart Society Domestic Workforce Management 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92240"/>
            <a:ext cx="59436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IN" sz="1050" b="1" dirty="0">
                <a:solidFill>
                  <a:srgbClr val="006A4E"/>
                </a:solidFill>
                <a:latin typeface="Aptos"/>
              </a:rPr>
              <a:t>13</a:t>
            </a:r>
            <a:endParaRPr sz="1050" b="1" dirty="0">
              <a:solidFill>
                <a:srgbClr val="006A4E"/>
              </a:solidFill>
              <a:latin typeface="Aptos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52195B51-4B56-E1AF-EBD9-DF116EFCD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420" y="5526282"/>
            <a:ext cx="662872" cy="662872"/>
          </a:xfrm>
          <a:prstGeom prst="rect">
            <a:avLst/>
          </a:prstGeom>
          <a:effectLst>
            <a:softEdge rad="101600"/>
          </a:effectLst>
        </p:spPr>
      </p:pic>
      <p:sp>
        <p:nvSpPr>
          <p:cNvPr id="37" name="Shape 4">
            <a:extLst>
              <a:ext uri="{FF2B5EF4-FFF2-40B4-BE49-F238E27FC236}">
                <a16:creationId xmlns:a16="http://schemas.microsoft.com/office/drawing/2014/main" id="{F8418A9A-9C8A-2809-7BE7-B0F55B86B77B}"/>
              </a:ext>
            </a:extLst>
          </p:cNvPr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2291E"/>
          </a:solidFill>
          <a:ln/>
        </p:spPr>
      </p:sp>
      <p:sp>
        <p:nvSpPr>
          <p:cNvPr id="38" name="!!Spine">
            <a:extLst>
              <a:ext uri="{FF2B5EF4-FFF2-40B4-BE49-F238E27FC236}">
                <a16:creationId xmlns:a16="http://schemas.microsoft.com/office/drawing/2014/main" id="{869079E8-F262-0753-5638-E8012AD21059}"/>
              </a:ext>
            </a:extLst>
          </p:cNvPr>
          <p:cNvSpPr/>
          <p:nvPr/>
        </p:nvSpPr>
        <p:spPr>
          <a:xfrm>
            <a:off x="640080" y="6327648"/>
            <a:ext cx="7933667" cy="82296"/>
          </a:xfrm>
          <a:prstGeom prst="rect">
            <a:avLst/>
          </a:prstGeom>
          <a:solidFill>
            <a:srgbClr val="14B8A6"/>
          </a:solidFill>
          <a:ln/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7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201168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07355"/>
                </a:solidFill>
                <a:latin typeface="Aptos"/>
              </a:rPr>
              <a:t>09 •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12064"/>
            <a:ext cx="1078992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14322B"/>
                </a:solidFill>
                <a:latin typeface="Aptos"/>
              </a:rPr>
              <a:t>Business Model &amp; Unit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4509889" cy="192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 dirty="0">
                <a:solidFill>
                  <a:srgbClr val="55645F"/>
                </a:solidFill>
                <a:latin typeface="Aptos"/>
              </a:rPr>
              <a:t>Society-anchored, </a:t>
            </a:r>
            <a:r>
              <a:rPr lang="en-IN" sz="1250" b="0" dirty="0">
                <a:solidFill>
                  <a:srgbClr val="55645F"/>
                </a:solidFill>
                <a:latin typeface="Aptos"/>
              </a:rPr>
              <a:t>helper</a:t>
            </a:r>
            <a:r>
              <a:rPr sz="1250" b="0" dirty="0">
                <a:solidFill>
                  <a:srgbClr val="55645F"/>
                </a:solidFill>
                <a:latin typeface="Aptos"/>
              </a:rPr>
              <a:t>-friendly — the society is the unit of sale.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80160"/>
            <a:ext cx="3200400" cy="1024128"/>
          </a:xfrm>
          <a:prstGeom prst="roundRect">
            <a:avLst/>
          </a:prstGeom>
          <a:solidFill>
            <a:srgbClr val="F7FAF9"/>
          </a:solidFill>
          <a:ln w="12700">
            <a:solidFill>
              <a:srgbClr val="D8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96112" y="1453896"/>
            <a:ext cx="960120" cy="274320"/>
          </a:xfrm>
          <a:prstGeom prst="roundRect">
            <a:avLst/>
          </a:prstGeom>
          <a:solidFill>
            <a:srgbClr val="007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508760"/>
            <a:ext cx="960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47672" y="1435608"/>
            <a:ext cx="1691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4322B"/>
                </a:solidFill>
                <a:latin typeface="Aptos"/>
              </a:rPr>
              <a:t>₹0 / indefinitely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856231"/>
            <a:ext cx="27432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5F6E69"/>
                </a:solidFill>
                <a:latin typeface="Aptos"/>
              </a:rPr>
              <a:t>Full operating product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80160"/>
            <a:ext cx="3200400" cy="1024128"/>
          </a:xfrm>
          <a:prstGeom prst="roundRect">
            <a:avLst/>
          </a:prstGeom>
          <a:solidFill>
            <a:srgbClr val="F7FAF9"/>
          </a:solidFill>
          <a:ln w="12700">
            <a:solidFill>
              <a:srgbClr val="D8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53712" y="1453896"/>
            <a:ext cx="960120" cy="274320"/>
          </a:xfrm>
          <a:prstGeom prst="roundRect">
            <a:avLst/>
          </a:prstGeom>
          <a:solidFill>
            <a:srgbClr val="D3A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1508760"/>
            <a:ext cx="960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STANDARD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05272" y="1435608"/>
            <a:ext cx="1691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4322B"/>
                </a:solidFill>
                <a:latin typeface="Aptos"/>
              </a:rPr>
              <a:t>₹2,500 / month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856231"/>
            <a:ext cx="2200924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 dirty="0">
                <a:solidFill>
                  <a:srgbClr val="5F6E69"/>
                </a:solidFill>
                <a:latin typeface="Aptos"/>
              </a:rPr>
              <a:t>Unlimited </a:t>
            </a:r>
            <a:r>
              <a:rPr lang="en-IN" sz="900" b="0" dirty="0">
                <a:solidFill>
                  <a:srgbClr val="5F6E69"/>
                </a:solidFill>
                <a:latin typeface="Aptos"/>
              </a:rPr>
              <a:t>helper</a:t>
            </a:r>
            <a:r>
              <a:rPr sz="900" b="0" dirty="0">
                <a:solidFill>
                  <a:srgbClr val="5F6E69"/>
                </a:solidFill>
                <a:latin typeface="Aptos"/>
              </a:rPr>
              <a:t>s + reports + SLA escalation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280160"/>
            <a:ext cx="3200400" cy="1024128"/>
          </a:xfrm>
          <a:prstGeom prst="roundRect">
            <a:avLst/>
          </a:prstGeom>
          <a:solidFill>
            <a:srgbClr val="F7FAF9"/>
          </a:solidFill>
          <a:ln w="12700">
            <a:solidFill>
              <a:srgbClr val="D8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11312" y="1453896"/>
            <a:ext cx="960120" cy="274320"/>
          </a:xfrm>
          <a:prstGeom prst="roundRect">
            <a:avLst/>
          </a:prstGeom>
          <a:solidFill>
            <a:srgbClr val="D3A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11312" y="1508760"/>
            <a:ext cx="960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PLUS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1435608"/>
            <a:ext cx="1691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4322B"/>
                </a:solidFill>
                <a:latin typeface="Aptos"/>
              </a:rPr>
              <a:t>₹4,000 /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1856231"/>
            <a:ext cx="27432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5F6E69"/>
                </a:solidFill>
                <a:latin typeface="Aptos"/>
              </a:rPr>
              <a:t>Verification credits + multi-gate + ERP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487168"/>
            <a:ext cx="3657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07355"/>
                </a:solidFill>
                <a:latin typeface="Aptos"/>
              </a:rPr>
              <a:t>Additional monetization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2816352"/>
            <a:ext cx="205740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" y="2935224"/>
            <a:ext cx="1929384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193730"/>
                </a:solidFill>
                <a:latin typeface="Aptos"/>
              </a:rPr>
              <a:t>One-day booking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3163824"/>
            <a:ext cx="1929384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0">
                <a:solidFill>
                  <a:srgbClr val="64706C"/>
                </a:solidFill>
                <a:latin typeface="Aptos"/>
              </a:rPr>
              <a:t>8%, capped ₹40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53512" y="2816352"/>
            <a:ext cx="205740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017520" y="2935224"/>
            <a:ext cx="1929384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193730"/>
                </a:solidFill>
                <a:latin typeface="Aptos"/>
              </a:rPr>
              <a:t>Verification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3163824"/>
            <a:ext cx="1929384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0">
                <a:solidFill>
                  <a:srgbClr val="64706C"/>
                </a:solidFill>
                <a:latin typeface="Aptos"/>
              </a:rPr>
              <a:t>~ ₹250 police / ~ ₹150 skills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21224" y="2816352"/>
            <a:ext cx="205740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285232" y="2935224"/>
            <a:ext cx="1929384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193730"/>
                </a:solidFill>
                <a:latin typeface="Aptos"/>
              </a:rPr>
              <a:t>Placement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85232" y="3163824"/>
            <a:ext cx="1929384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0">
                <a:solidFill>
                  <a:srgbClr val="64706C"/>
                </a:solidFill>
                <a:latin typeface="Aptos"/>
              </a:rPr>
              <a:t>≈₹99 / month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88936" y="2816352"/>
            <a:ext cx="205740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52944" y="2935224"/>
            <a:ext cx="1929384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193730"/>
                </a:solidFill>
                <a:latin typeface="Aptos"/>
              </a:rPr>
              <a:t>Advertising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52944" y="3163824"/>
            <a:ext cx="1929384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0">
                <a:solidFill>
                  <a:srgbClr val="64706C"/>
                </a:solidFill>
                <a:latin typeface="Aptos"/>
              </a:rPr>
              <a:t>Resident-only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56648" y="2816352"/>
            <a:ext cx="205740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820656" y="2935224"/>
            <a:ext cx="1929384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193730"/>
                </a:solidFill>
                <a:latin typeface="Aptos"/>
              </a:rPr>
              <a:t>Tips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0656" y="3163824"/>
            <a:ext cx="1929384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0">
                <a:solidFill>
                  <a:srgbClr val="64706C"/>
                </a:solidFill>
                <a:latin typeface="Aptos"/>
              </a:rPr>
              <a:t>₹0 platform revenue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3584448"/>
            <a:ext cx="64008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50" b="1">
                <a:solidFill>
                  <a:srgbClr val="193730"/>
                </a:solidFill>
                <a:latin typeface="Aptos"/>
              </a:rPr>
              <a:t>Indicative monthly revenue — 200-flat Standard society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3950208"/>
            <a:ext cx="2578608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5800" y="4096512"/>
            <a:ext cx="257860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100" b="1">
                <a:solidFill>
                  <a:srgbClr val="007355"/>
                </a:solidFill>
                <a:latin typeface="Aptos"/>
              </a:rPr>
              <a:t>₹1,500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4389120"/>
            <a:ext cx="2578608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80" b="0">
                <a:solidFill>
                  <a:srgbClr val="5F6E69"/>
                </a:solidFill>
                <a:latin typeface="Aptos"/>
              </a:rPr>
              <a:t>Subscription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502152" y="3950208"/>
            <a:ext cx="2578608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502152" y="4096512"/>
            <a:ext cx="257860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100" b="1">
                <a:solidFill>
                  <a:srgbClr val="D3A12D"/>
                </a:solidFill>
                <a:latin typeface="Aptos"/>
              </a:rPr>
              <a:t>₹1,680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02152" y="4389120"/>
            <a:ext cx="2578608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80" b="0">
                <a:solidFill>
                  <a:srgbClr val="5F6E69"/>
                </a:solidFill>
                <a:latin typeface="Aptos"/>
              </a:rPr>
              <a:t>~60 booking fees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18504" y="3950208"/>
            <a:ext cx="2578608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18504" y="4096512"/>
            <a:ext cx="257860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100" b="1">
                <a:solidFill>
                  <a:srgbClr val="3C73A0"/>
                </a:solidFill>
                <a:latin typeface="Aptos"/>
              </a:rPr>
              <a:t>₹1,000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18504" y="4389120"/>
            <a:ext cx="2578608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80" b="0">
                <a:solidFill>
                  <a:srgbClr val="5F6E69"/>
                </a:solidFill>
                <a:latin typeface="Aptos"/>
              </a:rPr>
              <a:t>~4 verification badges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34856" y="3950208"/>
            <a:ext cx="2578608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134856" y="4096512"/>
            <a:ext cx="257860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100" b="1">
                <a:solidFill>
                  <a:srgbClr val="BE5046"/>
                </a:solidFill>
                <a:latin typeface="Aptos"/>
              </a:rPr>
              <a:t>₹300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34856" y="4389120"/>
            <a:ext cx="2578608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80" b="0">
                <a:solidFill>
                  <a:srgbClr val="5F6E69"/>
                </a:solidFill>
                <a:latin typeface="Aptos"/>
              </a:rPr>
              <a:t>Advertising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" y="4937760"/>
            <a:ext cx="530352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900" b="1">
                <a:solidFill>
                  <a:srgbClr val="007355"/>
                </a:solidFill>
                <a:latin typeface="Aptos"/>
              </a:rPr>
              <a:t>≈ ₹4,480 revenue / society / month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5303520"/>
            <a:ext cx="539496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1">
                <a:solidFill>
                  <a:srgbClr val="64706C"/>
                </a:solidFill>
                <a:latin typeface="Aptos"/>
              </a:rPr>
              <a:t>Indicative infrastructure cost: ≈ ₹600 / month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0" y="4892040"/>
            <a:ext cx="4709160" cy="713232"/>
          </a:xfrm>
          <a:prstGeom prst="roundRect">
            <a:avLst/>
          </a:prstGeom>
          <a:solidFill>
            <a:srgbClr val="14322B"/>
          </a:solidFill>
          <a:ln w="12700">
            <a:solidFill>
              <a:srgbClr val="143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583680" y="5102352"/>
            <a:ext cx="4343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Tips processed: ≈ ₹12,000  •  Platform revenue from tips: ₹0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28800" y="5925312"/>
            <a:ext cx="841248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64706C"/>
                </a:solidFill>
                <a:latin typeface="Aptos"/>
              </a:rPr>
              <a:t>The model monetises durable society value rather than recurring wages.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6510528"/>
            <a:ext cx="7315200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0" b="0">
                <a:solidFill>
                  <a:srgbClr val="64706C"/>
                </a:solidFill>
                <a:latin typeface="Aptos"/>
              </a:rPr>
              <a:t>SATHIFY  •  Smart Society Domestic Workforce Management System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67097" y="6492240"/>
            <a:ext cx="131446" cy="1461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n-IN" sz="950" b="1" dirty="0">
                <a:solidFill>
                  <a:srgbClr val="007355"/>
                </a:solidFill>
                <a:latin typeface="Aptos"/>
              </a:rPr>
              <a:t>14</a:t>
            </a:r>
            <a:endParaRPr sz="950" b="1" dirty="0">
              <a:solidFill>
                <a:srgbClr val="007355"/>
              </a:solidFill>
              <a:latin typeface="Aptos"/>
            </a:endParaRPr>
          </a:p>
        </p:txBody>
      </p:sp>
      <p:sp>
        <p:nvSpPr>
          <p:cNvPr id="58" name="!!Spine">
            <a:extLst>
              <a:ext uri="{FF2B5EF4-FFF2-40B4-BE49-F238E27FC236}">
                <a16:creationId xmlns:a16="http://schemas.microsoft.com/office/drawing/2014/main" id="{0F629A1F-CE03-B22C-02CF-951EB22A28DE}"/>
              </a:ext>
            </a:extLst>
          </p:cNvPr>
          <p:cNvSpPr/>
          <p:nvPr/>
        </p:nvSpPr>
        <p:spPr>
          <a:xfrm>
            <a:off x="487017" y="6254496"/>
            <a:ext cx="10010295" cy="100583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0" name="Shape 4">
            <a:extLst>
              <a:ext uri="{FF2B5EF4-FFF2-40B4-BE49-F238E27FC236}">
                <a16:creationId xmlns:a16="http://schemas.microsoft.com/office/drawing/2014/main" id="{A20FBCFB-7BC5-BF0A-087F-E7E81D650477}"/>
              </a:ext>
            </a:extLst>
          </p:cNvPr>
          <p:cNvSpPr/>
          <p:nvPr/>
        </p:nvSpPr>
        <p:spPr>
          <a:xfrm>
            <a:off x="10497312" y="6254496"/>
            <a:ext cx="978408" cy="100583"/>
          </a:xfrm>
          <a:prstGeom prst="rect">
            <a:avLst/>
          </a:prstGeom>
          <a:solidFill>
            <a:srgbClr val="12291E"/>
          </a:solidFill>
          <a:ln/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A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85800"/>
            <a:ext cx="731520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dirty="0">
                <a:solidFill>
                  <a:srgbClr val="FFFFFF"/>
                </a:solidFill>
                <a:latin typeface="Aptos Display"/>
              </a:rPr>
              <a:t>Roadmap &amp; Closing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247524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D3A439"/>
                </a:solidFill>
                <a:latin typeface="Aptos"/>
              </a:rPr>
              <a:t>What comes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46120" cy="2768664"/>
          </a:xfrm>
          <a:prstGeom prst="roundRect">
            <a:avLst/>
          </a:prstGeom>
          <a:solidFill>
            <a:srgbClr val="18392F"/>
          </a:solidFill>
          <a:ln w="12700">
            <a:solidFill>
              <a:srgbClr val="2B5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" name="Rounded Rectangle 4"/>
          <p:cNvSpPr/>
          <p:nvPr/>
        </p:nvSpPr>
        <p:spPr>
          <a:xfrm>
            <a:off x="960120" y="2267712"/>
            <a:ext cx="914400" cy="347472"/>
          </a:xfrm>
          <a:prstGeom prst="roundRect">
            <a:avLst/>
          </a:prstGeom>
          <a:solidFill>
            <a:srgbClr val="006A4E"/>
          </a:solidFill>
          <a:ln w="12700"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1005840" y="2340864"/>
            <a:ext cx="82296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926080"/>
            <a:ext cx="2788920" cy="1477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1" dirty="0">
                <a:solidFill>
                  <a:srgbClr val="D3E8DE"/>
                </a:solidFill>
                <a:latin typeface="Aptos"/>
              </a:rPr>
              <a:t>Android-first mobile platform
Free-tier deployment
Core trust +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011680"/>
            <a:ext cx="3246120" cy="2768664"/>
          </a:xfrm>
          <a:prstGeom prst="roundRect">
            <a:avLst/>
          </a:prstGeom>
          <a:solidFill>
            <a:srgbClr val="18392F"/>
          </a:solidFill>
          <a:ln w="12700">
            <a:solidFill>
              <a:srgbClr val="2B5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Rounded Rectangle 8"/>
          <p:cNvSpPr/>
          <p:nvPr/>
        </p:nvSpPr>
        <p:spPr>
          <a:xfrm>
            <a:off x="4663440" y="2267712"/>
            <a:ext cx="914400" cy="347472"/>
          </a:xfrm>
          <a:prstGeom prst="roundRect">
            <a:avLst/>
          </a:prstGeom>
          <a:solidFill>
            <a:srgbClr val="D3A439"/>
          </a:solidFill>
          <a:ln w="12700">
            <a:solidFill>
              <a:srgbClr val="D3A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4709159" y="2340864"/>
            <a:ext cx="82296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26080"/>
            <a:ext cx="2788920" cy="1477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1" dirty="0">
                <a:solidFill>
                  <a:srgbClr val="D3E8DE"/>
                </a:solidFill>
                <a:latin typeface="Aptos"/>
              </a:rPr>
              <a:t>Public iOS release
Insurance integration
Portable salary history
Expanded verification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011680"/>
            <a:ext cx="3246120" cy="2768664"/>
          </a:xfrm>
          <a:prstGeom prst="roundRect">
            <a:avLst/>
          </a:prstGeom>
          <a:solidFill>
            <a:srgbClr val="18392F"/>
          </a:solidFill>
          <a:ln w="12700">
            <a:solidFill>
              <a:srgbClr val="2B5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Rounded Rectangle 12"/>
          <p:cNvSpPr/>
          <p:nvPr/>
        </p:nvSpPr>
        <p:spPr>
          <a:xfrm>
            <a:off x="8366760" y="2267712"/>
            <a:ext cx="914400" cy="347472"/>
          </a:xfrm>
          <a:prstGeom prst="roundRect">
            <a:avLst/>
          </a:prstGeom>
          <a:solidFill>
            <a:srgbClr val="D3A439"/>
          </a:solidFill>
          <a:ln w="12700">
            <a:solidFill>
              <a:srgbClr val="D3A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8412480" y="2340864"/>
            <a:ext cx="82296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LATER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4362" y="2778861"/>
            <a:ext cx="3017518" cy="17543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1" dirty="0">
                <a:solidFill>
                  <a:srgbClr val="D3E8DE"/>
                </a:solidFill>
                <a:latin typeface="Aptos"/>
              </a:rPr>
              <a:t>Smart-gate hardware
Learned recommendations
AI scheduling / prediction
Self-serve subscriptions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094982"/>
            <a:ext cx="1073031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dirty="0" err="1">
                <a:solidFill>
                  <a:srgbClr val="FFFFFF"/>
                </a:solidFill>
                <a:latin typeface="Aptos Display"/>
              </a:rPr>
              <a:t>Sathify</a:t>
            </a:r>
            <a:r>
              <a:rPr sz="3200" b="1" dirty="0">
                <a:solidFill>
                  <a:srgbClr val="FFFFFF"/>
                </a:solidFill>
                <a:latin typeface="Aptos Display"/>
              </a:rPr>
              <a:t> turns an informal, high-trust service into an accountable digital system.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8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7315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46C"/>
                </a:solidFill>
                <a:latin typeface="Aptos"/>
              </a:rPr>
              <a:t>SATHIFY  •  Smart Society Domestic Workforce Management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35640" y="6492240"/>
            <a:ext cx="59436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IN" sz="1050" b="1" dirty="0">
                <a:solidFill>
                  <a:srgbClr val="006A4E"/>
                </a:solidFill>
                <a:latin typeface="Aptos"/>
              </a:rPr>
              <a:t>15</a:t>
            </a:r>
            <a:endParaRPr sz="1050" b="1" dirty="0">
              <a:solidFill>
                <a:srgbClr val="006A4E"/>
              </a:solidFill>
              <a:latin typeface="Apto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BB344BC-3FF3-4CB5-2B5B-5D77EEF28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420" y="5526282"/>
            <a:ext cx="662872" cy="662872"/>
          </a:xfrm>
          <a:prstGeom prst="rect">
            <a:avLst/>
          </a:prstGeom>
          <a:effectLst>
            <a:softEdge rad="101600"/>
          </a:effectLst>
        </p:spPr>
      </p:pic>
      <p:sp>
        <p:nvSpPr>
          <p:cNvPr id="22" name="!!Spine">
            <a:extLst>
              <a:ext uri="{FF2B5EF4-FFF2-40B4-BE49-F238E27FC236}">
                <a16:creationId xmlns:a16="http://schemas.microsoft.com/office/drawing/2014/main" id="{8B4AD334-2DEF-3A21-2C59-2EF810F34812}"/>
              </a:ext>
            </a:extLst>
          </p:cNvPr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A3E635"/>
          </a:solidFill>
          <a:ln/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63403" y="3420308"/>
            <a:ext cx="616848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dirty="0">
                <a:solidFill>
                  <a:srgbClr val="01390A"/>
                </a:solidFill>
                <a:latin typeface="Aptos"/>
              </a:rPr>
              <a:t>SATHIFY  •  Smart Society Domestic Workforce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65535" y="3758862"/>
            <a:ext cx="448379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 dirty="0">
                <a:solidFill>
                  <a:srgbClr val="01390A"/>
                </a:solidFill>
                <a:latin typeface="Aptos"/>
              </a:rPr>
              <a:t>Building safer, smarter and more accountable societies</a:t>
            </a:r>
            <a:r>
              <a:rPr sz="1400" i="1" dirty="0">
                <a:solidFill>
                  <a:srgbClr val="646E78"/>
                </a:solidFill>
                <a:latin typeface="Aptos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918C6D-3269-321C-C59B-851744462F53}"/>
              </a:ext>
            </a:extLst>
          </p:cNvPr>
          <p:cNvSpPr txBox="1"/>
          <p:nvPr/>
        </p:nvSpPr>
        <p:spPr>
          <a:xfrm>
            <a:off x="1683937" y="2382895"/>
            <a:ext cx="8803946" cy="101566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IN" sz="6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1390A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ptos Display" panose="020B0004020202020204" pitchFamily="34" charset="0"/>
              </a:rPr>
              <a:t>Thank</a:t>
            </a:r>
            <a:r>
              <a:rPr lang="en-I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1390A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ptos Display" panose="020B0004020202020204" pitchFamily="34" charset="0"/>
              </a:rPr>
              <a:t> You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FE02EB-AE4C-7353-CDDB-360A0DF58F5D}"/>
              </a:ext>
            </a:extLst>
          </p:cNvPr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007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091965-CE9A-29FD-A3CC-648093AC0D1E}"/>
              </a:ext>
            </a:extLst>
          </p:cNvPr>
          <p:cNvSpPr/>
          <p:nvPr/>
        </p:nvSpPr>
        <p:spPr>
          <a:xfrm>
            <a:off x="-10090" y="0"/>
            <a:ext cx="12192000" cy="73152"/>
          </a:xfrm>
          <a:prstGeom prst="rect">
            <a:avLst/>
          </a:prstGeom>
          <a:solidFill>
            <a:srgbClr val="007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302</TotalTime>
  <Words>1467</Words>
  <Application>Microsoft Office PowerPoint</Application>
  <PresentationFormat>Widescreen</PresentationFormat>
  <Paragraphs>302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Sathify — Professional Business &amp; Product Presentation</dc:title>
  <dc:subject>Sathify SRS-based professional business presentation</dc:subject>
  <dc:creator>Sathify Project Team</dc:creator>
  <cp:keywords/>
  <dc:description>generated using python-pptx</dc:description>
  <cp:lastModifiedBy>dpradnya5759@outlook.com</cp:lastModifiedBy>
  <cp:revision>14</cp:revision>
  <dcterms:created xsi:type="dcterms:W3CDTF">2013-01-27T09:14:16Z</dcterms:created>
  <dcterms:modified xsi:type="dcterms:W3CDTF">2026-08-24T12:32:13Z</dcterms:modified>
  <cp:category/>
</cp:coreProperties>
</file>