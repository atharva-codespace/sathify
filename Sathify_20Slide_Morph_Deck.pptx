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22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9659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6E7B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REQUIREMENTS OVERVIEW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777240" y="2331720"/>
            <a:ext cx="7680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Sathify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822960" y="3611880"/>
            <a:ext cx="6949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700" dirty="0">
                <a:solidFill>
                  <a:srgbClr val="A9B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 domestic-workforce management for Indian residential societies.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822960" y="580644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2B70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FLUTTER + DJANGO REST FRAMEWORK   ·   BUILT BY A 4-PERSON TEAM IN 14 DAYS</a:t>
            </a:r>
            <a:endParaRPr lang="en-US" sz="1100" dirty="0"/>
          </a:p>
        </p:txBody>
      </p:sp>
      <p:sp>
        <p:nvSpPr>
          <p:cNvPr id="6" name="!!Hero_Title"/>
          <p:cNvSpPr/>
          <p:nvPr/>
        </p:nvSpPr>
        <p:spPr>
          <a:xfrm>
            <a:off x="8686800" y="1828800"/>
            <a:ext cx="1920240" cy="3200400"/>
          </a:xfrm>
          <a:prstGeom prst="roundRect">
            <a:avLst>
              <a:gd name="adj" fmla="val 13333"/>
            </a:avLst>
          </a:prstGeom>
          <a:ln w="31750">
            <a:solidFill>
              <a:srgbClr val="FFFFF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842248" y="2057400"/>
            <a:ext cx="1609344" cy="2514600"/>
          </a:xfrm>
          <a:prstGeom prst="roundRect">
            <a:avLst>
              <a:gd name="adj" fmla="val 4545"/>
            </a:avLst>
          </a:prstGeom>
          <a:ln w="19050">
            <a:solidFill>
              <a:srgbClr val="8792AD"/>
            </a:solidFill>
            <a:prstDash val="dash"/>
          </a:ln>
        </p:spPr>
      </p:sp>
      <p:sp>
        <p:nvSpPr>
          <p:cNvPr id="8" name="Shape 6"/>
          <p:cNvSpPr/>
          <p:nvPr/>
        </p:nvSpPr>
        <p:spPr>
          <a:xfrm>
            <a:off x="9564624" y="4663440"/>
            <a:ext cx="164592" cy="164592"/>
          </a:xfrm>
          <a:prstGeom prst="ellipse">
            <a:avLst/>
          </a:prstGeom>
          <a:ln w="25400">
            <a:solidFill>
              <a:srgbClr val="FFFFF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0080" y="6327648"/>
            <a:ext cx="10908792" cy="82296"/>
          </a:xfrm>
          <a:prstGeom prst="rect">
            <a:avLst/>
          </a:prstGeom>
          <a:solidFill>
            <a:srgbClr val="1A2140"/>
          </a:solidFill>
          <a:ln/>
        </p:spPr>
      </p:sp>
      <p:sp>
        <p:nvSpPr>
          <p:cNvPr id="10" name="!!Spine"/>
          <p:cNvSpPr/>
          <p:nvPr/>
        </p:nvSpPr>
        <p:spPr>
          <a:xfrm>
            <a:off x="640080" y="6327648"/>
            <a:ext cx="545440" cy="82296"/>
          </a:xfrm>
          <a:prstGeom prst="rect">
            <a:avLst/>
          </a:prstGeom>
          <a:solidFill>
            <a:srgbClr val="5B6584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22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6E7B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9079992" y="384048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spc="200" kern="0" dirty="0">
                <a:solidFill>
                  <a:srgbClr val="F2B70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20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1051560"/>
            <a:ext cx="6492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Trust, on a Sheet of Paper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640080" y="2514600"/>
            <a:ext cx="5989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450" dirty="0">
                <a:solidFill>
                  <a:srgbClr val="A9B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Hiring runs on word of mouth. Attendance lives in a paper register. Payment is cash-only. Nothing about a worker's record follows them between homes.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640080" y="6327648"/>
            <a:ext cx="10908792" cy="82296"/>
          </a:xfrm>
          <a:prstGeom prst="rect">
            <a:avLst/>
          </a:prstGeom>
          <a:solidFill>
            <a:srgbClr val="1A2140"/>
          </a:solidFill>
          <a:ln/>
        </p:spPr>
      </p:sp>
      <p:sp>
        <p:nvSpPr>
          <p:cNvPr id="7" name="!!Spine"/>
          <p:cNvSpPr/>
          <p:nvPr/>
        </p:nvSpPr>
        <p:spPr>
          <a:xfrm>
            <a:off x="640080" y="6327648"/>
            <a:ext cx="1090879" cy="82296"/>
          </a:xfrm>
          <a:prstGeom prst="rect">
            <a:avLst/>
          </a:prstGeom>
          <a:solidFill>
            <a:srgbClr val="5B6584"/>
          </a:solidFill>
          <a:ln/>
        </p:spPr>
      </p:sp>
      <p:sp>
        <p:nvSpPr>
          <p:cNvPr id="8" name="!!Hero_Problem"/>
          <p:cNvSpPr/>
          <p:nvPr/>
        </p:nvSpPr>
        <p:spPr>
          <a:xfrm rot="-480000">
            <a:off x="8549640" y="2331720"/>
            <a:ext cx="1828800" cy="2377440"/>
          </a:xfrm>
          <a:prstGeom prst="roundRect">
            <a:avLst>
              <a:gd name="adj" fmla="val 2500"/>
            </a:avLst>
          </a:prstGeom>
          <a:ln w="31750">
            <a:solidFill>
              <a:srgbClr val="8792AD"/>
            </a:solidFill>
            <a:prstDash val="dash"/>
          </a:ln>
          <a:effectLst>
            <a:outerShdw sx="100000" sy="100000" kx="0" ky="0" algn="bl" rotWithShape="0" blurRad="177800" dist="76200" dir="5400000">
              <a:srgbClr val="000000">
                <a:alpha val="4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8275320" y="493776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50" kern="0" dirty="0">
                <a:solidFill>
                  <a:srgbClr val="8792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PAPER REGISTER</a:t>
            </a:r>
            <a:endParaRPr lang="en-US" sz="1050" dirty="0"/>
          </a:p>
        </p:txBody>
      </p:sp>
    </p:spTree>
  </p:cSld>
  <p:clrMapOvr>
    <a:masterClrMapping/>
  </p:clrMapOvr>
  <p:transition xmlns:p14="http://schemas.microsoft.com/office/powerpoint/2010/main" p14:dur="700" spd="slow">
    <p159:morph xmlns:p159="http://schemas.microsoft.com/office/powerpoint/2015/09/main" option="byObject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22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6E7B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GAP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9079992" y="384048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spc="200" kern="0" dirty="0">
                <a:solidFill>
                  <a:srgbClr val="F2B70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20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1051560"/>
            <a:ext cx="6492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Record, No Recourse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640080" y="2514600"/>
            <a:ext cx="5989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450" dirty="0">
                <a:solidFill>
                  <a:srgbClr val="A9B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verification before a stranger enters a home. No dispute process either way. No way to know if a worker — or a household — can be trusted.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640080" y="6327648"/>
            <a:ext cx="10908792" cy="82296"/>
          </a:xfrm>
          <a:prstGeom prst="rect">
            <a:avLst/>
          </a:prstGeom>
          <a:solidFill>
            <a:srgbClr val="1A2140"/>
          </a:solidFill>
          <a:ln/>
        </p:spPr>
      </p:sp>
      <p:sp>
        <p:nvSpPr>
          <p:cNvPr id="7" name="!!Spine"/>
          <p:cNvSpPr/>
          <p:nvPr/>
        </p:nvSpPr>
        <p:spPr>
          <a:xfrm>
            <a:off x="640080" y="6327648"/>
            <a:ext cx="1636319" cy="82296"/>
          </a:xfrm>
          <a:prstGeom prst="rect">
            <a:avLst/>
          </a:prstGeom>
          <a:solidFill>
            <a:srgbClr val="5B6584"/>
          </a:solidFill>
          <a:ln/>
        </p:spPr>
      </p:sp>
      <p:sp>
        <p:nvSpPr>
          <p:cNvPr id="8" name="!!Hero_Problem"/>
          <p:cNvSpPr/>
          <p:nvPr/>
        </p:nvSpPr>
        <p:spPr>
          <a:xfrm rot="720000">
            <a:off x="8805672" y="2651760"/>
            <a:ext cx="1316736" cy="1737360"/>
          </a:xfrm>
          <a:prstGeom prst="roundRect">
            <a:avLst>
              <a:gd name="adj" fmla="val 3472"/>
            </a:avLst>
          </a:prstGeom>
          <a:solidFill>
            <a:srgbClr val="5B6584">
              <a:alpha val="12000"/>
            </a:srgbClr>
          </a:solidFill>
          <a:ln w="25400">
            <a:solidFill>
              <a:srgbClr val="8792AD"/>
            </a:solidFill>
            <a:prstDash val="dash"/>
          </a:ln>
          <a:effectLst>
            <a:outerShdw sx="100000" sy="100000" kx="0" ky="0" algn="bl" rotWithShape="0" blurRad="177800" dist="76200" dir="5400000">
              <a:srgbClr val="000000">
                <a:alpha val="4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8275320" y="493776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50" kern="0" dirty="0">
                <a:solidFill>
                  <a:srgbClr val="8792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VANISHING RECORD</a:t>
            </a:r>
            <a:endParaRPr lang="en-US" sz="1050" dirty="0"/>
          </a:p>
        </p:txBody>
      </p:sp>
    </p:spTree>
  </p:cSld>
  <p:clrMapOvr>
    <a:masterClrMapping/>
  </p:clrMapOvr>
  <p:transition xmlns:p14="http://schemas.microsoft.com/office/powerpoint/2010/main" p14:dur="700" spd="slow">
    <p159:morph xmlns:p159="http://schemas.microsoft.com/office/powerpoint/2015/09/main" option="byObject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22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6E7B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SOLUTION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9079992" y="384048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spc="200" kern="0" dirty="0">
                <a:solidFill>
                  <a:srgbClr val="F2B70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20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1051560"/>
            <a:ext cx="6492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App. Verified Both Ways.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640080" y="2514600"/>
            <a:ext cx="5989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450" dirty="0">
                <a:solidFill>
                  <a:srgbClr val="A9B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Sathify replaces the paper trail with government-ID KYC, an auditable gate log, two-way ratings, and digital payments — free for every worker, always.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640080" y="6327648"/>
            <a:ext cx="10908792" cy="82296"/>
          </a:xfrm>
          <a:prstGeom prst="rect">
            <a:avLst/>
          </a:prstGeom>
          <a:solidFill>
            <a:srgbClr val="1A2140"/>
          </a:solidFill>
          <a:ln/>
        </p:spPr>
      </p:sp>
      <p:sp>
        <p:nvSpPr>
          <p:cNvPr id="7" name="!!Spine"/>
          <p:cNvSpPr/>
          <p:nvPr/>
        </p:nvSpPr>
        <p:spPr>
          <a:xfrm>
            <a:off x="640080" y="6327648"/>
            <a:ext cx="2181758" cy="82296"/>
          </a:xfrm>
          <a:prstGeom prst="rect">
            <a:avLst/>
          </a:prstGeom>
          <a:solidFill>
            <a:srgbClr val="F2B705"/>
          </a:solidFill>
          <a:ln/>
        </p:spPr>
      </p:sp>
      <p:sp>
        <p:nvSpPr>
          <p:cNvPr id="8" name="!!Hero_Problem"/>
          <p:cNvSpPr/>
          <p:nvPr/>
        </p:nvSpPr>
        <p:spPr>
          <a:xfrm>
            <a:off x="8503920" y="2560320"/>
            <a:ext cx="1920240" cy="1920240"/>
          </a:xfrm>
          <a:prstGeom prst="roundRect">
            <a:avLst>
              <a:gd name="adj" fmla="val 15238"/>
            </a:avLst>
          </a:prstGeom>
          <a:solidFill>
            <a:srgbClr val="F2B705"/>
          </a:solidFill>
          <a:ln/>
          <a:effectLst>
            <a:outerShdw sx="100000" sy="100000" kx="0" ky="0" algn="bl" rotWithShape="0" blurRad="177800" dist="76200" dir="5400000">
              <a:srgbClr val="000000">
                <a:alpha val="4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 rot="2700000">
            <a:off x="9171432" y="3502152"/>
            <a:ext cx="310896" cy="146304"/>
          </a:xfrm>
          <a:prstGeom prst="rect">
            <a:avLst/>
          </a:prstGeom>
          <a:solidFill>
            <a:srgbClr val="0D1225"/>
          </a:solidFill>
          <a:ln/>
        </p:spPr>
      </p:sp>
      <p:sp>
        <p:nvSpPr>
          <p:cNvPr id="10" name="Shape 8"/>
          <p:cNvSpPr/>
          <p:nvPr/>
        </p:nvSpPr>
        <p:spPr>
          <a:xfrm rot="-2700000">
            <a:off x="9409176" y="3227832"/>
            <a:ext cx="146304" cy="566928"/>
          </a:xfrm>
          <a:prstGeom prst="rect">
            <a:avLst/>
          </a:prstGeom>
          <a:solidFill>
            <a:srgbClr val="0D1225"/>
          </a:solidFill>
          <a:ln/>
        </p:spPr>
      </p:sp>
      <p:sp>
        <p:nvSpPr>
          <p:cNvPr id="11" name="Text 9"/>
          <p:cNvSpPr/>
          <p:nvPr/>
        </p:nvSpPr>
        <p:spPr>
          <a:xfrm>
            <a:off x="8275320" y="475488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F2B70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SATHIFY</a:t>
            </a:r>
            <a:endParaRPr lang="en-US" sz="1100" dirty="0"/>
          </a:p>
        </p:txBody>
      </p:sp>
    </p:spTree>
  </p:cSld>
  <p:clrMapOvr>
    <a:masterClrMapping/>
  </p:clrMapOvr>
  <p:transition xmlns:p14="http://schemas.microsoft.com/office/powerpoint/2010/main" p14:dur="700" spd="slow">
    <p159:morph xmlns:p159="http://schemas.microsoft.com/office/powerpoint/2015/09/main" option="byObject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22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6E7B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9079992" y="384048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spc="200" kern="0" dirty="0">
                <a:solidFill>
                  <a:srgbClr val="F2B70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20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1051560"/>
            <a:ext cx="64922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Sathify Sets</a:t>
            </a:r>
            <a:endParaRPr lang="en-US" sz="3400" dirty="0"/>
          </a:p>
          <a:p>
            <a:pPr algn="l" indent="0" marL="0">
              <a:lnSpc>
                <a:spcPct val="103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 to Do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640080" y="2880360"/>
            <a:ext cx="59893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450" dirty="0">
                <a:solidFill>
                  <a:srgbClr val="A9B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every worker before they're hired.</a:t>
            </a:r>
            <a:endParaRPr lang="en-US" sz="1450" dirty="0"/>
          </a:p>
          <a:p>
            <a:pPr algn="l" indent="0" marL="0">
              <a:lnSpc>
                <a:spcPct val="128000"/>
              </a:lnSpc>
              <a:buNone/>
            </a:pPr>
            <a:r>
              <a:rPr lang="en-US" sz="1450" dirty="0">
                <a:solidFill>
                  <a:srgbClr val="A9B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 every gate entry, offline or not.</a:t>
            </a:r>
            <a:endParaRPr lang="en-US" sz="1450" dirty="0"/>
          </a:p>
          <a:p>
            <a:pPr algn="l" indent="0" marL="0">
              <a:lnSpc>
                <a:spcPct val="128000"/>
              </a:lnSpc>
              <a:buNone/>
            </a:pPr>
            <a:r>
              <a:rPr lang="en-US" sz="1450" dirty="0">
                <a:solidFill>
                  <a:srgbClr val="A9B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 trust explainable, never a black box.</a:t>
            </a:r>
            <a:endParaRPr lang="en-US" sz="1450" dirty="0"/>
          </a:p>
          <a:p>
            <a:pPr algn="l" indent="0" marL="0">
              <a:lnSpc>
                <a:spcPct val="128000"/>
              </a:lnSpc>
              <a:buNone/>
            </a:pPr>
            <a:r>
              <a:rPr lang="en-US" sz="1450" dirty="0">
                <a:solidFill>
                  <a:srgbClr val="A9B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Charge the side that can afford it — never the worker.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640080" y="6327648"/>
            <a:ext cx="10908792" cy="82296"/>
          </a:xfrm>
          <a:prstGeom prst="rect">
            <a:avLst/>
          </a:prstGeom>
          <a:solidFill>
            <a:srgbClr val="1A2140"/>
          </a:solidFill>
          <a:ln/>
        </p:spPr>
      </p:sp>
      <p:sp>
        <p:nvSpPr>
          <p:cNvPr id="7" name="!!Spine"/>
          <p:cNvSpPr/>
          <p:nvPr/>
        </p:nvSpPr>
        <p:spPr>
          <a:xfrm>
            <a:off x="640080" y="6327648"/>
            <a:ext cx="2727198" cy="82296"/>
          </a:xfrm>
          <a:prstGeom prst="rect">
            <a:avLst/>
          </a:prstGeom>
          <a:solidFill>
            <a:srgbClr val="13B8A0"/>
          </a:solidFill>
          <a:ln/>
        </p:spPr>
      </p:sp>
      <p:sp>
        <p:nvSpPr>
          <p:cNvPr id="8" name="!!Hero_Roles"/>
          <p:cNvSpPr/>
          <p:nvPr/>
        </p:nvSpPr>
        <p:spPr>
          <a:xfrm>
            <a:off x="8549640" y="2606040"/>
            <a:ext cx="1828800" cy="1828800"/>
          </a:xfrm>
          <a:prstGeom prst="ellipse">
            <a:avLst/>
          </a:prstGeom>
          <a:ln w="38100">
            <a:solidFill>
              <a:srgbClr val="13B8A0"/>
            </a:solidFill>
            <a:prstDash val="solid"/>
          </a:ln>
          <a:effectLst>
            <a:outerShdw sx="100000" sy="100000" kx="0" ky="0" algn="bl" rotWithShape="0" blurRad="177800" dist="76200" dir="5400000">
              <a:srgbClr val="000000">
                <a:alpha val="4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9052560" y="3108960"/>
            <a:ext cx="822960" cy="822960"/>
          </a:xfrm>
          <a:prstGeom prst="ellipse">
            <a:avLst/>
          </a:prstGeom>
          <a:solidFill>
            <a:srgbClr val="13B8A0">
              <a:alpha val="75000"/>
            </a:srgbClr>
          </a:solidFill>
          <a:ln/>
        </p:spPr>
      </p:sp>
    </p:spTree>
  </p:cSld>
  <p:clrMapOvr>
    <a:masterClrMapping/>
  </p:clrMapOvr>
  <p:transition xmlns:p14="http://schemas.microsoft.com/office/powerpoint/2010/main" p14:dur="700" spd="slow">
    <p159:morph xmlns:p159="http://schemas.microsoft.com/office/powerpoint/2015/09/main" option="byObject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22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6E7B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USES IT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9079992" y="384048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spc="200" kern="0" dirty="0">
                <a:solidFill>
                  <a:srgbClr val="F2B70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20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1051560"/>
            <a:ext cx="6492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Roles, One App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640080" y="2514600"/>
            <a:ext cx="5989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450" dirty="0">
                <a:solidFill>
                  <a:srgbClr val="A9B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authentication record, one mutually-exclusive role field — login is by phone number, since that's the identifier every user already has.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640080" y="6327648"/>
            <a:ext cx="10908792" cy="82296"/>
          </a:xfrm>
          <a:prstGeom prst="rect">
            <a:avLst/>
          </a:prstGeom>
          <a:solidFill>
            <a:srgbClr val="1A2140"/>
          </a:solidFill>
          <a:ln/>
        </p:spPr>
      </p:sp>
      <p:sp>
        <p:nvSpPr>
          <p:cNvPr id="7" name="!!Spine"/>
          <p:cNvSpPr/>
          <p:nvPr/>
        </p:nvSpPr>
        <p:spPr>
          <a:xfrm>
            <a:off x="640080" y="6327648"/>
            <a:ext cx="3272638" cy="82296"/>
          </a:xfrm>
          <a:prstGeom prst="rect">
            <a:avLst/>
          </a:prstGeom>
          <a:solidFill>
            <a:srgbClr val="13B8A0"/>
          </a:solidFill>
          <a:ln/>
        </p:spPr>
      </p:sp>
      <p:sp>
        <p:nvSpPr>
          <p:cNvPr id="8" name="!!Hero_Roles"/>
          <p:cNvSpPr/>
          <p:nvPr/>
        </p:nvSpPr>
        <p:spPr>
          <a:xfrm>
            <a:off x="10561320" y="868680"/>
            <a:ext cx="777240" cy="777240"/>
          </a:xfrm>
          <a:prstGeom prst="ellipse">
            <a:avLst/>
          </a:prstGeom>
          <a:ln w="31750">
            <a:solidFill>
              <a:srgbClr val="13B8A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762488" y="1069848"/>
            <a:ext cx="374904" cy="374904"/>
          </a:xfrm>
          <a:prstGeom prst="ellipse">
            <a:avLst/>
          </a:prstGeom>
          <a:solidFill>
            <a:srgbClr val="13B8A0">
              <a:alpha val="75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640080" y="4160520"/>
            <a:ext cx="2514600" cy="1828800"/>
          </a:xfrm>
          <a:prstGeom prst="roundRect">
            <a:avLst>
              <a:gd name="adj" fmla="val 6000"/>
            </a:avLst>
          </a:prstGeom>
          <a:solidFill>
            <a:srgbClr val="1A2140"/>
          </a:solidFill>
          <a:ln/>
        </p:spPr>
      </p:sp>
      <p:sp>
        <p:nvSpPr>
          <p:cNvPr id="11" name="Shape 9"/>
          <p:cNvSpPr/>
          <p:nvPr/>
        </p:nvSpPr>
        <p:spPr>
          <a:xfrm>
            <a:off x="1513332" y="4343400"/>
            <a:ext cx="768096" cy="768096"/>
          </a:xfrm>
          <a:prstGeom prst="ellipse">
            <a:avLst/>
          </a:prstGeom>
          <a:solidFill>
            <a:srgbClr val="3B5BDB"/>
          </a:solidFill>
          <a:ln/>
        </p:spPr>
      </p:sp>
      <p:sp>
        <p:nvSpPr>
          <p:cNvPr id="12" name="Shape 10"/>
          <p:cNvSpPr/>
          <p:nvPr/>
        </p:nvSpPr>
        <p:spPr>
          <a:xfrm>
            <a:off x="1655978" y="4475988"/>
            <a:ext cx="482803" cy="211226"/>
          </a:xfrm>
          <a:prstGeom prst="triangle">
            <a:avLst/>
          </a:prstGeom>
          <a:solidFill>
            <a:srgbClr val="FFFFFF"/>
          </a:solidFill>
          <a:ln/>
        </p:spPr>
      </p:sp>
      <p:sp>
        <p:nvSpPr>
          <p:cNvPr id="13" name="Shape 11"/>
          <p:cNvSpPr/>
          <p:nvPr/>
        </p:nvSpPr>
        <p:spPr>
          <a:xfrm>
            <a:off x="1736446" y="4667098"/>
            <a:ext cx="321869" cy="21122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4" name="Text 12"/>
          <p:cNvSpPr/>
          <p:nvPr/>
        </p:nvSpPr>
        <p:spPr>
          <a:xfrm>
            <a:off x="749808" y="5212080"/>
            <a:ext cx="22951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Resident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749808" y="5577840"/>
            <a:ext cx="22951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A9B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Discovers, hires, pays, rates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3410712" y="4160520"/>
            <a:ext cx="2514600" cy="1828800"/>
          </a:xfrm>
          <a:prstGeom prst="roundRect">
            <a:avLst>
              <a:gd name="adj" fmla="val 6000"/>
            </a:avLst>
          </a:prstGeom>
          <a:solidFill>
            <a:srgbClr val="1A2140"/>
          </a:solidFill>
          <a:ln/>
        </p:spPr>
      </p:sp>
      <p:sp>
        <p:nvSpPr>
          <p:cNvPr id="17" name="Shape 15"/>
          <p:cNvSpPr/>
          <p:nvPr/>
        </p:nvSpPr>
        <p:spPr>
          <a:xfrm>
            <a:off x="4283964" y="4343400"/>
            <a:ext cx="768096" cy="768096"/>
          </a:xfrm>
          <a:prstGeom prst="ellipse">
            <a:avLst/>
          </a:prstGeom>
          <a:solidFill>
            <a:srgbClr val="13B8A0"/>
          </a:solidFill>
          <a:ln/>
        </p:spPr>
      </p:sp>
      <p:sp>
        <p:nvSpPr>
          <p:cNvPr id="18" name="Shape 16"/>
          <p:cNvSpPr/>
          <p:nvPr/>
        </p:nvSpPr>
        <p:spPr>
          <a:xfrm>
            <a:off x="4577486" y="4475988"/>
            <a:ext cx="181051" cy="181051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9" name="Shape 17"/>
          <p:cNvSpPr/>
          <p:nvPr/>
        </p:nvSpPr>
        <p:spPr>
          <a:xfrm flipV="1">
            <a:off x="4497019" y="4687214"/>
            <a:ext cx="341986" cy="231343"/>
          </a:xfrm>
          <a:prstGeom prst="trapezoid">
            <a:avLst/>
          </a:prstGeom>
          <a:solidFill>
            <a:srgbClr val="FFFFFF"/>
          </a:solidFill>
          <a:ln/>
        </p:spPr>
      </p:sp>
      <p:sp>
        <p:nvSpPr>
          <p:cNvPr id="20" name="Text 18"/>
          <p:cNvSpPr/>
          <p:nvPr/>
        </p:nvSpPr>
        <p:spPr>
          <a:xfrm>
            <a:off x="3520440" y="5212080"/>
            <a:ext cx="22951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Domestic Worker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3520440" y="5577840"/>
            <a:ext cx="22951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A9B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Registers, schedules, earns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6181344" y="4160520"/>
            <a:ext cx="2514600" cy="1828800"/>
          </a:xfrm>
          <a:prstGeom prst="roundRect">
            <a:avLst>
              <a:gd name="adj" fmla="val 6000"/>
            </a:avLst>
          </a:prstGeom>
          <a:solidFill>
            <a:srgbClr val="1A2140"/>
          </a:solidFill>
          <a:ln/>
        </p:spPr>
      </p:sp>
      <p:sp>
        <p:nvSpPr>
          <p:cNvPr id="23" name="Shape 21"/>
          <p:cNvSpPr/>
          <p:nvPr/>
        </p:nvSpPr>
        <p:spPr>
          <a:xfrm>
            <a:off x="7054596" y="4343400"/>
            <a:ext cx="768096" cy="768096"/>
          </a:xfrm>
          <a:prstGeom prst="ellipse">
            <a:avLst/>
          </a:prstGeom>
          <a:solidFill>
            <a:srgbClr val="3B5BDB"/>
          </a:solidFill>
          <a:ln/>
        </p:spPr>
      </p:sp>
      <p:sp>
        <p:nvSpPr>
          <p:cNvPr id="24" name="Shape 22"/>
          <p:cNvSpPr/>
          <p:nvPr/>
        </p:nvSpPr>
        <p:spPr>
          <a:xfrm>
            <a:off x="7348118" y="4475988"/>
            <a:ext cx="181051" cy="181051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25" name="Shape 23"/>
          <p:cNvSpPr/>
          <p:nvPr/>
        </p:nvSpPr>
        <p:spPr>
          <a:xfrm flipV="1">
            <a:off x="7267651" y="4687214"/>
            <a:ext cx="341986" cy="231343"/>
          </a:xfrm>
          <a:prstGeom prst="trapezoid">
            <a:avLst/>
          </a:prstGeom>
          <a:solidFill>
            <a:srgbClr val="FFFFFF"/>
          </a:solidFill>
          <a:ln/>
        </p:spPr>
      </p:sp>
      <p:sp>
        <p:nvSpPr>
          <p:cNvPr id="26" name="Text 24"/>
          <p:cNvSpPr/>
          <p:nvPr/>
        </p:nvSpPr>
        <p:spPr>
          <a:xfrm>
            <a:off x="6291072" y="5212080"/>
            <a:ext cx="22951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Guard</a:t>
            </a:r>
            <a:endParaRPr lang="en-US" sz="1350" dirty="0"/>
          </a:p>
        </p:txBody>
      </p:sp>
      <p:sp>
        <p:nvSpPr>
          <p:cNvPr id="27" name="Text 25"/>
          <p:cNvSpPr/>
          <p:nvPr/>
        </p:nvSpPr>
        <p:spPr>
          <a:xfrm>
            <a:off x="6291072" y="5577840"/>
            <a:ext cx="22951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A9B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Verifies identity at the gate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8951976" y="4160520"/>
            <a:ext cx="2514600" cy="1828800"/>
          </a:xfrm>
          <a:prstGeom prst="roundRect">
            <a:avLst>
              <a:gd name="adj" fmla="val 6000"/>
            </a:avLst>
          </a:prstGeom>
          <a:solidFill>
            <a:srgbClr val="1A2140"/>
          </a:solidFill>
          <a:ln/>
        </p:spPr>
      </p:sp>
      <p:sp>
        <p:nvSpPr>
          <p:cNvPr id="29" name="Shape 27"/>
          <p:cNvSpPr/>
          <p:nvPr/>
        </p:nvSpPr>
        <p:spPr>
          <a:xfrm>
            <a:off x="9825228" y="4343400"/>
            <a:ext cx="768096" cy="768096"/>
          </a:xfrm>
          <a:prstGeom prst="ellipse">
            <a:avLst/>
          </a:prstGeom>
          <a:solidFill>
            <a:srgbClr val="13B8A0"/>
          </a:solidFill>
          <a:ln/>
        </p:spPr>
      </p:sp>
      <p:sp>
        <p:nvSpPr>
          <p:cNvPr id="30" name="Shape 28"/>
          <p:cNvSpPr/>
          <p:nvPr/>
        </p:nvSpPr>
        <p:spPr>
          <a:xfrm>
            <a:off x="9998050" y="4516222"/>
            <a:ext cx="422453" cy="422453"/>
          </a:xfrm>
          <a:prstGeom prst="gear6">
            <a:avLst/>
          </a:prstGeom>
          <a:solidFill>
            <a:srgbClr val="FFFFFF"/>
          </a:solidFill>
          <a:ln/>
        </p:spPr>
      </p:sp>
      <p:sp>
        <p:nvSpPr>
          <p:cNvPr id="31" name="Text 29"/>
          <p:cNvSpPr/>
          <p:nvPr/>
        </p:nvSpPr>
        <p:spPr>
          <a:xfrm>
            <a:off x="9061704" y="5212080"/>
            <a:ext cx="22951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Society Admin</a:t>
            </a:r>
            <a:endParaRPr lang="en-US" sz="1350" dirty="0"/>
          </a:p>
        </p:txBody>
      </p:sp>
      <p:sp>
        <p:nvSpPr>
          <p:cNvPr id="32" name="Text 30"/>
          <p:cNvSpPr/>
          <p:nvPr/>
        </p:nvSpPr>
        <p:spPr>
          <a:xfrm>
            <a:off x="9061704" y="5577840"/>
            <a:ext cx="22951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A9B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Approves, oversees, reports</a:t>
            </a:r>
            <a:endParaRPr lang="en-US" sz="1050" dirty="0"/>
          </a:p>
        </p:txBody>
      </p:sp>
    </p:spTree>
  </p:cSld>
  <p:clrMapOvr>
    <a:masterClrMapping/>
  </p:clrMapOvr>
  <p:transition xmlns:p14="http://schemas.microsoft.com/office/powerpoint/2010/main" p14:dur="700" spd="slow">
    <p159:morph xmlns:p159="http://schemas.microsoft.com/office/powerpoint/2015/09/main" option="byObject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22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6E7B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9079992" y="384048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spc="200" kern="0" dirty="0">
                <a:solidFill>
                  <a:srgbClr val="F2B70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20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1051560"/>
            <a:ext cx="6492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to Multi-Tenant Backend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640080" y="251460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450" dirty="0">
                <a:solidFill>
                  <a:srgbClr val="A9B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query is scoped to a society — isolation enforced at the query layer itself, not by convention.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640080" y="6327648"/>
            <a:ext cx="10908792" cy="82296"/>
          </a:xfrm>
          <a:prstGeom prst="rect">
            <a:avLst/>
          </a:prstGeom>
          <a:solidFill>
            <a:srgbClr val="1A2140"/>
          </a:solidFill>
          <a:ln/>
        </p:spPr>
      </p:sp>
      <p:sp>
        <p:nvSpPr>
          <p:cNvPr id="7" name="!!Spine"/>
          <p:cNvSpPr/>
          <p:nvPr/>
        </p:nvSpPr>
        <p:spPr>
          <a:xfrm>
            <a:off x="640080" y="6327648"/>
            <a:ext cx="3818077" cy="82296"/>
          </a:xfrm>
          <a:prstGeom prst="rect">
            <a:avLst/>
          </a:prstGeom>
          <a:solidFill>
            <a:srgbClr val="3B5BDB"/>
          </a:solidFill>
          <a:ln/>
        </p:spPr>
      </p:sp>
      <p:sp>
        <p:nvSpPr>
          <p:cNvPr id="8" name="Shape 6"/>
          <p:cNvSpPr/>
          <p:nvPr/>
        </p:nvSpPr>
        <p:spPr>
          <a:xfrm>
            <a:off x="10506456" y="1042416"/>
            <a:ext cx="658368" cy="201168"/>
          </a:xfrm>
          <a:prstGeom prst="parallelogram">
            <a:avLst/>
          </a:prstGeom>
          <a:ln w="25400">
            <a:solidFill>
              <a:srgbClr val="FFFFF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506456" y="1143000"/>
            <a:ext cx="658368" cy="548640"/>
          </a:xfrm>
          <a:prstGeom prst="rect">
            <a:avLst/>
          </a:prstGeom>
          <a:ln w="25400">
            <a:solidFill>
              <a:srgbClr val="FFFFFF"/>
            </a:solidFill>
            <a:prstDash val="solid"/>
          </a:ln>
        </p:spPr>
      </p:sp>
      <p:sp>
        <p:nvSpPr>
          <p:cNvPr id="10" name="!!Hero_Arch"/>
          <p:cNvSpPr/>
          <p:nvPr/>
        </p:nvSpPr>
        <p:spPr>
          <a:xfrm>
            <a:off x="10378440" y="960120"/>
            <a:ext cx="914400" cy="914400"/>
          </a:xfrm>
          <a:prstGeom prst="roundRect">
            <a:avLst>
              <a:gd name="adj" fmla="val 20000"/>
            </a:avLst>
          </a:prstGeom>
          <a:ln/>
        </p:spPr>
      </p:sp>
      <p:sp>
        <p:nvSpPr>
          <p:cNvPr id="11" name="Shape 9"/>
          <p:cNvSpPr/>
          <p:nvPr/>
        </p:nvSpPr>
        <p:spPr>
          <a:xfrm>
            <a:off x="4764024" y="2880360"/>
            <a:ext cx="2651760" cy="566928"/>
          </a:xfrm>
          <a:prstGeom prst="roundRect">
            <a:avLst>
              <a:gd name="adj" fmla="val 14516"/>
            </a:avLst>
          </a:prstGeom>
          <a:solidFill>
            <a:srgbClr val="1A2140"/>
          </a:solidFill>
          <a:ln w="19050">
            <a:solidFill>
              <a:srgbClr val="3B5BD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64024" y="2880360"/>
            <a:ext cx="2651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Flutter Mobile App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089904" y="3447288"/>
            <a:ext cx="0" cy="411480"/>
          </a:xfrm>
          <a:prstGeom prst="line">
            <a:avLst/>
          </a:prstGeom>
          <a:noFill/>
          <a:ln w="25400">
            <a:solidFill>
              <a:srgbClr val="8792AD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764024" y="3977640"/>
            <a:ext cx="2651760" cy="566928"/>
          </a:xfrm>
          <a:prstGeom prst="roundRect">
            <a:avLst>
              <a:gd name="adj" fmla="val 14516"/>
            </a:avLst>
          </a:prstGeom>
          <a:solidFill>
            <a:srgbClr val="1A2140"/>
          </a:solidFill>
          <a:ln w="19050">
            <a:solidFill>
              <a:srgbClr val="3B5BD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764024" y="3977640"/>
            <a:ext cx="2651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Django REST API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3300984" y="4544568"/>
            <a:ext cx="0" cy="621792"/>
          </a:xfrm>
          <a:prstGeom prst="line">
            <a:avLst/>
          </a:prstGeom>
          <a:noFill/>
          <a:ln w="19050">
            <a:solidFill>
              <a:srgbClr val="8792AD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135124" y="5166360"/>
            <a:ext cx="2331720" cy="621792"/>
          </a:xfrm>
          <a:prstGeom prst="roundRect">
            <a:avLst>
              <a:gd name="adj" fmla="val 13235"/>
            </a:avLst>
          </a:prstGeom>
          <a:solidFill>
            <a:srgbClr val="1A2140"/>
          </a:solidFill>
          <a:ln w="19050">
            <a:solidFill>
              <a:srgbClr val="13B8A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135124" y="5166360"/>
            <a:ext cx="23317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</a:t>
            </a:r>
            <a:endParaRPr lang="en-US" sz="10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(Supabase)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6089904" y="4544568"/>
            <a:ext cx="0" cy="621792"/>
          </a:xfrm>
          <a:prstGeom prst="line">
            <a:avLst/>
          </a:prstGeom>
          <a:noFill/>
          <a:ln w="19050">
            <a:solidFill>
              <a:srgbClr val="8792AD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924044" y="5166360"/>
            <a:ext cx="2331720" cy="621792"/>
          </a:xfrm>
          <a:prstGeom prst="roundRect">
            <a:avLst>
              <a:gd name="adj" fmla="val 13235"/>
            </a:avLst>
          </a:prstGeom>
          <a:solidFill>
            <a:srgbClr val="1A2140"/>
          </a:solidFill>
          <a:ln w="19050">
            <a:solidFill>
              <a:srgbClr val="13B8A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924044" y="5166360"/>
            <a:ext cx="23317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Supabase</a:t>
            </a:r>
            <a:endParaRPr lang="en-US" sz="10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8878824" y="4544568"/>
            <a:ext cx="0" cy="621792"/>
          </a:xfrm>
          <a:prstGeom prst="line">
            <a:avLst/>
          </a:prstGeom>
          <a:noFill/>
          <a:ln w="19050">
            <a:solidFill>
              <a:srgbClr val="8792AD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712964" y="5166360"/>
            <a:ext cx="2331720" cy="621792"/>
          </a:xfrm>
          <a:prstGeom prst="roundRect">
            <a:avLst>
              <a:gd name="adj" fmla="val 13235"/>
            </a:avLst>
          </a:prstGeom>
          <a:solidFill>
            <a:srgbClr val="1A2140"/>
          </a:solidFill>
          <a:ln w="19050">
            <a:solidFill>
              <a:srgbClr val="F2B70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712964" y="5166360"/>
            <a:ext cx="23317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 Services</a:t>
            </a:r>
            <a:endParaRPr lang="en-US" sz="10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(Razorpay · FCM · AI · OCR)</a:t>
            </a:r>
            <a:endParaRPr lang="en-US" sz="1050" dirty="0"/>
          </a:p>
        </p:txBody>
      </p:sp>
    </p:spTree>
  </p:cSld>
  <p:clrMapOvr>
    <a:masterClrMapping/>
  </p:clrMapOvr>
  <p:transition xmlns:p14="http://schemas.microsoft.com/office/powerpoint/2010/main" p14:dur="700" spd="slow">
    <p159:morph xmlns:p159="http://schemas.microsoft.com/office/powerpoint/2015/09/main" option="byObject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22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6E7B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STACK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9079992" y="384048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spc="200" kern="0" dirty="0">
                <a:solidFill>
                  <a:srgbClr val="F2B70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20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1051560"/>
            <a:ext cx="6492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Entirely on Free-Tier Infrastructure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640080" y="251460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450" dirty="0">
                <a:solidFill>
                  <a:srgbClr val="A9B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dependency chosen from a genuinely free tier — no card on file, anywhere in the stack.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640080" y="6327648"/>
            <a:ext cx="10908792" cy="82296"/>
          </a:xfrm>
          <a:prstGeom prst="rect">
            <a:avLst/>
          </a:prstGeom>
          <a:solidFill>
            <a:srgbClr val="1A2140"/>
          </a:solidFill>
          <a:ln/>
        </p:spPr>
      </p:sp>
      <p:sp>
        <p:nvSpPr>
          <p:cNvPr id="7" name="!!Spine"/>
          <p:cNvSpPr/>
          <p:nvPr/>
        </p:nvSpPr>
        <p:spPr>
          <a:xfrm>
            <a:off x="640080" y="6327648"/>
            <a:ext cx="4363517" cy="82296"/>
          </a:xfrm>
          <a:prstGeom prst="rect">
            <a:avLst/>
          </a:prstGeom>
          <a:solidFill>
            <a:srgbClr val="3B5BDB"/>
          </a:solidFill>
          <a:ln/>
        </p:spPr>
      </p:sp>
      <p:sp>
        <p:nvSpPr>
          <p:cNvPr id="8" name="Shape 6"/>
          <p:cNvSpPr/>
          <p:nvPr/>
        </p:nvSpPr>
        <p:spPr>
          <a:xfrm>
            <a:off x="10506456" y="1042416"/>
            <a:ext cx="658368" cy="201168"/>
          </a:xfrm>
          <a:prstGeom prst="parallelogram">
            <a:avLst/>
          </a:prstGeom>
          <a:solidFill>
            <a:srgbClr val="3B5BDB"/>
          </a:solidFill>
          <a:ln/>
        </p:spPr>
      </p:sp>
      <p:sp>
        <p:nvSpPr>
          <p:cNvPr id="9" name="Shape 7"/>
          <p:cNvSpPr/>
          <p:nvPr/>
        </p:nvSpPr>
        <p:spPr>
          <a:xfrm>
            <a:off x="10506456" y="1143000"/>
            <a:ext cx="658368" cy="548640"/>
          </a:xfrm>
          <a:prstGeom prst="rect">
            <a:avLst/>
          </a:prstGeom>
          <a:solidFill>
            <a:srgbClr val="3B5BDB"/>
          </a:solidFill>
          <a:ln/>
        </p:spPr>
      </p:sp>
      <p:sp>
        <p:nvSpPr>
          <p:cNvPr id="10" name="!!Hero_Arch"/>
          <p:cNvSpPr/>
          <p:nvPr/>
        </p:nvSpPr>
        <p:spPr>
          <a:xfrm>
            <a:off x="10378440" y="960120"/>
            <a:ext cx="914400" cy="914400"/>
          </a:xfrm>
          <a:prstGeom prst="rect">
            <a:avLst/>
          </a:prstGeom>
          <a:ln/>
        </p:spPr>
      </p:sp>
      <p:sp>
        <p:nvSpPr>
          <p:cNvPr id="11" name="Shape 9"/>
          <p:cNvSpPr/>
          <p:nvPr/>
        </p:nvSpPr>
        <p:spPr>
          <a:xfrm>
            <a:off x="640080" y="2971800"/>
            <a:ext cx="3520440" cy="777240"/>
          </a:xfrm>
          <a:prstGeom prst="roundRect">
            <a:avLst>
              <a:gd name="adj" fmla="val 11765"/>
            </a:avLst>
          </a:prstGeom>
          <a:solidFill>
            <a:srgbClr val="1A2140"/>
          </a:solidFill>
          <a:ln/>
        </p:spPr>
      </p:sp>
      <p:sp>
        <p:nvSpPr>
          <p:cNvPr id="12" name="Shape 10"/>
          <p:cNvSpPr/>
          <p:nvPr/>
        </p:nvSpPr>
        <p:spPr>
          <a:xfrm>
            <a:off x="804672" y="3305556"/>
            <a:ext cx="109728" cy="109728"/>
          </a:xfrm>
          <a:prstGeom prst="roundRect">
            <a:avLst>
              <a:gd name="adj" fmla="val 50000"/>
            </a:avLst>
          </a:prstGeom>
          <a:solidFill>
            <a:srgbClr val="3B5BDB"/>
          </a:solidFill>
          <a:ln/>
        </p:spPr>
      </p:sp>
      <p:sp>
        <p:nvSpPr>
          <p:cNvPr id="13" name="Text 11"/>
          <p:cNvSpPr/>
          <p:nvPr/>
        </p:nvSpPr>
        <p:spPr>
          <a:xfrm>
            <a:off x="1024128" y="2971800"/>
            <a:ext cx="3017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Flutter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4389120" y="2971800"/>
            <a:ext cx="3520440" cy="777240"/>
          </a:xfrm>
          <a:prstGeom prst="roundRect">
            <a:avLst>
              <a:gd name="adj" fmla="val 11765"/>
            </a:avLst>
          </a:prstGeom>
          <a:solidFill>
            <a:srgbClr val="1A2140"/>
          </a:solidFill>
          <a:ln/>
        </p:spPr>
      </p:sp>
      <p:sp>
        <p:nvSpPr>
          <p:cNvPr id="15" name="Shape 13"/>
          <p:cNvSpPr/>
          <p:nvPr/>
        </p:nvSpPr>
        <p:spPr>
          <a:xfrm>
            <a:off x="4553712" y="3305556"/>
            <a:ext cx="109728" cy="109728"/>
          </a:xfrm>
          <a:prstGeom prst="roundRect">
            <a:avLst>
              <a:gd name="adj" fmla="val 50000"/>
            </a:avLst>
          </a:prstGeom>
          <a:solidFill>
            <a:srgbClr val="3B5BDB"/>
          </a:solidFill>
          <a:ln/>
        </p:spPr>
      </p:sp>
      <p:sp>
        <p:nvSpPr>
          <p:cNvPr id="16" name="Text 14"/>
          <p:cNvSpPr/>
          <p:nvPr/>
        </p:nvSpPr>
        <p:spPr>
          <a:xfrm>
            <a:off x="4773168" y="2971800"/>
            <a:ext cx="3017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Django REST Framework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8138160" y="2971800"/>
            <a:ext cx="3520440" cy="777240"/>
          </a:xfrm>
          <a:prstGeom prst="roundRect">
            <a:avLst>
              <a:gd name="adj" fmla="val 11765"/>
            </a:avLst>
          </a:prstGeom>
          <a:solidFill>
            <a:srgbClr val="1A2140"/>
          </a:solidFill>
          <a:ln/>
        </p:spPr>
      </p:sp>
      <p:sp>
        <p:nvSpPr>
          <p:cNvPr id="18" name="Shape 16"/>
          <p:cNvSpPr/>
          <p:nvPr/>
        </p:nvSpPr>
        <p:spPr>
          <a:xfrm>
            <a:off x="8302752" y="3305556"/>
            <a:ext cx="109728" cy="109728"/>
          </a:xfrm>
          <a:prstGeom prst="roundRect">
            <a:avLst>
              <a:gd name="adj" fmla="val 50000"/>
            </a:avLst>
          </a:prstGeom>
          <a:solidFill>
            <a:srgbClr val="13B8A0"/>
          </a:solidFill>
          <a:ln/>
        </p:spPr>
      </p:sp>
      <p:sp>
        <p:nvSpPr>
          <p:cNvPr id="19" name="Text 17"/>
          <p:cNvSpPr/>
          <p:nvPr/>
        </p:nvSpPr>
        <p:spPr>
          <a:xfrm>
            <a:off x="8522208" y="2971800"/>
            <a:ext cx="3017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· Supabase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640080" y="3977640"/>
            <a:ext cx="3520440" cy="777240"/>
          </a:xfrm>
          <a:prstGeom prst="roundRect">
            <a:avLst>
              <a:gd name="adj" fmla="val 11765"/>
            </a:avLst>
          </a:prstGeom>
          <a:solidFill>
            <a:srgbClr val="1A2140"/>
          </a:solidFill>
          <a:ln/>
        </p:spPr>
      </p:sp>
      <p:sp>
        <p:nvSpPr>
          <p:cNvPr id="21" name="Shape 19"/>
          <p:cNvSpPr/>
          <p:nvPr/>
        </p:nvSpPr>
        <p:spPr>
          <a:xfrm>
            <a:off x="804672" y="4311396"/>
            <a:ext cx="109728" cy="109728"/>
          </a:xfrm>
          <a:prstGeom prst="roundRect">
            <a:avLst>
              <a:gd name="adj" fmla="val 50000"/>
            </a:avLst>
          </a:prstGeom>
          <a:solidFill>
            <a:srgbClr val="13B8A0"/>
          </a:solidFill>
          <a:ln/>
        </p:spPr>
      </p:sp>
      <p:sp>
        <p:nvSpPr>
          <p:cNvPr id="22" name="Text 20"/>
          <p:cNvSpPr/>
          <p:nvPr/>
        </p:nvSpPr>
        <p:spPr>
          <a:xfrm>
            <a:off x="1024128" y="3977640"/>
            <a:ext cx="3017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Render (Singapore)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4389120" y="3977640"/>
            <a:ext cx="3520440" cy="777240"/>
          </a:xfrm>
          <a:prstGeom prst="roundRect">
            <a:avLst>
              <a:gd name="adj" fmla="val 11765"/>
            </a:avLst>
          </a:prstGeom>
          <a:solidFill>
            <a:srgbClr val="1A2140"/>
          </a:solidFill>
          <a:ln/>
        </p:spPr>
      </p:sp>
      <p:sp>
        <p:nvSpPr>
          <p:cNvPr id="24" name="Shape 22"/>
          <p:cNvSpPr/>
          <p:nvPr/>
        </p:nvSpPr>
        <p:spPr>
          <a:xfrm>
            <a:off x="4553712" y="4311396"/>
            <a:ext cx="109728" cy="109728"/>
          </a:xfrm>
          <a:prstGeom prst="roundRect">
            <a:avLst>
              <a:gd name="adj" fmla="val 50000"/>
            </a:avLst>
          </a:prstGeom>
          <a:solidFill>
            <a:srgbClr val="3B5BDB"/>
          </a:solidFill>
          <a:ln/>
        </p:spPr>
      </p:sp>
      <p:sp>
        <p:nvSpPr>
          <p:cNvPr id="25" name="Text 23"/>
          <p:cNvSpPr/>
          <p:nvPr/>
        </p:nvSpPr>
        <p:spPr>
          <a:xfrm>
            <a:off x="4773168" y="3977640"/>
            <a:ext cx="3017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Firebase Cloud Messaging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8138160" y="3977640"/>
            <a:ext cx="3520440" cy="777240"/>
          </a:xfrm>
          <a:prstGeom prst="roundRect">
            <a:avLst>
              <a:gd name="adj" fmla="val 11765"/>
            </a:avLst>
          </a:prstGeom>
          <a:solidFill>
            <a:srgbClr val="1A2140"/>
          </a:solidFill>
          <a:ln/>
        </p:spPr>
      </p:sp>
      <p:sp>
        <p:nvSpPr>
          <p:cNvPr id="27" name="Shape 25"/>
          <p:cNvSpPr/>
          <p:nvPr/>
        </p:nvSpPr>
        <p:spPr>
          <a:xfrm>
            <a:off x="8302752" y="4311396"/>
            <a:ext cx="109728" cy="109728"/>
          </a:xfrm>
          <a:prstGeom prst="roundRect">
            <a:avLst>
              <a:gd name="adj" fmla="val 50000"/>
            </a:avLst>
          </a:prstGeom>
          <a:solidFill>
            <a:srgbClr val="F2B705"/>
          </a:solidFill>
          <a:ln/>
        </p:spPr>
      </p:sp>
      <p:sp>
        <p:nvSpPr>
          <p:cNvPr id="28" name="Text 26"/>
          <p:cNvSpPr/>
          <p:nvPr/>
        </p:nvSpPr>
        <p:spPr>
          <a:xfrm>
            <a:off x="8522208" y="3977640"/>
            <a:ext cx="3017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Razorpay (test mode)</a:t>
            </a:r>
            <a:endParaRPr lang="en-US" sz="1250" dirty="0"/>
          </a:p>
        </p:txBody>
      </p:sp>
      <p:sp>
        <p:nvSpPr>
          <p:cNvPr id="29" name="Shape 27"/>
          <p:cNvSpPr/>
          <p:nvPr/>
        </p:nvSpPr>
        <p:spPr>
          <a:xfrm>
            <a:off x="640080" y="4983480"/>
            <a:ext cx="3520440" cy="777240"/>
          </a:xfrm>
          <a:prstGeom prst="roundRect">
            <a:avLst>
              <a:gd name="adj" fmla="val 11765"/>
            </a:avLst>
          </a:prstGeom>
          <a:solidFill>
            <a:srgbClr val="1A2140"/>
          </a:solidFill>
          <a:ln/>
        </p:spPr>
      </p:sp>
      <p:sp>
        <p:nvSpPr>
          <p:cNvPr id="30" name="Shape 28"/>
          <p:cNvSpPr/>
          <p:nvPr/>
        </p:nvSpPr>
        <p:spPr>
          <a:xfrm>
            <a:off x="804672" y="5317236"/>
            <a:ext cx="109728" cy="109728"/>
          </a:xfrm>
          <a:prstGeom prst="roundRect">
            <a:avLst>
              <a:gd name="adj" fmla="val 50000"/>
            </a:avLst>
          </a:prstGeom>
          <a:solidFill>
            <a:srgbClr val="F2B705"/>
          </a:solidFill>
          <a:ln/>
        </p:spPr>
      </p:sp>
      <p:sp>
        <p:nvSpPr>
          <p:cNvPr id="31" name="Text 29"/>
          <p:cNvSpPr/>
          <p:nvPr/>
        </p:nvSpPr>
        <p:spPr>
          <a:xfrm>
            <a:off x="1024128" y="4983480"/>
            <a:ext cx="3017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PaddleOCR → EasyOCR</a:t>
            </a:r>
            <a:endParaRPr lang="en-US" sz="1250" dirty="0"/>
          </a:p>
        </p:txBody>
      </p:sp>
      <p:sp>
        <p:nvSpPr>
          <p:cNvPr id="32" name="Shape 30"/>
          <p:cNvSpPr/>
          <p:nvPr/>
        </p:nvSpPr>
        <p:spPr>
          <a:xfrm>
            <a:off x="4389120" y="4983480"/>
            <a:ext cx="3520440" cy="777240"/>
          </a:xfrm>
          <a:prstGeom prst="roundRect">
            <a:avLst>
              <a:gd name="adj" fmla="val 11765"/>
            </a:avLst>
          </a:prstGeom>
          <a:solidFill>
            <a:srgbClr val="1A2140"/>
          </a:solidFill>
          <a:ln/>
        </p:spPr>
      </p:sp>
      <p:sp>
        <p:nvSpPr>
          <p:cNvPr id="33" name="Shape 31"/>
          <p:cNvSpPr/>
          <p:nvPr/>
        </p:nvSpPr>
        <p:spPr>
          <a:xfrm>
            <a:off x="4553712" y="5317236"/>
            <a:ext cx="109728" cy="109728"/>
          </a:xfrm>
          <a:prstGeom prst="roundRect">
            <a:avLst>
              <a:gd name="adj" fmla="val 50000"/>
            </a:avLst>
          </a:prstGeom>
          <a:solidFill>
            <a:srgbClr val="F2B705"/>
          </a:solidFill>
          <a:ln/>
        </p:spPr>
      </p:sp>
      <p:sp>
        <p:nvSpPr>
          <p:cNvPr id="34" name="Text 32"/>
          <p:cNvSpPr/>
          <p:nvPr/>
        </p:nvSpPr>
        <p:spPr>
          <a:xfrm>
            <a:off x="4773168" y="4983480"/>
            <a:ext cx="3017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DeepFace</a:t>
            </a:r>
            <a:endParaRPr lang="en-US" sz="1250" dirty="0"/>
          </a:p>
        </p:txBody>
      </p:sp>
      <p:sp>
        <p:nvSpPr>
          <p:cNvPr id="35" name="Shape 33"/>
          <p:cNvSpPr/>
          <p:nvPr/>
        </p:nvSpPr>
        <p:spPr>
          <a:xfrm>
            <a:off x="8138160" y="4983480"/>
            <a:ext cx="3520440" cy="777240"/>
          </a:xfrm>
          <a:prstGeom prst="roundRect">
            <a:avLst>
              <a:gd name="adj" fmla="val 11765"/>
            </a:avLst>
          </a:prstGeom>
          <a:solidFill>
            <a:srgbClr val="1A2140"/>
          </a:solidFill>
          <a:ln/>
        </p:spPr>
      </p:sp>
      <p:sp>
        <p:nvSpPr>
          <p:cNvPr id="36" name="Shape 34"/>
          <p:cNvSpPr/>
          <p:nvPr/>
        </p:nvSpPr>
        <p:spPr>
          <a:xfrm>
            <a:off x="8302752" y="5317236"/>
            <a:ext cx="109728" cy="109728"/>
          </a:xfrm>
          <a:prstGeom prst="roundRect">
            <a:avLst>
              <a:gd name="adj" fmla="val 50000"/>
            </a:avLst>
          </a:prstGeom>
          <a:solidFill>
            <a:srgbClr val="13B8A0"/>
          </a:solidFill>
          <a:ln/>
        </p:spPr>
      </p:sp>
      <p:sp>
        <p:nvSpPr>
          <p:cNvPr id="37" name="Text 35"/>
          <p:cNvSpPr/>
          <p:nvPr/>
        </p:nvSpPr>
        <p:spPr>
          <a:xfrm>
            <a:off x="8522208" y="4983480"/>
            <a:ext cx="3017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→ Groq → OpenRouter → HF</a:t>
            </a:r>
            <a:endParaRPr lang="en-US" sz="1250" dirty="0"/>
          </a:p>
        </p:txBody>
      </p:sp>
    </p:spTree>
  </p:cSld>
  <p:clrMapOvr>
    <a:masterClrMapping/>
  </p:clrMapOvr>
  <p:transition xmlns:p14="http://schemas.microsoft.com/office/powerpoint/2010/main" p14:dur="700" spd="slow">
    <p159:morph xmlns:p159="http://schemas.microsoft.com/office/powerpoint/2015/09/main" option="byObject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22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6E7B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01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9079992" y="384048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spc="200" kern="0" dirty="0">
                <a:solidFill>
                  <a:srgbClr val="F2B70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20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1051560"/>
            <a:ext cx="6492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 In With a Phone</a:t>
            </a:r>
            <a:endParaRPr lang="en-US" sz="3400" dirty="0"/>
          </a:p>
          <a:p>
            <a:pPr algn="l" indent="0" marL="0">
              <a:lnSpc>
                <a:spcPct val="103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Number, Not a Password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640080" y="2514600"/>
            <a:ext cx="59893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450" dirty="0">
                <a:solidFill>
                  <a:srgbClr val="A9B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OTP login · short-lived JWT with a rotating refresh token · default-deny RBAC across four roles · an admin-approval gate before any account can transact.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640080" y="6327648"/>
            <a:ext cx="10908792" cy="82296"/>
          </a:xfrm>
          <a:prstGeom prst="rect">
            <a:avLst/>
          </a:prstGeom>
          <a:solidFill>
            <a:srgbClr val="1A2140"/>
          </a:solidFill>
          <a:ln/>
        </p:spPr>
      </p:sp>
      <p:sp>
        <p:nvSpPr>
          <p:cNvPr id="7" name="!!Spine"/>
          <p:cNvSpPr/>
          <p:nvPr/>
        </p:nvSpPr>
        <p:spPr>
          <a:xfrm>
            <a:off x="640080" y="6327648"/>
            <a:ext cx="4908956" cy="82296"/>
          </a:xfrm>
          <a:prstGeom prst="rect">
            <a:avLst/>
          </a:prstGeom>
          <a:solidFill>
            <a:srgbClr val="3B5BDB"/>
          </a:solidFill>
          <a:ln/>
        </p:spPr>
      </p:sp>
      <p:sp>
        <p:nvSpPr>
          <p:cNvPr id="8" name="!!Hero_Module"/>
          <p:cNvSpPr/>
          <p:nvPr/>
        </p:nvSpPr>
        <p:spPr>
          <a:xfrm>
            <a:off x="8526780" y="2583180"/>
            <a:ext cx="1874520" cy="1874520"/>
          </a:xfrm>
          <a:prstGeom prst="ellipse">
            <a:avLst/>
          </a:prstGeom>
          <a:solidFill>
            <a:srgbClr val="3B5BDB">
              <a:alpha val="0"/>
            </a:srgbClr>
          </a:solidFill>
          <a:ln w="31750">
            <a:solidFill>
              <a:srgbClr val="3B5BDB"/>
            </a:solidFill>
            <a:prstDash val="solid"/>
          </a:ln>
          <a:effectLst>
            <a:outerShdw sx="100000" sy="100000" kx="0" ky="0" algn="bl" rotWithShape="0" blurRad="177800" dist="76200" dir="5400000">
              <a:srgbClr val="000000">
                <a:alpha val="4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9322308" y="3248315"/>
            <a:ext cx="283464" cy="283464"/>
          </a:xfrm>
          <a:prstGeom prst="ellipse">
            <a:avLst/>
          </a:prstGeom>
          <a:ln w="62992">
            <a:solidFill>
              <a:srgbClr val="FFFFF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225930" y="3486424"/>
            <a:ext cx="476220" cy="31748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/>
        </p:spPr>
      </p:sp>
      <p:sp>
        <p:nvSpPr>
          <p:cNvPr id="11" name="Shape 9"/>
          <p:cNvSpPr/>
          <p:nvPr/>
        </p:nvSpPr>
        <p:spPr>
          <a:xfrm>
            <a:off x="9430024" y="3577133"/>
            <a:ext cx="68031" cy="68031"/>
          </a:xfrm>
          <a:prstGeom prst="ellipse">
            <a:avLst/>
          </a:prstGeom>
          <a:solidFill>
            <a:srgbClr val="0D1225"/>
          </a:solidFill>
          <a:ln/>
        </p:spPr>
      </p:sp>
      <p:sp>
        <p:nvSpPr>
          <p:cNvPr id="12" name="Text 10"/>
          <p:cNvSpPr/>
          <p:nvPr/>
        </p:nvSpPr>
        <p:spPr>
          <a:xfrm>
            <a:off x="8549640" y="47548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6E7B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/ 8</a:t>
            </a:r>
            <a:endParaRPr lang="en-US" sz="1000" dirty="0"/>
          </a:p>
        </p:txBody>
      </p:sp>
    </p:spTree>
  </p:cSld>
  <p:clrMapOvr>
    <a:masterClrMapping/>
  </p:clrMapOvr>
  <p:transition xmlns:p14="http://schemas.microsoft.com/office/powerpoint/2010/main" p14:dur="700" spd="slow">
    <p159:morph xmlns:p159="http://schemas.microsoft.com/office/powerpoint/2015/09/main" option="byObject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22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6E7B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02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9079992" y="384048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spc="200" kern="0" dirty="0">
                <a:solidFill>
                  <a:srgbClr val="F2B70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20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1051560"/>
            <a:ext cx="6492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Multi-Tenancy</a:t>
            </a:r>
            <a:endParaRPr lang="en-US" sz="3400" dirty="0"/>
          </a:p>
          <a:p>
            <a:pPr algn="l" indent="0" marL="0">
              <a:lnSpc>
                <a:spcPct val="103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Backbone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640080" y="2514600"/>
            <a:ext cx="59893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450" dirty="0">
                <a:solidFill>
                  <a:srgbClr val="A9B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society starts PENDING until platform-verified. Towers, flats, and gates map underneath it — one primary account holder per flat prevents conflicting instructions.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640080" y="6327648"/>
            <a:ext cx="10908792" cy="82296"/>
          </a:xfrm>
          <a:prstGeom prst="rect">
            <a:avLst/>
          </a:prstGeom>
          <a:solidFill>
            <a:srgbClr val="1A2140"/>
          </a:solidFill>
          <a:ln/>
        </p:spPr>
      </p:sp>
      <p:sp>
        <p:nvSpPr>
          <p:cNvPr id="7" name="!!Spine"/>
          <p:cNvSpPr/>
          <p:nvPr/>
        </p:nvSpPr>
        <p:spPr>
          <a:xfrm>
            <a:off x="640080" y="6327648"/>
            <a:ext cx="5454396" cy="82296"/>
          </a:xfrm>
          <a:prstGeom prst="rect">
            <a:avLst/>
          </a:prstGeom>
          <a:solidFill>
            <a:srgbClr val="13B8A0"/>
          </a:solidFill>
          <a:ln/>
        </p:spPr>
      </p:sp>
      <p:sp>
        <p:nvSpPr>
          <p:cNvPr id="8" name="!!Hero_Module"/>
          <p:cNvSpPr/>
          <p:nvPr/>
        </p:nvSpPr>
        <p:spPr>
          <a:xfrm>
            <a:off x="8526780" y="2583180"/>
            <a:ext cx="1874520" cy="1874520"/>
          </a:xfrm>
          <a:prstGeom prst="ellipse">
            <a:avLst/>
          </a:prstGeom>
          <a:solidFill>
            <a:srgbClr val="13B8A0">
              <a:alpha val="14000"/>
            </a:srgbClr>
          </a:solidFill>
          <a:ln w="31750">
            <a:solidFill>
              <a:srgbClr val="13B8A0"/>
            </a:solidFill>
            <a:prstDash val="solid"/>
          </a:ln>
          <a:effectLst>
            <a:outerShdw sx="100000" sy="100000" kx="0" ky="0" algn="bl" rotWithShape="0" blurRad="177800" dist="76200" dir="5400000">
              <a:srgbClr val="000000">
                <a:alpha val="4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9305300" y="3236976"/>
            <a:ext cx="317480" cy="566928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/>
        </p:spPr>
      </p:sp>
      <p:sp>
        <p:nvSpPr>
          <p:cNvPr id="10" name="Shape 8"/>
          <p:cNvSpPr/>
          <p:nvPr/>
        </p:nvSpPr>
        <p:spPr>
          <a:xfrm>
            <a:off x="9359158" y="3316346"/>
            <a:ext cx="51024" cy="51024"/>
          </a:xfrm>
          <a:prstGeom prst="rect">
            <a:avLst/>
          </a:prstGeom>
          <a:solidFill>
            <a:srgbClr val="0D1225"/>
          </a:solidFill>
          <a:ln/>
        </p:spPr>
      </p:sp>
      <p:sp>
        <p:nvSpPr>
          <p:cNvPr id="11" name="Shape 9"/>
          <p:cNvSpPr/>
          <p:nvPr/>
        </p:nvSpPr>
        <p:spPr>
          <a:xfrm>
            <a:off x="9438528" y="3316346"/>
            <a:ext cx="51024" cy="51024"/>
          </a:xfrm>
          <a:prstGeom prst="rect">
            <a:avLst/>
          </a:prstGeom>
          <a:solidFill>
            <a:srgbClr val="0D1225"/>
          </a:solidFill>
          <a:ln/>
        </p:spPr>
      </p:sp>
      <p:sp>
        <p:nvSpPr>
          <p:cNvPr id="12" name="Shape 10"/>
          <p:cNvSpPr/>
          <p:nvPr/>
        </p:nvSpPr>
        <p:spPr>
          <a:xfrm>
            <a:off x="9517898" y="3316346"/>
            <a:ext cx="51024" cy="51024"/>
          </a:xfrm>
          <a:prstGeom prst="rect">
            <a:avLst/>
          </a:prstGeom>
          <a:solidFill>
            <a:srgbClr val="0D1225"/>
          </a:solidFill>
          <a:ln/>
        </p:spPr>
      </p:sp>
      <p:sp>
        <p:nvSpPr>
          <p:cNvPr id="13" name="Shape 11"/>
          <p:cNvSpPr/>
          <p:nvPr/>
        </p:nvSpPr>
        <p:spPr>
          <a:xfrm>
            <a:off x="9359158" y="3407054"/>
            <a:ext cx="51024" cy="51024"/>
          </a:xfrm>
          <a:prstGeom prst="rect">
            <a:avLst/>
          </a:prstGeom>
          <a:solidFill>
            <a:srgbClr val="0D1225"/>
          </a:solidFill>
          <a:ln/>
        </p:spPr>
      </p:sp>
      <p:sp>
        <p:nvSpPr>
          <p:cNvPr id="14" name="Shape 12"/>
          <p:cNvSpPr/>
          <p:nvPr/>
        </p:nvSpPr>
        <p:spPr>
          <a:xfrm>
            <a:off x="9438528" y="3407054"/>
            <a:ext cx="51024" cy="51024"/>
          </a:xfrm>
          <a:prstGeom prst="rect">
            <a:avLst/>
          </a:prstGeom>
          <a:solidFill>
            <a:srgbClr val="0D1225"/>
          </a:solidFill>
          <a:ln/>
        </p:spPr>
      </p:sp>
      <p:sp>
        <p:nvSpPr>
          <p:cNvPr id="15" name="Shape 13"/>
          <p:cNvSpPr/>
          <p:nvPr/>
        </p:nvSpPr>
        <p:spPr>
          <a:xfrm>
            <a:off x="9517898" y="3407054"/>
            <a:ext cx="51024" cy="51024"/>
          </a:xfrm>
          <a:prstGeom prst="rect">
            <a:avLst/>
          </a:prstGeom>
          <a:solidFill>
            <a:srgbClr val="0D1225"/>
          </a:solidFill>
          <a:ln/>
        </p:spPr>
      </p:sp>
      <p:sp>
        <p:nvSpPr>
          <p:cNvPr id="16" name="Shape 14"/>
          <p:cNvSpPr/>
          <p:nvPr/>
        </p:nvSpPr>
        <p:spPr>
          <a:xfrm>
            <a:off x="9359158" y="3497763"/>
            <a:ext cx="51024" cy="51024"/>
          </a:xfrm>
          <a:prstGeom prst="rect">
            <a:avLst/>
          </a:prstGeom>
          <a:solidFill>
            <a:srgbClr val="0D1225"/>
          </a:solidFill>
          <a:ln/>
        </p:spPr>
      </p:sp>
      <p:sp>
        <p:nvSpPr>
          <p:cNvPr id="17" name="Shape 15"/>
          <p:cNvSpPr/>
          <p:nvPr/>
        </p:nvSpPr>
        <p:spPr>
          <a:xfrm>
            <a:off x="9438528" y="3497763"/>
            <a:ext cx="51024" cy="51024"/>
          </a:xfrm>
          <a:prstGeom prst="rect">
            <a:avLst/>
          </a:prstGeom>
          <a:solidFill>
            <a:srgbClr val="0D1225"/>
          </a:solidFill>
          <a:ln/>
        </p:spPr>
      </p:sp>
      <p:sp>
        <p:nvSpPr>
          <p:cNvPr id="18" name="Shape 16"/>
          <p:cNvSpPr/>
          <p:nvPr/>
        </p:nvSpPr>
        <p:spPr>
          <a:xfrm>
            <a:off x="9517898" y="3497763"/>
            <a:ext cx="51024" cy="51024"/>
          </a:xfrm>
          <a:prstGeom prst="rect">
            <a:avLst/>
          </a:prstGeom>
          <a:solidFill>
            <a:srgbClr val="0D1225"/>
          </a:solidFill>
          <a:ln/>
        </p:spPr>
      </p:sp>
      <p:sp>
        <p:nvSpPr>
          <p:cNvPr id="19" name="Shape 17"/>
          <p:cNvSpPr/>
          <p:nvPr/>
        </p:nvSpPr>
        <p:spPr>
          <a:xfrm>
            <a:off x="9359158" y="3588471"/>
            <a:ext cx="51024" cy="51024"/>
          </a:xfrm>
          <a:prstGeom prst="rect">
            <a:avLst/>
          </a:prstGeom>
          <a:solidFill>
            <a:srgbClr val="0D1225"/>
          </a:solidFill>
          <a:ln/>
        </p:spPr>
      </p:sp>
      <p:sp>
        <p:nvSpPr>
          <p:cNvPr id="20" name="Shape 18"/>
          <p:cNvSpPr/>
          <p:nvPr/>
        </p:nvSpPr>
        <p:spPr>
          <a:xfrm>
            <a:off x="9438528" y="3588471"/>
            <a:ext cx="51024" cy="51024"/>
          </a:xfrm>
          <a:prstGeom prst="rect">
            <a:avLst/>
          </a:prstGeom>
          <a:solidFill>
            <a:srgbClr val="0D1225"/>
          </a:solidFill>
          <a:ln/>
        </p:spPr>
      </p:sp>
      <p:sp>
        <p:nvSpPr>
          <p:cNvPr id="21" name="Shape 19"/>
          <p:cNvSpPr/>
          <p:nvPr/>
        </p:nvSpPr>
        <p:spPr>
          <a:xfrm>
            <a:off x="9517898" y="3588471"/>
            <a:ext cx="51024" cy="51024"/>
          </a:xfrm>
          <a:prstGeom prst="rect">
            <a:avLst/>
          </a:prstGeom>
          <a:solidFill>
            <a:srgbClr val="0D1225"/>
          </a:solidFill>
          <a:ln/>
        </p:spPr>
      </p:sp>
      <p:sp>
        <p:nvSpPr>
          <p:cNvPr id="22" name="Text 20"/>
          <p:cNvSpPr/>
          <p:nvPr/>
        </p:nvSpPr>
        <p:spPr>
          <a:xfrm>
            <a:off x="8549640" y="47548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6E7B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8</a:t>
            </a:r>
            <a:endParaRPr lang="en-US" sz="1000" dirty="0"/>
          </a:p>
        </p:txBody>
      </p:sp>
    </p:spTree>
  </p:cSld>
  <p:clrMapOvr>
    <a:masterClrMapping/>
  </p:clrMapOvr>
  <p:transition xmlns:p14="http://schemas.microsoft.com/office/powerpoint/2010/main" p14:dur="700" spd="slow">
    <p159:morph xmlns:p159="http://schemas.microsoft.com/office/powerpoint/2015/09/main" option="byObject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122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6E7B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03 · KYC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9079992" y="384048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spc="200" kern="0" dirty="0">
                <a:solidFill>
                  <a:srgbClr val="F2B70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20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1051560"/>
            <a:ext cx="6492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 Once,</a:t>
            </a:r>
            <a:endParaRPr lang="en-US" sz="3400" dirty="0"/>
          </a:p>
          <a:p>
            <a:pPr algn="l" indent="0" marL="0">
              <a:lnSpc>
                <a:spcPct val="103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Trusted Everywhere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640080" y="2514600"/>
            <a:ext cx="59893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450" dirty="0">
                <a:solidFill>
                  <a:srgbClr val="A9B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eight-stage Aadhaar OCR pipeline with Verhoeff checksum validation and an automatic under-18 rejection. Only the last four digits are ever stored — hashed for duplicate detection, never the full number.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640080" y="6327648"/>
            <a:ext cx="10908792" cy="82296"/>
          </a:xfrm>
          <a:prstGeom prst="rect">
            <a:avLst/>
          </a:prstGeom>
          <a:solidFill>
            <a:srgbClr val="1A2140"/>
          </a:solidFill>
          <a:ln/>
        </p:spPr>
      </p:sp>
      <p:sp>
        <p:nvSpPr>
          <p:cNvPr id="7" name="!!Spine"/>
          <p:cNvSpPr/>
          <p:nvPr/>
        </p:nvSpPr>
        <p:spPr>
          <a:xfrm>
            <a:off x="640080" y="6327648"/>
            <a:ext cx="5999836" cy="82296"/>
          </a:xfrm>
          <a:prstGeom prst="rect">
            <a:avLst/>
          </a:prstGeom>
          <a:solidFill>
            <a:srgbClr val="3B5BDB"/>
          </a:solidFill>
          <a:ln/>
        </p:spPr>
      </p:sp>
      <p:sp>
        <p:nvSpPr>
          <p:cNvPr id="8" name="!!Hero_Module"/>
          <p:cNvSpPr/>
          <p:nvPr/>
        </p:nvSpPr>
        <p:spPr>
          <a:xfrm>
            <a:off x="8526780" y="2583180"/>
            <a:ext cx="1874520" cy="1874520"/>
          </a:xfrm>
          <a:prstGeom prst="ellipse">
            <a:avLst/>
          </a:prstGeom>
          <a:solidFill>
            <a:srgbClr val="3B5BDB">
              <a:alpha val="29000"/>
            </a:srgbClr>
          </a:solidFill>
          <a:ln w="31750">
            <a:solidFill>
              <a:srgbClr val="3B5BDB"/>
            </a:solidFill>
            <a:prstDash val="solid"/>
          </a:ln>
          <a:effectLst>
            <a:outerShdw sx="100000" sy="100000" kx="0" ky="0" algn="bl" rotWithShape="0" blurRad="177800" dist="76200" dir="5400000">
              <a:srgbClr val="000000">
                <a:alpha val="4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9180576" y="3316346"/>
            <a:ext cx="566928" cy="40818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/>
        </p:spPr>
      </p:sp>
      <p:sp>
        <p:nvSpPr>
          <p:cNvPr id="10" name="Shape 8"/>
          <p:cNvSpPr/>
          <p:nvPr/>
        </p:nvSpPr>
        <p:spPr>
          <a:xfrm>
            <a:off x="9248607" y="3395716"/>
            <a:ext cx="147401" cy="147401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1" name="Shape 9"/>
          <p:cNvSpPr/>
          <p:nvPr/>
        </p:nvSpPr>
        <p:spPr>
          <a:xfrm>
            <a:off x="9475379" y="3441070"/>
            <a:ext cx="158740" cy="25512"/>
          </a:xfrm>
          <a:prstGeom prst="rect">
            <a:avLst/>
          </a:prstGeom>
          <a:solidFill>
            <a:srgbClr val="5B6584"/>
          </a:solidFill>
          <a:ln/>
        </p:spPr>
      </p:sp>
      <p:sp>
        <p:nvSpPr>
          <p:cNvPr id="12" name="Shape 10"/>
          <p:cNvSpPr/>
          <p:nvPr/>
        </p:nvSpPr>
        <p:spPr>
          <a:xfrm>
            <a:off x="9475379" y="3531779"/>
            <a:ext cx="158740" cy="25512"/>
          </a:xfrm>
          <a:prstGeom prst="rect">
            <a:avLst/>
          </a:prstGeom>
          <a:solidFill>
            <a:srgbClr val="5B6584"/>
          </a:solidFill>
          <a:ln/>
        </p:spPr>
      </p:sp>
      <p:sp>
        <p:nvSpPr>
          <p:cNvPr id="13" name="Shape 11"/>
          <p:cNvSpPr/>
          <p:nvPr/>
        </p:nvSpPr>
        <p:spPr>
          <a:xfrm>
            <a:off x="9475379" y="3622487"/>
            <a:ext cx="158740" cy="25512"/>
          </a:xfrm>
          <a:prstGeom prst="rect">
            <a:avLst/>
          </a:prstGeom>
          <a:solidFill>
            <a:srgbClr val="5B6584"/>
          </a:solidFill>
          <a:ln/>
        </p:spPr>
      </p:sp>
      <p:sp>
        <p:nvSpPr>
          <p:cNvPr id="14" name="Shape 12"/>
          <p:cNvSpPr/>
          <p:nvPr/>
        </p:nvSpPr>
        <p:spPr>
          <a:xfrm rot="2700000">
            <a:off x="9616884" y="3654008"/>
            <a:ext cx="42406" cy="19956"/>
          </a:xfrm>
          <a:prstGeom prst="rect">
            <a:avLst/>
          </a:prstGeom>
          <a:solidFill>
            <a:srgbClr val="13B8A0"/>
          </a:solidFill>
          <a:ln/>
        </p:spPr>
      </p:sp>
      <p:sp>
        <p:nvSpPr>
          <p:cNvPr id="15" name="Shape 13"/>
          <p:cNvSpPr/>
          <p:nvPr/>
        </p:nvSpPr>
        <p:spPr>
          <a:xfrm rot="-2700000">
            <a:off x="9649312" y="3616591"/>
            <a:ext cx="19956" cy="77329"/>
          </a:xfrm>
          <a:prstGeom prst="rect">
            <a:avLst/>
          </a:prstGeom>
          <a:solidFill>
            <a:srgbClr val="13B8A0"/>
          </a:solidFill>
          <a:ln/>
        </p:spPr>
      </p:sp>
      <p:sp>
        <p:nvSpPr>
          <p:cNvPr id="16" name="Text 14"/>
          <p:cNvSpPr/>
          <p:nvPr/>
        </p:nvSpPr>
        <p:spPr>
          <a:xfrm>
            <a:off x="8549640" y="47548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6E7B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8</a:t>
            </a:r>
            <a:endParaRPr lang="en-US" sz="1000" dirty="0"/>
          </a:p>
        </p:txBody>
      </p:sp>
    </p:spTree>
  </p:cSld>
  <p:clrMapOvr>
    <a:masterClrMapping/>
  </p:clrMapOvr>
  <p:transition xmlns:p14="http://schemas.microsoft.com/office/powerpoint/2010/main" p14:dur="700" spd="slow">
    <p159:morph xmlns:p159="http://schemas.microsoft.com/office/powerpoint/2015/09/main" option="byObject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122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6E7B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04–05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9079992" y="384048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spc="200" kern="0" dirty="0">
                <a:solidFill>
                  <a:srgbClr val="F2B70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20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1051560"/>
            <a:ext cx="6492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Recurring Hires and</a:t>
            </a:r>
            <a:endParaRPr lang="en-US" sz="3400" dirty="0"/>
          </a:p>
          <a:p>
            <a:pPr algn="l" indent="0" marL="0">
              <a:lnSpc>
                <a:spcPct val="103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One-Day Bookings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640080" y="2514600"/>
            <a:ext cx="59893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450" dirty="0">
                <a:solidFill>
                  <a:srgbClr val="A9B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AI-ranked match score across five signals, shown in full. A 48-hour response window, and a 10-day notice period with pay guaranteed through the last day worked.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640080" y="6327648"/>
            <a:ext cx="10908792" cy="82296"/>
          </a:xfrm>
          <a:prstGeom prst="rect">
            <a:avLst/>
          </a:prstGeom>
          <a:solidFill>
            <a:srgbClr val="1A2140"/>
          </a:solidFill>
          <a:ln/>
        </p:spPr>
      </p:sp>
      <p:sp>
        <p:nvSpPr>
          <p:cNvPr id="7" name="!!Spine"/>
          <p:cNvSpPr/>
          <p:nvPr/>
        </p:nvSpPr>
        <p:spPr>
          <a:xfrm>
            <a:off x="640080" y="6327648"/>
            <a:ext cx="6545275" cy="82296"/>
          </a:xfrm>
          <a:prstGeom prst="rect">
            <a:avLst/>
          </a:prstGeom>
          <a:solidFill>
            <a:srgbClr val="13B8A0"/>
          </a:solidFill>
          <a:ln/>
        </p:spPr>
      </p:sp>
      <p:sp>
        <p:nvSpPr>
          <p:cNvPr id="8" name="!!Hero_Module"/>
          <p:cNvSpPr/>
          <p:nvPr/>
        </p:nvSpPr>
        <p:spPr>
          <a:xfrm>
            <a:off x="8526780" y="2583180"/>
            <a:ext cx="1874520" cy="1874520"/>
          </a:xfrm>
          <a:prstGeom prst="ellipse">
            <a:avLst/>
          </a:prstGeom>
          <a:solidFill>
            <a:srgbClr val="13B8A0">
              <a:alpha val="43000"/>
            </a:srgbClr>
          </a:solidFill>
          <a:ln w="31750">
            <a:solidFill>
              <a:srgbClr val="13B8A0"/>
            </a:solidFill>
            <a:prstDash val="solid"/>
          </a:ln>
          <a:effectLst>
            <a:outerShdw sx="100000" sy="100000" kx="0" ky="0" algn="bl" rotWithShape="0" blurRad="177800" dist="76200" dir="5400000">
              <a:srgbClr val="000000">
                <a:alpha val="4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9203253" y="3293669"/>
            <a:ext cx="521574" cy="453542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/>
        </p:spPr>
      </p:sp>
      <p:sp>
        <p:nvSpPr>
          <p:cNvPr id="10" name="Shape 8"/>
          <p:cNvSpPr/>
          <p:nvPr/>
        </p:nvSpPr>
        <p:spPr>
          <a:xfrm>
            <a:off x="9203253" y="3293669"/>
            <a:ext cx="521574" cy="124724"/>
          </a:xfrm>
          <a:prstGeom prst="rect">
            <a:avLst/>
          </a:prstGeom>
          <a:solidFill>
            <a:srgbClr val="0D1225"/>
          </a:solidFill>
          <a:ln/>
        </p:spPr>
      </p:sp>
      <p:sp>
        <p:nvSpPr>
          <p:cNvPr id="11" name="Shape 9"/>
          <p:cNvSpPr/>
          <p:nvPr/>
        </p:nvSpPr>
        <p:spPr>
          <a:xfrm rot="2700000">
            <a:off x="9391473" y="3561259"/>
            <a:ext cx="77102" cy="36283"/>
          </a:xfrm>
          <a:prstGeom prst="rect">
            <a:avLst/>
          </a:prstGeom>
          <a:solidFill>
            <a:srgbClr val="0D1225"/>
          </a:solidFill>
          <a:ln/>
        </p:spPr>
      </p:sp>
      <p:sp>
        <p:nvSpPr>
          <p:cNvPr id="12" name="Shape 10"/>
          <p:cNvSpPr/>
          <p:nvPr/>
        </p:nvSpPr>
        <p:spPr>
          <a:xfrm rot="-2700000">
            <a:off x="9450434" y="3493227"/>
            <a:ext cx="36283" cy="140598"/>
          </a:xfrm>
          <a:prstGeom prst="rect">
            <a:avLst/>
          </a:prstGeom>
          <a:solidFill>
            <a:srgbClr val="0D1225"/>
          </a:solidFill>
          <a:ln/>
        </p:spPr>
      </p:sp>
      <p:sp>
        <p:nvSpPr>
          <p:cNvPr id="13" name="Text 11"/>
          <p:cNvSpPr/>
          <p:nvPr/>
        </p:nvSpPr>
        <p:spPr>
          <a:xfrm>
            <a:off x="8549640" y="47548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6E7B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8</a:t>
            </a:r>
            <a:endParaRPr lang="en-US" sz="1000" dirty="0"/>
          </a:p>
        </p:txBody>
      </p:sp>
    </p:spTree>
  </p:cSld>
  <p:clrMapOvr>
    <a:masterClrMapping/>
  </p:clrMapOvr>
  <p:transition xmlns:p14="http://schemas.microsoft.com/office/powerpoint/2010/main" p14:dur="700" spd="slow">
    <p159:morph xmlns:p159="http://schemas.microsoft.com/office/powerpoint/2015/09/main" option="byObject"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D122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6E7B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06–07 · DEEPFACE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9079992" y="384048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spc="200" kern="0" dirty="0">
                <a:solidFill>
                  <a:srgbClr val="F2B70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20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1051560"/>
            <a:ext cx="6492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 Verification at</a:t>
            </a:r>
            <a:endParaRPr lang="en-US" sz="3400" dirty="0"/>
          </a:p>
          <a:p>
            <a:pPr algn="l" indent="0" marL="0">
              <a:lnSpc>
                <a:spcPct val="103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Gate — Never a Denial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640080" y="2514600"/>
            <a:ext cx="59893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450" dirty="0">
                <a:solidFill>
                  <a:srgbClr val="A9B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Offline-first QR scans sync without ever duplicating. A DeepFace match below threshold never refuses entry — it asks a guard to decide, and logs that decision.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640080" y="6327648"/>
            <a:ext cx="10908792" cy="82296"/>
          </a:xfrm>
          <a:prstGeom prst="rect">
            <a:avLst/>
          </a:prstGeom>
          <a:solidFill>
            <a:srgbClr val="1A2140"/>
          </a:solidFill>
          <a:ln/>
        </p:spPr>
      </p:sp>
      <p:sp>
        <p:nvSpPr>
          <p:cNvPr id="7" name="!!Spine"/>
          <p:cNvSpPr/>
          <p:nvPr/>
        </p:nvSpPr>
        <p:spPr>
          <a:xfrm>
            <a:off x="640080" y="6327648"/>
            <a:ext cx="7090715" cy="82296"/>
          </a:xfrm>
          <a:prstGeom prst="rect">
            <a:avLst/>
          </a:prstGeom>
          <a:solidFill>
            <a:srgbClr val="3B5BDB"/>
          </a:solidFill>
          <a:ln/>
        </p:spPr>
      </p:sp>
      <p:sp>
        <p:nvSpPr>
          <p:cNvPr id="8" name="!!Hero_Module"/>
          <p:cNvSpPr/>
          <p:nvPr/>
        </p:nvSpPr>
        <p:spPr>
          <a:xfrm>
            <a:off x="8526780" y="2583180"/>
            <a:ext cx="1874520" cy="1874520"/>
          </a:xfrm>
          <a:prstGeom prst="ellipse">
            <a:avLst/>
          </a:prstGeom>
          <a:solidFill>
            <a:srgbClr val="3B5BDB">
              <a:alpha val="57000"/>
            </a:srgbClr>
          </a:solidFill>
          <a:ln w="31750">
            <a:solidFill>
              <a:srgbClr val="3B5BDB"/>
            </a:solidFill>
            <a:prstDash val="solid"/>
          </a:ln>
          <a:effectLst>
            <a:outerShdw sx="100000" sy="100000" kx="0" ky="0" algn="bl" rotWithShape="0" blurRad="177800" dist="76200" dir="5400000">
              <a:srgbClr val="000000">
                <a:alpha val="4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9203253" y="3259653"/>
            <a:ext cx="521574" cy="521574"/>
          </a:xfrm>
          <a:prstGeom prst="roundRect">
            <a:avLst>
              <a:gd name="adj" fmla="val 10870"/>
            </a:avLst>
          </a:prstGeom>
          <a:ln w="31750">
            <a:solidFill>
              <a:srgbClr val="FFFFF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327977" y="3350362"/>
            <a:ext cx="272125" cy="328818"/>
          </a:xfrm>
          <a:prstGeom prst="ellipse">
            <a:avLst/>
          </a:prstGeom>
          <a:solidFill>
            <a:srgbClr val="FFFFFF">
              <a:alpha val="22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9203253" y="3509101"/>
            <a:ext cx="521574" cy="2551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2" name="Text 10"/>
          <p:cNvSpPr/>
          <p:nvPr/>
        </p:nvSpPr>
        <p:spPr>
          <a:xfrm>
            <a:off x="8549640" y="47548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6E7B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8</a:t>
            </a:r>
            <a:endParaRPr lang="en-US" sz="1000" dirty="0"/>
          </a:p>
        </p:txBody>
      </p:sp>
    </p:spTree>
  </p:cSld>
  <p:clrMapOvr>
    <a:masterClrMapping/>
  </p:clrMapOvr>
  <p:transition xmlns:p14="http://schemas.microsoft.com/office/powerpoint/2010/main" p14:dur="700" spd="slow">
    <p159:morph xmlns:p159="http://schemas.microsoft.com/office/powerpoint/2015/09/main" option="byObject"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D122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6E7B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08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9079992" y="384048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spc="200" kern="0" dirty="0">
                <a:solidFill>
                  <a:srgbClr val="F2B70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20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1051560"/>
            <a:ext cx="6492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Rupee,</a:t>
            </a:r>
            <a:endParaRPr lang="en-US" sz="3400" dirty="0"/>
          </a:p>
          <a:p>
            <a:pPr algn="l" indent="0" marL="0">
              <a:lnSpc>
                <a:spcPct val="103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Accounted For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640080" y="2514600"/>
            <a:ext cx="59893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450" dirty="0">
                <a:solidFill>
                  <a:srgbClr val="A9B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Money is stored as integer paise, never a float. Settlement happens only on a signature-verified Razorpay event, and 100% of every tip reaches the worker.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640080" y="6327648"/>
            <a:ext cx="10908792" cy="82296"/>
          </a:xfrm>
          <a:prstGeom prst="rect">
            <a:avLst/>
          </a:prstGeom>
          <a:solidFill>
            <a:srgbClr val="1A2140"/>
          </a:solidFill>
          <a:ln/>
        </p:spPr>
      </p:sp>
      <p:sp>
        <p:nvSpPr>
          <p:cNvPr id="7" name="!!Spine"/>
          <p:cNvSpPr/>
          <p:nvPr/>
        </p:nvSpPr>
        <p:spPr>
          <a:xfrm>
            <a:off x="640080" y="6327648"/>
            <a:ext cx="7636154" cy="82296"/>
          </a:xfrm>
          <a:prstGeom prst="rect">
            <a:avLst/>
          </a:prstGeom>
          <a:solidFill>
            <a:srgbClr val="13B8A0"/>
          </a:solidFill>
          <a:ln/>
        </p:spPr>
      </p:sp>
      <p:sp>
        <p:nvSpPr>
          <p:cNvPr id="8" name="!!Hero_Module"/>
          <p:cNvSpPr/>
          <p:nvPr/>
        </p:nvSpPr>
        <p:spPr>
          <a:xfrm>
            <a:off x="8526780" y="2583180"/>
            <a:ext cx="1874520" cy="1874520"/>
          </a:xfrm>
          <a:prstGeom prst="ellipse">
            <a:avLst/>
          </a:prstGeom>
          <a:solidFill>
            <a:srgbClr val="13B8A0">
              <a:alpha val="71000"/>
            </a:srgbClr>
          </a:solidFill>
          <a:ln w="31750">
            <a:solidFill>
              <a:srgbClr val="13B8A0"/>
            </a:solidFill>
            <a:prstDash val="solid"/>
          </a:ln>
          <a:effectLst>
            <a:outerShdw sx="100000" sy="100000" kx="0" ky="0" algn="bl" rotWithShape="0" blurRad="177800" dist="76200" dir="5400000">
              <a:srgbClr val="000000">
                <a:alpha val="4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9180576" y="3225637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52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</a:t>
            </a:r>
            <a:endParaRPr lang="en-US" sz="2852" dirty="0"/>
          </a:p>
        </p:txBody>
      </p:sp>
      <p:sp>
        <p:nvSpPr>
          <p:cNvPr id="10" name="Text 8"/>
          <p:cNvSpPr/>
          <p:nvPr/>
        </p:nvSpPr>
        <p:spPr>
          <a:xfrm>
            <a:off x="8549640" y="47548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6E7B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8</a:t>
            </a:r>
            <a:endParaRPr lang="en-US" sz="1000" dirty="0"/>
          </a:p>
        </p:txBody>
      </p:sp>
    </p:spTree>
  </p:cSld>
  <p:clrMapOvr>
    <a:masterClrMapping/>
  </p:clrMapOvr>
  <p:transition xmlns:p14="http://schemas.microsoft.com/office/powerpoint/2010/main" p14:dur="700" spd="slow">
    <p159:morph xmlns:p159="http://schemas.microsoft.com/office/powerpoint/2015/09/main" option="byObject"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D122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6E7B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09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9079992" y="384048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spc="200" kern="0" dirty="0">
                <a:solidFill>
                  <a:srgbClr val="F2B70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20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1051560"/>
            <a:ext cx="6492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Score You Can</a:t>
            </a:r>
            <a:endParaRPr lang="en-US" sz="3400" dirty="0"/>
          </a:p>
          <a:p>
            <a:pPr algn="l" indent="0" marL="0">
              <a:lnSpc>
                <a:spcPct val="103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Actually Explain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640080" y="2514600"/>
            <a:ext cx="59893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450" dirty="0">
                <a:solidFill>
                  <a:srgbClr val="A9B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worker's score weighs ratings, attendance, verification, and completion. A resident's weighs payment punctuality highest. Every score stores its own reasoning, frozen at computation.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640080" y="6327648"/>
            <a:ext cx="10908792" cy="82296"/>
          </a:xfrm>
          <a:prstGeom prst="rect">
            <a:avLst/>
          </a:prstGeom>
          <a:solidFill>
            <a:srgbClr val="1A2140"/>
          </a:solidFill>
          <a:ln/>
        </p:spPr>
      </p:sp>
      <p:sp>
        <p:nvSpPr>
          <p:cNvPr id="7" name="!!Spine"/>
          <p:cNvSpPr/>
          <p:nvPr/>
        </p:nvSpPr>
        <p:spPr>
          <a:xfrm>
            <a:off x="640080" y="6327648"/>
            <a:ext cx="8181594" cy="82296"/>
          </a:xfrm>
          <a:prstGeom prst="rect">
            <a:avLst/>
          </a:prstGeom>
          <a:solidFill>
            <a:srgbClr val="3B5BDB"/>
          </a:solidFill>
          <a:ln/>
        </p:spPr>
      </p:sp>
      <p:sp>
        <p:nvSpPr>
          <p:cNvPr id="8" name="!!Hero_Module"/>
          <p:cNvSpPr/>
          <p:nvPr/>
        </p:nvSpPr>
        <p:spPr>
          <a:xfrm>
            <a:off x="8526780" y="2583180"/>
            <a:ext cx="1874520" cy="1874520"/>
          </a:xfrm>
          <a:prstGeom prst="ellipse">
            <a:avLst/>
          </a:prstGeom>
          <a:solidFill>
            <a:srgbClr val="3B5BDB">
              <a:alpha val="86000"/>
            </a:srgbClr>
          </a:solidFill>
          <a:ln w="31750">
            <a:solidFill>
              <a:srgbClr val="3B5BDB"/>
            </a:solidFill>
            <a:prstDash val="solid"/>
          </a:ln>
          <a:effectLst>
            <a:outerShdw sx="100000" sy="100000" kx="0" ky="0" algn="bl" rotWithShape="0" blurRad="177800" dist="76200" dir="5400000">
              <a:srgbClr val="000000">
                <a:alpha val="4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9203253" y="3259653"/>
            <a:ext cx="521574" cy="521574"/>
          </a:xfrm>
          <a:prstGeom prst="star5">
            <a:avLst/>
          </a:prstGeom>
          <a:solidFill>
            <a:srgbClr val="FFFFFF"/>
          </a:solidFill>
          <a:ln/>
        </p:spPr>
      </p:sp>
      <p:sp>
        <p:nvSpPr>
          <p:cNvPr id="10" name="Text 8"/>
          <p:cNvSpPr/>
          <p:nvPr/>
        </p:nvSpPr>
        <p:spPr>
          <a:xfrm>
            <a:off x="8549640" y="47548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6E7B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8</a:t>
            </a:r>
            <a:endParaRPr lang="en-US" sz="1000" dirty="0"/>
          </a:p>
        </p:txBody>
      </p:sp>
    </p:spTree>
  </p:cSld>
  <p:clrMapOvr>
    <a:masterClrMapping/>
  </p:clrMapOvr>
  <p:transition xmlns:p14="http://schemas.microsoft.com/office/powerpoint/2010/main" p14:dur="700" spd="slow">
    <p159:morph xmlns:p159="http://schemas.microsoft.com/office/powerpoint/2015/09/main" option="byObject"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D122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6E7B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10·11·13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9079992" y="384048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spc="200" kern="0" dirty="0">
                <a:solidFill>
                  <a:srgbClr val="F2B70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/ 20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1051560"/>
            <a:ext cx="6492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Informed,</a:t>
            </a:r>
            <a:endParaRPr lang="en-US" sz="3400" dirty="0"/>
          </a:p>
          <a:p>
            <a:pPr algn="l" indent="0" marL="0">
              <a:lnSpc>
                <a:spcPct val="103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Left Waiting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640080" y="2514600"/>
            <a:ext cx="59893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450" dirty="0">
                <a:solidFill>
                  <a:srgbClr val="A9B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 alerts and urgent-leave notices can never be muted. Complaints run on a real SLA clock, and every offline sync is idempotent — a retried batch never double-counts.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640080" y="6327648"/>
            <a:ext cx="10908792" cy="82296"/>
          </a:xfrm>
          <a:prstGeom prst="rect">
            <a:avLst/>
          </a:prstGeom>
          <a:solidFill>
            <a:srgbClr val="1A2140"/>
          </a:solidFill>
          <a:ln/>
        </p:spPr>
      </p:sp>
      <p:sp>
        <p:nvSpPr>
          <p:cNvPr id="7" name="!!Spine"/>
          <p:cNvSpPr/>
          <p:nvPr/>
        </p:nvSpPr>
        <p:spPr>
          <a:xfrm>
            <a:off x="640080" y="6327648"/>
            <a:ext cx="8727034" cy="82296"/>
          </a:xfrm>
          <a:prstGeom prst="rect">
            <a:avLst/>
          </a:prstGeom>
          <a:solidFill>
            <a:srgbClr val="13B8A0"/>
          </a:solidFill>
          <a:ln/>
        </p:spPr>
      </p:sp>
      <p:sp>
        <p:nvSpPr>
          <p:cNvPr id="8" name="!!Hero_Module"/>
          <p:cNvSpPr/>
          <p:nvPr/>
        </p:nvSpPr>
        <p:spPr>
          <a:xfrm>
            <a:off x="8526780" y="2583180"/>
            <a:ext cx="1874520" cy="1874520"/>
          </a:xfrm>
          <a:prstGeom prst="ellipse">
            <a:avLst/>
          </a:prstGeom>
          <a:solidFill>
            <a:srgbClr val="13B8A0"/>
          </a:solidFill>
          <a:ln w="31750">
            <a:solidFill>
              <a:srgbClr val="13B8A0"/>
            </a:solidFill>
            <a:prstDash val="solid"/>
          </a:ln>
          <a:effectLst>
            <a:outerShdw sx="100000" sy="100000" kx="0" ky="0" algn="bl" rotWithShape="0" blurRad="177800" dist="76200" dir="5400000">
              <a:srgbClr val="000000">
                <a:alpha val="4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9225930" y="3282330"/>
            <a:ext cx="476220" cy="476220"/>
          </a:xfrm>
          <a:prstGeom prst="gear6">
            <a:avLst/>
          </a:prstGeom>
          <a:solidFill>
            <a:srgbClr val="FFFFFF"/>
          </a:solidFill>
          <a:ln/>
        </p:spPr>
      </p:sp>
      <p:sp>
        <p:nvSpPr>
          <p:cNvPr id="10" name="Text 8"/>
          <p:cNvSpPr/>
          <p:nvPr/>
        </p:nvSpPr>
        <p:spPr>
          <a:xfrm>
            <a:off x="8549640" y="47548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6E7B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8</a:t>
            </a:r>
            <a:endParaRPr lang="en-US" sz="1000" dirty="0"/>
          </a:p>
        </p:txBody>
      </p:sp>
    </p:spTree>
  </p:cSld>
  <p:clrMapOvr>
    <a:masterClrMapping/>
  </p:clrMapOvr>
  <p:transition xmlns:p14="http://schemas.microsoft.com/office/powerpoint/2010/main" p14:dur="700" spd="slow">
    <p159:morph xmlns:p159="http://schemas.microsoft.com/office/powerpoint/2015/09/main" option="byObject"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D122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6E7B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INTELLIGENT FEATURES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9079992" y="384048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spc="200" kern="0" dirty="0">
                <a:solidFill>
                  <a:srgbClr val="F2B70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/ 20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1051560"/>
            <a:ext cx="6492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Providers Deep,</a:t>
            </a:r>
            <a:endParaRPr lang="en-US" sz="3400" dirty="0"/>
          </a:p>
          <a:p>
            <a:pPr algn="l" indent="0" marL="0">
              <a:lnSpc>
                <a:spcPct val="103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Silent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640080" y="2514600"/>
            <a:ext cx="5852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450" dirty="0">
                <a:solidFill>
                  <a:srgbClr val="A9B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AI feature ships with a deterministic fallback — required by the same shared utility every call must pass through.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640080" y="6327648"/>
            <a:ext cx="10908792" cy="82296"/>
          </a:xfrm>
          <a:prstGeom prst="rect">
            <a:avLst/>
          </a:prstGeom>
          <a:solidFill>
            <a:srgbClr val="1A2140"/>
          </a:solidFill>
          <a:ln/>
        </p:spPr>
      </p:sp>
      <p:sp>
        <p:nvSpPr>
          <p:cNvPr id="7" name="!!Spine"/>
          <p:cNvSpPr/>
          <p:nvPr/>
        </p:nvSpPr>
        <p:spPr>
          <a:xfrm>
            <a:off x="640080" y="6327648"/>
            <a:ext cx="9272473" cy="82296"/>
          </a:xfrm>
          <a:prstGeom prst="rect">
            <a:avLst/>
          </a:prstGeom>
          <a:solidFill>
            <a:srgbClr val="3B5BDB"/>
          </a:solidFill>
          <a:ln/>
        </p:spPr>
      </p:sp>
      <p:sp>
        <p:nvSpPr>
          <p:cNvPr id="8" name="!!Hero_AI"/>
          <p:cNvSpPr/>
          <p:nvPr/>
        </p:nvSpPr>
        <p:spPr>
          <a:xfrm>
            <a:off x="9098280" y="2834640"/>
            <a:ext cx="731520" cy="1371600"/>
          </a:xfrm>
          <a:prstGeom prst="lightningBolt">
            <a:avLst/>
          </a:prstGeom>
          <a:solidFill>
            <a:srgbClr val="F2B705"/>
          </a:solidFill>
          <a:ln/>
          <a:effectLst>
            <a:outerShdw sx="100000" sy="100000" kx="0" ky="0" algn="bl" rotWithShape="0" blurRad="177800" dist="76200" dir="5400000">
              <a:srgbClr val="000000">
                <a:alpha val="4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1481328" y="5349240"/>
            <a:ext cx="2554224" cy="0"/>
          </a:xfrm>
          <a:prstGeom prst="line">
            <a:avLst/>
          </a:prstGeom>
          <a:noFill/>
          <a:ln w="25400">
            <a:solidFill>
              <a:srgbClr val="8792AD"/>
            </a:solidFill>
            <a:prstDash val="dash"/>
          </a:ln>
        </p:spPr>
      </p:sp>
      <p:sp>
        <p:nvSpPr>
          <p:cNvPr id="10" name="Shape 8"/>
          <p:cNvSpPr/>
          <p:nvPr/>
        </p:nvSpPr>
        <p:spPr>
          <a:xfrm>
            <a:off x="4803648" y="5349240"/>
            <a:ext cx="2554224" cy="0"/>
          </a:xfrm>
          <a:prstGeom prst="line">
            <a:avLst/>
          </a:prstGeom>
          <a:noFill/>
          <a:ln w="25400">
            <a:solidFill>
              <a:srgbClr val="8792AD"/>
            </a:solidFill>
            <a:prstDash val="dash"/>
          </a:ln>
        </p:spPr>
      </p:sp>
      <p:sp>
        <p:nvSpPr>
          <p:cNvPr id="11" name="Shape 9"/>
          <p:cNvSpPr/>
          <p:nvPr/>
        </p:nvSpPr>
        <p:spPr>
          <a:xfrm>
            <a:off x="8125968" y="5349240"/>
            <a:ext cx="2554224" cy="0"/>
          </a:xfrm>
          <a:prstGeom prst="line">
            <a:avLst/>
          </a:prstGeom>
          <a:noFill/>
          <a:ln w="25400">
            <a:solidFill>
              <a:srgbClr val="8792AD"/>
            </a:solidFill>
            <a:prstDash val="dash"/>
          </a:ln>
        </p:spPr>
      </p:sp>
      <p:sp>
        <p:nvSpPr>
          <p:cNvPr id="12" name="Shape 10"/>
          <p:cNvSpPr/>
          <p:nvPr/>
        </p:nvSpPr>
        <p:spPr>
          <a:xfrm>
            <a:off x="713232" y="4965192"/>
            <a:ext cx="768096" cy="768096"/>
          </a:xfrm>
          <a:prstGeom prst="ellipse">
            <a:avLst/>
          </a:prstGeom>
          <a:solidFill>
            <a:srgbClr val="3B5BD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13232" y="4965192"/>
            <a:ext cx="768096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411480" y="582472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A9B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035552" y="4965192"/>
            <a:ext cx="768096" cy="768096"/>
          </a:xfrm>
          <a:prstGeom prst="ellipse">
            <a:avLst/>
          </a:prstGeom>
          <a:solidFill>
            <a:srgbClr val="3B5BDB">
              <a:alpha val="80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035552" y="4965192"/>
            <a:ext cx="768096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3733800" y="582472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A9B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Groq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7357872" y="4965192"/>
            <a:ext cx="768096" cy="768096"/>
          </a:xfrm>
          <a:prstGeom prst="ellipse">
            <a:avLst/>
          </a:prstGeom>
          <a:solidFill>
            <a:srgbClr val="3B5BDB">
              <a:alpha val="60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357872" y="4965192"/>
            <a:ext cx="768096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7056120" y="582472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A9B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OpenRouter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10680192" y="4965192"/>
            <a:ext cx="768096" cy="768096"/>
          </a:xfrm>
          <a:prstGeom prst="ellipse">
            <a:avLst/>
          </a:prstGeom>
          <a:solidFill>
            <a:srgbClr val="3B5BDB">
              <a:alpha val="40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0680192" y="4965192"/>
            <a:ext cx="768096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10378440" y="582472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A9B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Hugging Face</a:t>
            </a:r>
            <a:endParaRPr lang="en-US" sz="1050" dirty="0"/>
          </a:p>
        </p:txBody>
      </p:sp>
    </p:spTree>
  </p:cSld>
  <p:clrMapOvr>
    <a:masterClrMapping/>
  </p:clrMapOvr>
  <p:transition xmlns:p14="http://schemas.microsoft.com/office/powerpoint/2010/main" p14:dur="700" spd="slow">
    <p159:morph xmlns:p159="http://schemas.microsoft.com/office/powerpoint/2015/09/main" option="byObject"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D122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6E7B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NON-FUNCTIONAL REQUIREMENTS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9079992" y="384048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spc="200" kern="0" dirty="0">
                <a:solidFill>
                  <a:srgbClr val="F2B70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/ 20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1051560"/>
            <a:ext cx="6492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 Enough, Safe</a:t>
            </a:r>
            <a:endParaRPr lang="en-US" sz="3400" dirty="0"/>
          </a:p>
          <a:p>
            <a:pPr algn="l" indent="0" marL="0">
              <a:lnSpc>
                <a:spcPct val="103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Enough, Built to Last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640080" y="2514600"/>
            <a:ext cx="5989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450" dirty="0">
                <a:solidFill>
                  <a:srgbClr val="A9B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Offline-first gate decisions · default-deny RBAC · structural multi-tenancy · HTTPS everywhere · PCI-DSS via Razorpay.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640080" y="6327648"/>
            <a:ext cx="10908792" cy="82296"/>
          </a:xfrm>
          <a:prstGeom prst="rect">
            <a:avLst/>
          </a:prstGeom>
          <a:solidFill>
            <a:srgbClr val="1A2140"/>
          </a:solidFill>
          <a:ln/>
        </p:spPr>
      </p:sp>
      <p:sp>
        <p:nvSpPr>
          <p:cNvPr id="7" name="!!Spine"/>
          <p:cNvSpPr/>
          <p:nvPr/>
        </p:nvSpPr>
        <p:spPr>
          <a:xfrm>
            <a:off x="640080" y="6327648"/>
            <a:ext cx="9817913" cy="82296"/>
          </a:xfrm>
          <a:prstGeom prst="rect">
            <a:avLst/>
          </a:prstGeom>
          <a:solidFill>
            <a:srgbClr val="13B8A0"/>
          </a:solidFill>
          <a:ln/>
        </p:spPr>
      </p:sp>
      <p:sp>
        <p:nvSpPr>
          <p:cNvPr id="8" name="!!Hero_NFR"/>
          <p:cNvSpPr/>
          <p:nvPr/>
        </p:nvSpPr>
        <p:spPr>
          <a:xfrm>
            <a:off x="8549640" y="2606040"/>
            <a:ext cx="1828800" cy="1828800"/>
          </a:xfrm>
          <a:prstGeom prst="octagon">
            <a:avLst/>
          </a:prstGeom>
          <a:solidFill>
            <a:srgbClr val="13B8A0"/>
          </a:solidFill>
          <a:ln/>
          <a:effectLst>
            <a:outerShdw sx="100000" sy="100000" kx="0" ky="0" algn="bl" rotWithShape="0" blurRad="177800" dist="76200" dir="5400000">
              <a:srgbClr val="000000">
                <a:alpha val="4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 rot="2700000">
            <a:off x="9200693" y="3503981"/>
            <a:ext cx="279806" cy="13167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0" name="Shape 8"/>
          <p:cNvSpPr/>
          <p:nvPr/>
        </p:nvSpPr>
        <p:spPr>
          <a:xfrm rot="-2700000">
            <a:off x="9414662" y="3257093"/>
            <a:ext cx="131674" cy="510235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1" name="Shape 9"/>
          <p:cNvSpPr/>
          <p:nvPr/>
        </p:nvSpPr>
        <p:spPr>
          <a:xfrm>
            <a:off x="640080" y="4160520"/>
            <a:ext cx="5349240" cy="868680"/>
          </a:xfrm>
          <a:prstGeom prst="roundRect">
            <a:avLst>
              <a:gd name="adj" fmla="val 10526"/>
            </a:avLst>
          </a:prstGeom>
          <a:solidFill>
            <a:srgbClr val="1A2140"/>
          </a:solidFill>
          <a:ln/>
        </p:spPr>
      </p:sp>
      <p:sp>
        <p:nvSpPr>
          <p:cNvPr id="12" name="Text 10"/>
          <p:cNvSpPr/>
          <p:nvPr/>
        </p:nvSpPr>
        <p:spPr>
          <a:xfrm>
            <a:off x="822960" y="4251960"/>
            <a:ext cx="4983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F2B70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822960" y="4544568"/>
            <a:ext cx="4983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9B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Offline gate decisions, no network wait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217920" y="4160520"/>
            <a:ext cx="5349240" cy="868680"/>
          </a:xfrm>
          <a:prstGeom prst="roundRect">
            <a:avLst>
              <a:gd name="adj" fmla="val 10526"/>
            </a:avLst>
          </a:prstGeom>
          <a:solidFill>
            <a:srgbClr val="1A2140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0" y="4251960"/>
            <a:ext cx="4983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F2B70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400800" y="4544568"/>
            <a:ext cx="4983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9B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Default-deny RBAC, hashed Aadhaar only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640080" y="5212080"/>
            <a:ext cx="5349240" cy="868680"/>
          </a:xfrm>
          <a:prstGeom prst="roundRect">
            <a:avLst>
              <a:gd name="adj" fmla="val 10526"/>
            </a:avLst>
          </a:prstGeom>
          <a:solidFill>
            <a:srgbClr val="1A2140"/>
          </a:solidFill>
          <a:ln/>
        </p:spPr>
      </p:sp>
      <p:sp>
        <p:nvSpPr>
          <p:cNvPr id="18" name="Text 16"/>
          <p:cNvSpPr/>
          <p:nvPr/>
        </p:nvSpPr>
        <p:spPr>
          <a:xfrm>
            <a:off x="822960" y="5303520"/>
            <a:ext cx="4983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F2B70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SCALABILITY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822960" y="5596128"/>
            <a:ext cx="4983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9B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Multi-tenant by construction, per society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6217920" y="5212080"/>
            <a:ext cx="5349240" cy="868680"/>
          </a:xfrm>
          <a:prstGeom prst="roundRect">
            <a:avLst>
              <a:gd name="adj" fmla="val 10526"/>
            </a:avLst>
          </a:prstGeom>
          <a:solidFill>
            <a:srgbClr val="1A2140"/>
          </a:solidFill>
          <a:ln/>
        </p:spPr>
      </p:sp>
      <p:sp>
        <p:nvSpPr>
          <p:cNvPr id="21" name="Text 19"/>
          <p:cNvSpPr/>
          <p:nvPr/>
        </p:nvSpPr>
        <p:spPr>
          <a:xfrm>
            <a:off x="6400800" y="5303520"/>
            <a:ext cx="4983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F2B70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RELIABILITY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400800" y="5596128"/>
            <a:ext cx="4983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9B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3-year audit trail, 7-year financial retention</a:t>
            </a:r>
            <a:endParaRPr lang="en-US" sz="1150" dirty="0"/>
          </a:p>
        </p:txBody>
      </p:sp>
    </p:spTree>
  </p:cSld>
  <p:clrMapOvr>
    <a:masterClrMapping/>
  </p:clrMapOvr>
  <p:transition xmlns:p14="http://schemas.microsoft.com/office/powerpoint/2010/main" p14:dur="700" spd="slow">
    <p159:morph xmlns:p159="http://schemas.microsoft.com/office/powerpoint/2015/09/main" option="byObject"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D122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6E7B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THINGS STAND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9079992" y="384048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spc="200" kern="0" dirty="0">
                <a:solidFill>
                  <a:srgbClr val="F2B70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 / 20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1051560"/>
            <a:ext cx="6492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in 14 Days.</a:t>
            </a:r>
            <a:endParaRPr lang="en-US" sz="3400" dirty="0"/>
          </a:p>
          <a:p>
            <a:pPr algn="l" indent="0" marL="0">
              <a:lnSpc>
                <a:spcPct val="103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Already Running.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640080" y="2514600"/>
            <a:ext cx="59893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450" dirty="0">
                <a:solidFill>
                  <a:srgbClr val="A9B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working, tested, deployed system — not a proposal. Thirteen modules shipped, the four-tier AI fallback live, offline gate verification tested end to end.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640080" y="6327648"/>
            <a:ext cx="10908792" cy="82296"/>
          </a:xfrm>
          <a:prstGeom prst="rect">
            <a:avLst/>
          </a:prstGeom>
          <a:solidFill>
            <a:srgbClr val="1A2140"/>
          </a:solidFill>
          <a:ln/>
        </p:spPr>
      </p:sp>
      <p:sp>
        <p:nvSpPr>
          <p:cNvPr id="7" name="!!Spine"/>
          <p:cNvSpPr/>
          <p:nvPr/>
        </p:nvSpPr>
        <p:spPr>
          <a:xfrm>
            <a:off x="640080" y="6327648"/>
            <a:ext cx="10363352" cy="82296"/>
          </a:xfrm>
          <a:prstGeom prst="rect">
            <a:avLst/>
          </a:prstGeom>
          <a:solidFill>
            <a:srgbClr val="F2B705"/>
          </a:solidFill>
          <a:ln/>
        </p:spPr>
      </p:sp>
      <p:sp>
        <p:nvSpPr>
          <p:cNvPr id="8" name="Shape 6"/>
          <p:cNvSpPr/>
          <p:nvPr/>
        </p:nvSpPr>
        <p:spPr>
          <a:xfrm>
            <a:off x="8751722" y="3833165"/>
            <a:ext cx="277978" cy="486461"/>
          </a:xfrm>
          <a:prstGeom prst="roundRect">
            <a:avLst>
              <a:gd name="adj" fmla="val 15000"/>
            </a:avLst>
          </a:prstGeom>
          <a:solidFill>
            <a:srgbClr val="F2B705">
              <a:alpha val="40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9133942" y="3555187"/>
            <a:ext cx="277978" cy="764438"/>
          </a:xfrm>
          <a:prstGeom prst="roundRect">
            <a:avLst>
              <a:gd name="adj" fmla="val 15000"/>
            </a:avLst>
          </a:prstGeom>
          <a:solidFill>
            <a:srgbClr val="F2B705">
              <a:alpha val="60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9516161" y="3277210"/>
            <a:ext cx="277978" cy="1042416"/>
          </a:xfrm>
          <a:prstGeom prst="roundRect">
            <a:avLst>
              <a:gd name="adj" fmla="val 15000"/>
            </a:avLst>
          </a:prstGeom>
          <a:solidFill>
            <a:srgbClr val="F2B705">
              <a:alpha val="80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9898380" y="2999232"/>
            <a:ext cx="277978" cy="1320394"/>
          </a:xfrm>
          <a:prstGeom prst="roundRect">
            <a:avLst>
              <a:gd name="adj" fmla="val 15000"/>
            </a:avLst>
          </a:prstGeom>
          <a:solidFill>
            <a:srgbClr val="F2B705"/>
          </a:solidFill>
          <a:ln/>
        </p:spPr>
      </p:sp>
      <p:sp>
        <p:nvSpPr>
          <p:cNvPr id="12" name="Shape 10"/>
          <p:cNvSpPr/>
          <p:nvPr/>
        </p:nvSpPr>
        <p:spPr>
          <a:xfrm>
            <a:off x="640080" y="5349240"/>
            <a:ext cx="657062" cy="201168"/>
          </a:xfrm>
          <a:prstGeom prst="roundRect">
            <a:avLst>
              <a:gd name="adj" fmla="val 18182"/>
            </a:avLst>
          </a:prstGeom>
          <a:solidFill>
            <a:srgbClr val="F2B705">
              <a:alpha val="45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1352006" y="5349240"/>
            <a:ext cx="657062" cy="201168"/>
          </a:xfrm>
          <a:prstGeom prst="roundRect">
            <a:avLst>
              <a:gd name="adj" fmla="val 18182"/>
            </a:avLst>
          </a:prstGeom>
          <a:solidFill>
            <a:srgbClr val="F2B705">
              <a:alpha val="45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2063931" y="5349240"/>
            <a:ext cx="657062" cy="201168"/>
          </a:xfrm>
          <a:prstGeom prst="roundRect">
            <a:avLst>
              <a:gd name="adj" fmla="val 18182"/>
            </a:avLst>
          </a:prstGeom>
          <a:solidFill>
            <a:srgbClr val="F2B705">
              <a:alpha val="45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2775857" y="5349240"/>
            <a:ext cx="657062" cy="201168"/>
          </a:xfrm>
          <a:prstGeom prst="roundRect">
            <a:avLst>
              <a:gd name="adj" fmla="val 18182"/>
            </a:avLst>
          </a:prstGeom>
          <a:solidFill>
            <a:srgbClr val="F2B705">
              <a:alpha val="45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3487783" y="5349240"/>
            <a:ext cx="657062" cy="201168"/>
          </a:xfrm>
          <a:prstGeom prst="roundRect">
            <a:avLst>
              <a:gd name="adj" fmla="val 18182"/>
            </a:avLst>
          </a:prstGeom>
          <a:solidFill>
            <a:srgbClr val="F2B705">
              <a:alpha val="45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4199709" y="5349240"/>
            <a:ext cx="657062" cy="201168"/>
          </a:xfrm>
          <a:prstGeom prst="roundRect">
            <a:avLst>
              <a:gd name="adj" fmla="val 18182"/>
            </a:avLst>
          </a:prstGeom>
          <a:solidFill>
            <a:srgbClr val="F2B705">
              <a:alpha val="45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4911634" y="5349240"/>
            <a:ext cx="657062" cy="201168"/>
          </a:xfrm>
          <a:prstGeom prst="roundRect">
            <a:avLst>
              <a:gd name="adj" fmla="val 18182"/>
            </a:avLst>
          </a:prstGeom>
          <a:solidFill>
            <a:srgbClr val="F2B705">
              <a:alpha val="45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5623560" y="5349240"/>
            <a:ext cx="657062" cy="201168"/>
          </a:xfrm>
          <a:prstGeom prst="roundRect">
            <a:avLst>
              <a:gd name="adj" fmla="val 18182"/>
            </a:avLst>
          </a:prstGeom>
          <a:solidFill>
            <a:srgbClr val="F2B705">
              <a:alpha val="45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6335486" y="5349240"/>
            <a:ext cx="657062" cy="201168"/>
          </a:xfrm>
          <a:prstGeom prst="roundRect">
            <a:avLst>
              <a:gd name="adj" fmla="val 18182"/>
            </a:avLst>
          </a:prstGeom>
          <a:solidFill>
            <a:srgbClr val="F2B705">
              <a:alpha val="45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7047411" y="5349240"/>
            <a:ext cx="657062" cy="201168"/>
          </a:xfrm>
          <a:prstGeom prst="roundRect">
            <a:avLst>
              <a:gd name="adj" fmla="val 18182"/>
            </a:avLst>
          </a:prstGeom>
          <a:solidFill>
            <a:srgbClr val="F2B705">
              <a:alpha val="45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7759337" y="5349240"/>
            <a:ext cx="657062" cy="201168"/>
          </a:xfrm>
          <a:prstGeom prst="roundRect">
            <a:avLst>
              <a:gd name="adj" fmla="val 18182"/>
            </a:avLst>
          </a:prstGeom>
          <a:solidFill>
            <a:srgbClr val="F2B705">
              <a:alpha val="45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8471263" y="5349240"/>
            <a:ext cx="657062" cy="201168"/>
          </a:xfrm>
          <a:prstGeom prst="roundRect">
            <a:avLst>
              <a:gd name="adj" fmla="val 18182"/>
            </a:avLst>
          </a:prstGeom>
          <a:solidFill>
            <a:srgbClr val="F2B705">
              <a:alpha val="45000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9183189" y="5349240"/>
            <a:ext cx="657062" cy="201168"/>
          </a:xfrm>
          <a:prstGeom prst="roundRect">
            <a:avLst>
              <a:gd name="adj" fmla="val 18182"/>
            </a:avLst>
          </a:prstGeom>
          <a:solidFill>
            <a:srgbClr val="F2B705">
              <a:alpha val="45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9895114" y="5349240"/>
            <a:ext cx="657062" cy="201168"/>
          </a:xfrm>
          <a:prstGeom prst="roundRect">
            <a:avLst>
              <a:gd name="adj" fmla="val 18182"/>
            </a:avLst>
          </a:prstGeom>
          <a:solidFill>
            <a:srgbClr val="F2B705"/>
          </a:solidFill>
          <a:ln/>
        </p:spPr>
      </p:sp>
      <p:sp>
        <p:nvSpPr>
          <p:cNvPr id="26" name="Text 24"/>
          <p:cNvSpPr/>
          <p:nvPr/>
        </p:nvSpPr>
        <p:spPr>
          <a:xfrm>
            <a:off x="640080" y="562356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E7B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8778240" y="56235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F2B70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14 — SHIPPED</a:t>
            </a:r>
            <a:endParaRPr lang="en-US" sz="1000" dirty="0"/>
          </a:p>
        </p:txBody>
      </p:sp>
    </p:spTree>
  </p:cSld>
  <p:clrMapOvr>
    <a:masterClrMapping/>
  </p:clrMapOvr>
  <p:transition xmlns:p14="http://schemas.microsoft.com/office/powerpoint/2010/main" p14:dur="700" spd="slow">
    <p159:morph xmlns:p159="http://schemas.microsoft.com/office/powerpoint/2015/09/main" option="byObject"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D122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6E7B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TEAM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9079992" y="384048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spc="200" kern="0" dirty="0">
                <a:solidFill>
                  <a:srgbClr val="F2B70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/ 20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1051560"/>
            <a:ext cx="6492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People.</a:t>
            </a:r>
            <a:endParaRPr lang="en-US" sz="3400" dirty="0"/>
          </a:p>
          <a:p>
            <a:pPr algn="l" indent="0" marL="0">
              <a:lnSpc>
                <a:spcPct val="103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Thirteen Modules.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640080" y="2514600"/>
            <a:ext cx="5989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450" dirty="0">
                <a:solidFill>
                  <a:srgbClr val="A9B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end-to-end by a four-person team, each owning a slice of the platform — free to every worker, by design, permanently.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640080" y="6327648"/>
            <a:ext cx="10908792" cy="82296"/>
          </a:xfrm>
          <a:prstGeom prst="rect">
            <a:avLst/>
          </a:prstGeom>
          <a:solidFill>
            <a:srgbClr val="1A2140"/>
          </a:solidFill>
          <a:ln/>
        </p:spPr>
      </p:sp>
      <p:sp>
        <p:nvSpPr>
          <p:cNvPr id="7" name="!!Spine"/>
          <p:cNvSpPr/>
          <p:nvPr/>
        </p:nvSpPr>
        <p:spPr>
          <a:xfrm>
            <a:off x="640080" y="6327648"/>
            <a:ext cx="10908792" cy="82296"/>
          </a:xfrm>
          <a:prstGeom prst="rect">
            <a:avLst/>
          </a:prstGeom>
          <a:solidFill>
            <a:srgbClr val="F2B705"/>
          </a:solidFill>
          <a:ln/>
        </p:spPr>
      </p:sp>
      <p:sp>
        <p:nvSpPr>
          <p:cNvPr id="8" name="!!Hero_Team"/>
          <p:cNvSpPr/>
          <p:nvPr/>
        </p:nvSpPr>
        <p:spPr>
          <a:xfrm>
            <a:off x="8503920" y="1920240"/>
            <a:ext cx="1920240" cy="3200400"/>
          </a:xfrm>
          <a:prstGeom prst="roundRect">
            <a:avLst>
              <a:gd name="adj" fmla="val 13333"/>
            </a:avLst>
          </a:prstGeom>
          <a:ln w="31750">
            <a:solidFill>
              <a:srgbClr val="F2B705"/>
            </a:solidFill>
            <a:prstDash val="solid"/>
          </a:ln>
          <a:effectLst>
            <a:outerShdw sx="100000" sy="100000" kx="0" ky="0" algn="bl" rotWithShape="0" blurRad="177800" dist="76200" dir="5400000">
              <a:srgbClr val="000000">
                <a:alpha val="4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8659368" y="2148840"/>
            <a:ext cx="1609344" cy="2514600"/>
          </a:xfrm>
          <a:prstGeom prst="roundRect">
            <a:avLst>
              <a:gd name="adj" fmla="val 4545"/>
            </a:avLst>
          </a:prstGeom>
          <a:solidFill>
            <a:srgbClr val="F2B705">
              <a:alpha val="12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 rot="2700000">
            <a:off x="9215323" y="3413455"/>
            <a:ext cx="264262" cy="124358"/>
          </a:xfrm>
          <a:prstGeom prst="rect">
            <a:avLst/>
          </a:prstGeom>
          <a:solidFill>
            <a:srgbClr val="F2B705"/>
          </a:solidFill>
          <a:ln/>
        </p:spPr>
      </p:sp>
      <p:sp>
        <p:nvSpPr>
          <p:cNvPr id="11" name="Shape 9"/>
          <p:cNvSpPr/>
          <p:nvPr/>
        </p:nvSpPr>
        <p:spPr>
          <a:xfrm rot="-2700000">
            <a:off x="9417406" y="3180283"/>
            <a:ext cx="124358" cy="481889"/>
          </a:xfrm>
          <a:prstGeom prst="rect">
            <a:avLst/>
          </a:prstGeom>
          <a:solidFill>
            <a:srgbClr val="F2B705"/>
          </a:solidFill>
          <a:ln/>
        </p:spPr>
      </p:sp>
      <p:sp>
        <p:nvSpPr>
          <p:cNvPr id="12" name="Shape 10"/>
          <p:cNvSpPr/>
          <p:nvPr/>
        </p:nvSpPr>
        <p:spPr>
          <a:xfrm>
            <a:off x="9381744" y="4754880"/>
            <a:ext cx="164592" cy="164592"/>
          </a:xfrm>
          <a:prstGeom prst="ellipse">
            <a:avLst/>
          </a:prstGeom>
          <a:ln w="25400">
            <a:solidFill>
              <a:srgbClr val="F2B705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40080" y="4892040"/>
            <a:ext cx="914400" cy="914400"/>
          </a:xfrm>
          <a:prstGeom prst="ellipse">
            <a:avLst/>
          </a:prstGeom>
          <a:solidFill>
            <a:srgbClr val="3B5BDB"/>
          </a:solidFill>
          <a:ln w="38100">
            <a:solidFill>
              <a:srgbClr val="0D122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995233" y="5093208"/>
            <a:ext cx="204094" cy="204094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5" name="Shape 13"/>
          <p:cNvSpPr/>
          <p:nvPr/>
        </p:nvSpPr>
        <p:spPr>
          <a:xfrm flipV="1">
            <a:off x="904524" y="5331318"/>
            <a:ext cx="385511" cy="260787"/>
          </a:xfrm>
          <a:prstGeom prst="trapezoid">
            <a:avLst/>
          </a:prstGeom>
          <a:solidFill>
            <a:srgbClr val="FFFFFF"/>
          </a:solidFill>
          <a:ln/>
        </p:spPr>
      </p:sp>
      <p:sp>
        <p:nvSpPr>
          <p:cNvPr id="16" name="Shape 14"/>
          <p:cNvSpPr/>
          <p:nvPr/>
        </p:nvSpPr>
        <p:spPr>
          <a:xfrm>
            <a:off x="1234440" y="4892040"/>
            <a:ext cx="914400" cy="914400"/>
          </a:xfrm>
          <a:prstGeom prst="ellipse">
            <a:avLst/>
          </a:prstGeom>
          <a:solidFill>
            <a:srgbClr val="13B8A0"/>
          </a:solidFill>
          <a:ln w="38100">
            <a:solidFill>
              <a:srgbClr val="0D1225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589593" y="5093208"/>
            <a:ext cx="204094" cy="204094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8" name="Shape 16"/>
          <p:cNvSpPr/>
          <p:nvPr/>
        </p:nvSpPr>
        <p:spPr>
          <a:xfrm flipV="1">
            <a:off x="1498884" y="5331318"/>
            <a:ext cx="385511" cy="260787"/>
          </a:xfrm>
          <a:prstGeom prst="trapezoid">
            <a:avLst/>
          </a:prstGeom>
          <a:solidFill>
            <a:srgbClr val="FFFFFF"/>
          </a:solidFill>
          <a:ln/>
        </p:spPr>
      </p:sp>
      <p:sp>
        <p:nvSpPr>
          <p:cNvPr id="19" name="Shape 17"/>
          <p:cNvSpPr/>
          <p:nvPr/>
        </p:nvSpPr>
        <p:spPr>
          <a:xfrm>
            <a:off x="1828800" y="4892040"/>
            <a:ext cx="914400" cy="914400"/>
          </a:xfrm>
          <a:prstGeom prst="ellipse">
            <a:avLst/>
          </a:prstGeom>
          <a:solidFill>
            <a:srgbClr val="F2B705"/>
          </a:solidFill>
          <a:ln w="38100">
            <a:solidFill>
              <a:srgbClr val="0D1225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183953" y="5093208"/>
            <a:ext cx="204094" cy="204094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21" name="Shape 19"/>
          <p:cNvSpPr/>
          <p:nvPr/>
        </p:nvSpPr>
        <p:spPr>
          <a:xfrm flipV="1">
            <a:off x="2093244" y="5331318"/>
            <a:ext cx="385511" cy="260787"/>
          </a:xfrm>
          <a:prstGeom prst="trapezoid">
            <a:avLst/>
          </a:prstGeom>
          <a:solidFill>
            <a:srgbClr val="FFFFFF"/>
          </a:solidFill>
          <a:ln/>
        </p:spPr>
      </p:sp>
      <p:sp>
        <p:nvSpPr>
          <p:cNvPr id="22" name="Shape 20"/>
          <p:cNvSpPr/>
          <p:nvPr/>
        </p:nvSpPr>
        <p:spPr>
          <a:xfrm>
            <a:off x="2423160" y="4892040"/>
            <a:ext cx="914400" cy="914400"/>
          </a:xfrm>
          <a:prstGeom prst="ellipse">
            <a:avLst/>
          </a:prstGeom>
          <a:solidFill>
            <a:srgbClr val="3B5BDB"/>
          </a:solidFill>
          <a:ln w="38100">
            <a:solidFill>
              <a:srgbClr val="0D1225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778313" y="5093208"/>
            <a:ext cx="204094" cy="204094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24" name="Shape 22"/>
          <p:cNvSpPr/>
          <p:nvPr/>
        </p:nvSpPr>
        <p:spPr>
          <a:xfrm flipV="1">
            <a:off x="2687604" y="5331318"/>
            <a:ext cx="385511" cy="260787"/>
          </a:xfrm>
          <a:prstGeom prst="trapezoid">
            <a:avLst/>
          </a:prstGeom>
          <a:solidFill>
            <a:srgbClr val="FFFFFF"/>
          </a:solidFill>
          <a:ln/>
        </p:spPr>
      </p:sp>
      <p:sp>
        <p:nvSpPr>
          <p:cNvPr id="25" name="Text 23"/>
          <p:cNvSpPr/>
          <p:nvPr/>
        </p:nvSpPr>
        <p:spPr>
          <a:xfrm>
            <a:off x="640080" y="5971032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A9B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FLUTTER · DJANGO · AI/OCR · PRODUCT &amp; QA</a:t>
            </a:r>
            <a:endParaRPr lang="en-US" sz="1050" dirty="0"/>
          </a:p>
        </p:txBody>
      </p:sp>
    </p:spTree>
  </p:cSld>
  <p:clrMapOvr>
    <a:masterClrMapping/>
  </p:clrMapOvr>
  <p:transition xmlns:p14="http://schemas.microsoft.com/office/powerpoint/2010/main" p14:dur="700" spd="slow">
    <p159:morph xmlns:p159="http://schemas.microsoft.com/office/powerpoint/2015/09/main" option="byObject"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2026-08-09T09:23:49Z</dcterms:created>
  <dcterms:modified xsi:type="dcterms:W3CDTF">2026-08-09T09:23:49Z</dcterms:modified>
</cp:coreProperties>
</file>