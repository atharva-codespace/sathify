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Sathify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Sathify digitizes verified hiring, gate attendance, and digital payments for domestic workers — maids, cooks, cleaners — across India's gated residential societies.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DJANGO REST FRAMEWORK   ·   BUILT BY A 4-PERSON TEAM IN 14 DAYS</a:t>
            </a:r>
            <a:endParaRPr lang="en-US" sz="1100" dirty="0"/>
          </a:p>
        </p:txBody>
      </p:sp>
      <p:sp>
        <p:nvSpPr>
          <p:cNvPr id="6" name="!!Hero_Title"/>
          <p:cNvSpPr/>
          <p:nvPr/>
        </p:nvSpPr>
        <p:spPr>
          <a:xfrm>
            <a:off x="8686800" y="1828800"/>
            <a:ext cx="1920240" cy="3200400"/>
          </a:xfrm>
          <a:prstGeom prst="roundRect">
            <a:avLst>
              <a:gd name="adj" fmla="val 13333"/>
            </a:avLst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42248" y="2057400"/>
            <a:ext cx="1609344" cy="2514600"/>
          </a:xfrm>
          <a:prstGeom prst="roundRect">
            <a:avLst>
              <a:gd name="adj" fmla="val 4545"/>
            </a:avLst>
          </a:prstGeom>
          <a:ln w="19050">
            <a:solidFill>
              <a:srgbClr val="8792A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564624" y="4663440"/>
            <a:ext cx="164592" cy="164592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10" name="!!Spine"/>
          <p:cNvSpPr/>
          <p:nvPr/>
        </p:nvSpPr>
        <p:spPr>
          <a:xfrm>
            <a:off x="640080" y="6327648"/>
            <a:ext cx="545440" cy="82296"/>
          </a:xfrm>
          <a:prstGeom prst="rect">
            <a:avLst/>
          </a:prstGeom>
          <a:solidFill>
            <a:srgbClr val="5B658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on a Sheet of Paper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runs on word of mouth. Attendance lives in a paper register nobody audits. Payment is cash-only, and nothing about a worker's history follows them from one home to the next.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090879" cy="82296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8" name="!!Hero_Problem"/>
          <p:cNvSpPr/>
          <p:nvPr/>
        </p:nvSpPr>
        <p:spPr>
          <a:xfrm rot="-480000">
            <a:off x="8549640" y="2331720"/>
            <a:ext cx="1828800" cy="2377440"/>
          </a:xfrm>
          <a:prstGeom prst="roundRect">
            <a:avLst>
              <a:gd name="adj" fmla="val 2500"/>
            </a:avLst>
          </a:prstGeom>
          <a:ln w="31750">
            <a:solidFill>
              <a:srgbClr val="8792AD"/>
            </a:solidFill>
            <a:prstDash val="dash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7532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87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REGISTER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Record, No Recourse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 check before a stranger enters a home. No dispute process for either side. No score, no history — just word of mouth deciding who gets trusted.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636319" cy="82296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8" name="!!Hero_Problem"/>
          <p:cNvSpPr/>
          <p:nvPr/>
        </p:nvSpPr>
        <p:spPr>
          <a:xfrm rot="720000">
            <a:off x="8805672" y="2651760"/>
            <a:ext cx="1316736" cy="1737360"/>
          </a:xfrm>
          <a:prstGeom prst="roundRect">
            <a:avLst>
              <a:gd name="adj" fmla="val 3472"/>
            </a:avLst>
          </a:prstGeom>
          <a:solidFill>
            <a:srgbClr val="5B6584">
              <a:alpha val="12000"/>
            </a:srgbClr>
          </a:solidFill>
          <a:ln w="25400">
            <a:solidFill>
              <a:srgbClr val="8792AD"/>
            </a:solidFill>
            <a:prstDash val="dash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7532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87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RECORD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Verified Both Ways.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Government-ID KYC, an auditable gate log, two-way ratings, and digital payments with a guaranteed 100% tip payout — free for every worker, permanently.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2181758" cy="82296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8" name="!!Hero_Problem"/>
          <p:cNvSpPr/>
          <p:nvPr/>
        </p:nvSpPr>
        <p:spPr>
          <a:xfrm>
            <a:off x="8503920" y="2560320"/>
            <a:ext cx="1920240" cy="1920240"/>
          </a:xfrm>
          <a:prstGeom prst="roundRect">
            <a:avLst>
              <a:gd name="adj" fmla="val 15238"/>
            </a:avLst>
          </a:prstGeom>
          <a:solidFill>
            <a:srgbClr val="F2B705"/>
          </a:solidFill>
          <a:ln/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2700000">
            <a:off x="9171432" y="3502152"/>
            <a:ext cx="310896" cy="14630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0" name="Shape 8"/>
          <p:cNvSpPr/>
          <p:nvPr/>
        </p:nvSpPr>
        <p:spPr>
          <a:xfrm rot="-2700000">
            <a:off x="9409176" y="3227832"/>
            <a:ext cx="146304" cy="566928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SATHIFY</a:t>
            </a:r>
            <a:endParaRPr lang="en-US" sz="11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This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Must Get Right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5989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worker with government ID before they're ever hired.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gate entry — offline or connected, guard-scanned or self-checked-in.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trust score explainable, with the reasoning stored alongside it.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the society and the resident — never the worker.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2727198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Roles"/>
          <p:cNvSpPr/>
          <p:nvPr/>
        </p:nvSpPr>
        <p:spPr>
          <a:xfrm>
            <a:off x="8549640" y="2606040"/>
            <a:ext cx="1828800" cy="1828800"/>
          </a:xfrm>
          <a:prstGeom prst="ellipse">
            <a:avLst/>
          </a:prstGeom>
          <a:ln w="3810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52560" y="3108960"/>
            <a:ext cx="822960" cy="822960"/>
          </a:xfrm>
          <a:prstGeom prst="ellipse">
            <a:avLst/>
          </a:prstGeom>
          <a:solidFill>
            <a:srgbClr val="13B8A0">
              <a:alpha val="75000"/>
            </a:srgbClr>
          </a:solidFill>
          <a:ln/>
        </p:spPr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One App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login, one mutually-exclusive role — resident, worker, guard, or admin — identified by phone number instead of a password.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3272638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Roles"/>
          <p:cNvSpPr/>
          <p:nvPr/>
        </p:nvSpPr>
        <p:spPr>
          <a:xfrm>
            <a:off x="10561320" y="868680"/>
            <a:ext cx="777240" cy="777240"/>
          </a:xfrm>
          <a:prstGeom prst="ellipse">
            <a:avLst/>
          </a:prstGeom>
          <a:ln w="31750">
            <a:solidFill>
              <a:srgbClr val="13B8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62488" y="1069848"/>
            <a:ext cx="374904" cy="374904"/>
          </a:xfrm>
          <a:prstGeom prst="ellipse">
            <a:avLst/>
          </a:prstGeom>
          <a:solidFill>
            <a:srgbClr val="13B8A0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11" name="Shape 9"/>
          <p:cNvSpPr/>
          <p:nvPr/>
        </p:nvSpPr>
        <p:spPr>
          <a:xfrm>
            <a:off x="1513332" y="4343400"/>
            <a:ext cx="768096" cy="768096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2" name="Shape 10"/>
          <p:cNvSpPr/>
          <p:nvPr/>
        </p:nvSpPr>
        <p:spPr>
          <a:xfrm>
            <a:off x="1655978" y="4475988"/>
            <a:ext cx="482803" cy="21122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6446" y="4667098"/>
            <a:ext cx="321869" cy="211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808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Discovers, hires, pays, and rates workers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10712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283964" y="4343400"/>
            <a:ext cx="768096" cy="768096"/>
          </a:xfrm>
          <a:prstGeom prst="ellipse">
            <a:avLst/>
          </a:prstGeom>
          <a:solidFill>
            <a:srgbClr val="13B8A0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7486" y="4475988"/>
            <a:ext cx="181051" cy="1810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 flipV="1">
            <a:off x="4497019" y="4687214"/>
            <a:ext cx="341986" cy="231343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Worker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20440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with ID, sets hours, earns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1344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054596" y="4343400"/>
            <a:ext cx="768096" cy="768096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4" name="Shape 22"/>
          <p:cNvSpPr/>
          <p:nvPr/>
        </p:nvSpPr>
        <p:spPr>
          <a:xfrm>
            <a:off x="7348118" y="4475988"/>
            <a:ext cx="181051" cy="1810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 flipV="1">
            <a:off x="7267651" y="4687214"/>
            <a:ext cx="341986" cy="231343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91072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QR passes, verifies at the gate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51976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29" name="Shape 27"/>
          <p:cNvSpPr/>
          <p:nvPr/>
        </p:nvSpPr>
        <p:spPr>
          <a:xfrm>
            <a:off x="9825228" y="4343400"/>
            <a:ext cx="768096" cy="768096"/>
          </a:xfrm>
          <a:prstGeom prst="ellipse">
            <a:avLst/>
          </a:prstGeom>
          <a:solidFill>
            <a:srgbClr val="13B8A0"/>
          </a:solidFill>
          <a:ln/>
        </p:spPr>
      </p:sp>
      <p:sp>
        <p:nvSpPr>
          <p:cNvPr id="30" name="Shape 28"/>
          <p:cNvSpPr/>
          <p:nvPr/>
        </p:nvSpPr>
        <p:spPr>
          <a:xfrm>
            <a:off x="9998050" y="4516222"/>
            <a:ext cx="422453" cy="422453"/>
          </a:xfrm>
          <a:prstGeom prst="gear6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061704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Admin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061704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accounts, handles complaints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to Multi-Tenant Backend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Flutter client talks JSON over HTTPS to a single versioned Django REST API. Every query carries a society filter, so isolation is enforced in code — not by convention.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3818077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Shape 6"/>
          <p:cNvSpPr/>
          <p:nvPr/>
        </p:nvSpPr>
        <p:spPr>
          <a:xfrm>
            <a:off x="10506456" y="1042416"/>
            <a:ext cx="658368" cy="201168"/>
          </a:xfrm>
          <a:prstGeom prst="parallelogram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06456" y="1143000"/>
            <a:ext cx="658368" cy="548640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0" name="!!Hero_Arch"/>
          <p:cNvSpPr/>
          <p:nvPr/>
        </p:nvSpPr>
        <p:spPr>
          <a:xfrm>
            <a:off x="10378440" y="960120"/>
            <a:ext cx="914400" cy="914400"/>
          </a:xfrm>
          <a:prstGeom prst="roundRect">
            <a:avLst>
              <a:gd name="adj" fmla="val 20000"/>
            </a:avLst>
          </a:prstGeom>
          <a:ln/>
        </p:spPr>
      </p:sp>
      <p:sp>
        <p:nvSpPr>
          <p:cNvPr id="11" name="Shape 9"/>
          <p:cNvSpPr/>
          <p:nvPr/>
        </p:nvSpPr>
        <p:spPr>
          <a:xfrm>
            <a:off x="4764024" y="315468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1A2140"/>
          </a:solidFill>
          <a:ln w="19050">
            <a:solidFill>
              <a:srgbClr val="3B5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31546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9904" y="3721608"/>
            <a:ext cx="0" cy="411480"/>
          </a:xfrm>
          <a:prstGeom prst="line">
            <a:avLst/>
          </a:prstGeom>
          <a:noFill/>
          <a:ln w="25400">
            <a:solidFill>
              <a:srgbClr val="8792A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64024" y="425196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1A2140"/>
          </a:solidFill>
          <a:ln w="19050">
            <a:solidFill>
              <a:srgbClr val="3B5B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42519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API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300984" y="4818888"/>
            <a:ext cx="0" cy="621792"/>
          </a:xfrm>
          <a:prstGeom prst="line">
            <a:avLst/>
          </a:prstGeom>
          <a:noFill/>
          <a:ln w="19050">
            <a:solidFill>
              <a:srgbClr val="8792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35124" y="5440680"/>
            <a:ext cx="2331720" cy="621792"/>
          </a:xfrm>
          <a:prstGeom prst="roundRect">
            <a:avLst>
              <a:gd name="adj" fmla="val 13235"/>
            </a:avLst>
          </a:prstGeom>
          <a:solidFill>
            <a:srgbClr val="1A2140"/>
          </a:solidFill>
          <a:ln w="19050">
            <a:solidFill>
              <a:srgbClr val="13B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5124" y="544068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(Supabase)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9904" y="4818888"/>
            <a:ext cx="0" cy="621792"/>
          </a:xfrm>
          <a:prstGeom prst="line">
            <a:avLst/>
          </a:prstGeom>
          <a:noFill/>
          <a:ln w="19050">
            <a:solidFill>
              <a:srgbClr val="8792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24044" y="5440680"/>
            <a:ext cx="2331720" cy="621792"/>
          </a:xfrm>
          <a:prstGeom prst="roundRect">
            <a:avLst>
              <a:gd name="adj" fmla="val 13235"/>
            </a:avLst>
          </a:prstGeom>
          <a:solidFill>
            <a:srgbClr val="1A2140"/>
          </a:solidFill>
          <a:ln w="19050">
            <a:solidFill>
              <a:srgbClr val="13B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4044" y="544068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78824" y="4818888"/>
            <a:ext cx="0" cy="621792"/>
          </a:xfrm>
          <a:prstGeom prst="line">
            <a:avLst/>
          </a:prstGeom>
          <a:noFill/>
          <a:ln w="19050">
            <a:solidFill>
              <a:srgbClr val="8792A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12964" y="5440680"/>
            <a:ext cx="2331720" cy="621792"/>
          </a:xfrm>
          <a:prstGeom prst="roundRect">
            <a:avLst>
              <a:gd name="adj" fmla="val 13235"/>
            </a:avLst>
          </a:prstGeom>
          <a:solidFill>
            <a:srgbClr val="1A2140"/>
          </a:solidFill>
          <a:ln w="19050">
            <a:solidFill>
              <a:srgbClr val="F2B70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12964" y="544068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(Razorpay · FCM · AI · OCR)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Free-Tier Infrastructure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dependency — hosting, database, storage, payments, AI — runs on a genuinely free tier, by deliberate design, with no card on file anywhere.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4363517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Shape 6"/>
          <p:cNvSpPr/>
          <p:nvPr/>
        </p:nvSpPr>
        <p:spPr>
          <a:xfrm>
            <a:off x="10506456" y="1042416"/>
            <a:ext cx="658368" cy="201168"/>
          </a:xfrm>
          <a:prstGeom prst="parallelogram">
            <a:avLst/>
          </a:prstGeom>
          <a:solidFill>
            <a:srgbClr val="3B5BDB"/>
          </a:solidFill>
          <a:ln/>
        </p:spPr>
      </p:sp>
      <p:sp>
        <p:nvSpPr>
          <p:cNvPr id="9" name="Shape 7"/>
          <p:cNvSpPr/>
          <p:nvPr/>
        </p:nvSpPr>
        <p:spPr>
          <a:xfrm>
            <a:off x="10506456" y="1143000"/>
            <a:ext cx="658368" cy="54864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10" name="!!Hero_Arch"/>
          <p:cNvSpPr/>
          <p:nvPr/>
        </p:nvSpPr>
        <p:spPr>
          <a:xfrm>
            <a:off x="10378440" y="960120"/>
            <a:ext cx="914400" cy="914400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640080" y="324612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357987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246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0" y="324612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53712" y="357987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3246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324612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8" name="Shape 16"/>
          <p:cNvSpPr/>
          <p:nvPr/>
        </p:nvSpPr>
        <p:spPr>
          <a:xfrm>
            <a:off x="8302752" y="357987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3B8A0"/>
          </a:solidFill>
          <a:ln/>
        </p:spPr>
      </p:sp>
      <p:sp>
        <p:nvSpPr>
          <p:cNvPr id="19" name="Text 17"/>
          <p:cNvSpPr/>
          <p:nvPr/>
        </p:nvSpPr>
        <p:spPr>
          <a:xfrm>
            <a:off x="8522208" y="3246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Supabase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45857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3B8A0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4251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(Singapore)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89120" y="425196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24" name="Shape 22"/>
          <p:cNvSpPr/>
          <p:nvPr/>
        </p:nvSpPr>
        <p:spPr>
          <a:xfrm>
            <a:off x="4553712" y="45857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4251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38160" y="425196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27" name="Shape 25"/>
          <p:cNvSpPr/>
          <p:nvPr/>
        </p:nvSpPr>
        <p:spPr>
          <a:xfrm>
            <a:off x="8302752" y="45857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28" name="Text 26"/>
          <p:cNvSpPr/>
          <p:nvPr/>
        </p:nvSpPr>
        <p:spPr>
          <a:xfrm>
            <a:off x="8522208" y="4251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(test mode)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25780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672" y="55915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128" y="5257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→ EasyOCR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89120" y="525780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33" name="Shape 31"/>
          <p:cNvSpPr/>
          <p:nvPr/>
        </p:nvSpPr>
        <p:spPr>
          <a:xfrm>
            <a:off x="4553712" y="55915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5257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38160" y="525780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36" name="Shape 34"/>
          <p:cNvSpPr/>
          <p:nvPr/>
        </p:nvSpPr>
        <p:spPr>
          <a:xfrm>
            <a:off x="8302752" y="55915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3B8A0"/>
          </a:solidFill>
          <a:ln/>
        </p:spPr>
      </p:sp>
      <p:sp>
        <p:nvSpPr>
          <p:cNvPr id="37" name="Text 35"/>
          <p:cNvSpPr/>
          <p:nvPr/>
        </p:nvSpPr>
        <p:spPr>
          <a:xfrm>
            <a:off x="8522208" y="5257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Groq → OpenRouter → HF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 Phone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Number, Not a Password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Phone-based OTP login, a 60-minute JWT with a rotating 30-day refresh token, and default-deny access control enforced across all four roles.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4908956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2308" y="3248315"/>
            <a:ext cx="283464" cy="283464"/>
          </a:xfrm>
          <a:prstGeom prst="ellipse">
            <a:avLst/>
          </a:prstGeom>
          <a:ln w="62992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25930" y="3486424"/>
            <a:ext cx="476220" cy="317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430024" y="3577133"/>
            <a:ext cx="68031" cy="68031"/>
          </a:xfrm>
          <a:prstGeom prst="ellipse">
            <a:avLst/>
          </a:prstGeom>
          <a:solidFill>
            <a:srgbClr val="0D1225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Multi-Tenancy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society stays PENDING until platform-verified, then towers, flats, and staffed gates map beneath it — one primary account holder per flat.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5454396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>
              <a:alpha val="14000"/>
            </a:srgbClr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05300" y="3236976"/>
            <a:ext cx="317480" cy="5669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359158" y="3316346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1" name="Shape 9"/>
          <p:cNvSpPr/>
          <p:nvPr/>
        </p:nvSpPr>
        <p:spPr>
          <a:xfrm>
            <a:off x="9438528" y="3316346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2" name="Shape 10"/>
          <p:cNvSpPr/>
          <p:nvPr/>
        </p:nvSpPr>
        <p:spPr>
          <a:xfrm>
            <a:off x="9517898" y="3316346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3" name="Shape 11"/>
          <p:cNvSpPr/>
          <p:nvPr/>
        </p:nvSpPr>
        <p:spPr>
          <a:xfrm>
            <a:off x="9359158" y="3407054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4" name="Shape 12"/>
          <p:cNvSpPr/>
          <p:nvPr/>
        </p:nvSpPr>
        <p:spPr>
          <a:xfrm>
            <a:off x="9438528" y="3407054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5" name="Shape 13"/>
          <p:cNvSpPr/>
          <p:nvPr/>
        </p:nvSpPr>
        <p:spPr>
          <a:xfrm>
            <a:off x="9517898" y="3407054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6" name="Shape 14"/>
          <p:cNvSpPr/>
          <p:nvPr/>
        </p:nvSpPr>
        <p:spPr>
          <a:xfrm>
            <a:off x="9359158" y="3497763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7" name="Shape 15"/>
          <p:cNvSpPr/>
          <p:nvPr/>
        </p:nvSpPr>
        <p:spPr>
          <a:xfrm>
            <a:off x="9438528" y="3497763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8" name="Shape 16"/>
          <p:cNvSpPr/>
          <p:nvPr/>
        </p:nvSpPr>
        <p:spPr>
          <a:xfrm>
            <a:off x="9517898" y="3497763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9" name="Shape 17"/>
          <p:cNvSpPr/>
          <p:nvPr/>
        </p:nvSpPr>
        <p:spPr>
          <a:xfrm>
            <a:off x="9359158" y="3588471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20" name="Shape 18"/>
          <p:cNvSpPr/>
          <p:nvPr/>
        </p:nvSpPr>
        <p:spPr>
          <a:xfrm>
            <a:off x="9438528" y="3588471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21" name="Shape 19"/>
          <p:cNvSpPr/>
          <p:nvPr/>
        </p:nvSpPr>
        <p:spPr>
          <a:xfrm>
            <a:off x="9517898" y="3588471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22" name="Text 20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KYC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Once,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Everywhere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eight-stage Aadhaar OCR pipeline with Verhoeff checksum validation and automatic under-18 rejection. Only the last four digits are ever stored, hashed for duplicate detection.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5999836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2900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80576" y="3316346"/>
            <a:ext cx="566928" cy="40818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248607" y="3395716"/>
            <a:ext cx="147401" cy="14740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475379" y="3441070"/>
            <a:ext cx="158740" cy="25512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12" name="Shape 10"/>
          <p:cNvSpPr/>
          <p:nvPr/>
        </p:nvSpPr>
        <p:spPr>
          <a:xfrm>
            <a:off x="9475379" y="3531779"/>
            <a:ext cx="158740" cy="25512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13" name="Shape 11"/>
          <p:cNvSpPr/>
          <p:nvPr/>
        </p:nvSpPr>
        <p:spPr>
          <a:xfrm>
            <a:off x="9475379" y="3622487"/>
            <a:ext cx="158740" cy="25512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14" name="Shape 12"/>
          <p:cNvSpPr/>
          <p:nvPr/>
        </p:nvSpPr>
        <p:spPr>
          <a:xfrm rot="2700000">
            <a:off x="9616884" y="3654008"/>
            <a:ext cx="42406" cy="1995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15" name="Shape 13"/>
          <p:cNvSpPr/>
          <p:nvPr/>
        </p:nvSpPr>
        <p:spPr>
          <a:xfrm rot="-2700000">
            <a:off x="9649312" y="3616591"/>
            <a:ext cx="19956" cy="77329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04–05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Hires and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One-Day Bookings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AI-ranked match score across five weighted signals, shown in full — plus a 10-day notice period with pay guaranteed through the very last day worked.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6545275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>
              <a:alpha val="43000"/>
            </a:srgbClr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03253" y="3293669"/>
            <a:ext cx="521574" cy="45354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203253" y="3293669"/>
            <a:ext cx="521574" cy="1247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9391473" y="3561259"/>
            <a:ext cx="77102" cy="36283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2" name="Shape 10"/>
          <p:cNvSpPr/>
          <p:nvPr/>
        </p:nvSpPr>
        <p:spPr>
          <a:xfrm rot="-2700000">
            <a:off x="9450434" y="3493227"/>
            <a:ext cx="36283" cy="140598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3" name="Text 11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06–07 · DEEPFACE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Verification at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— Never a Denial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QR scans that sync without ever duplicating. A DeepFace match below threshold never refuses entry — it asks a guard to decide, and logs it.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7090715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5700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03253" y="3259653"/>
            <a:ext cx="521574" cy="521574"/>
          </a:xfrm>
          <a:prstGeom prst="roundRect">
            <a:avLst>
              <a:gd name="adj" fmla="val 10870"/>
            </a:avLst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7977" y="3350362"/>
            <a:ext cx="272125" cy="32881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203253" y="3509101"/>
            <a:ext cx="521574" cy="25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Accounted For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stored as integer paise, never a float. Settlement happens only on a signature-verified Razorpay event, and 100% of every tip reaches the worker.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7636154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>
              <a:alpha val="71000"/>
            </a:srgbClr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80576" y="3225637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852" dirty="0"/>
          </a:p>
        </p:txBody>
      </p:sp>
      <p:sp>
        <p:nvSpPr>
          <p:cNvPr id="10" name="Text 8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You Can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Explain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worker's score weighs ratings, attendance, verification, and completion. A resident's weighs payment punctuality highest — every score keeps its own reasoning, frozen at computation.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8181594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8600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03253" y="3259653"/>
            <a:ext cx="521574" cy="521574"/>
          </a:xfrm>
          <a:prstGeom prst="star5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10·11·13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Informed,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Left Waiting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alerts and urgent-leave notices can never be muted. Complaints run against a real SLA clock, and every offline sync is idempotent — a retried batch never double-counts.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8727034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/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25930" y="3282330"/>
            <a:ext cx="476220" cy="476220"/>
          </a:xfrm>
          <a:prstGeom prst="gear6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Providers Deep,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Silent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Groq, OpenRouter, then Hugging Face — tried strictly in order, rate-limited locally, with a deterministic non-AI fallback required for every feature.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9272473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AI"/>
          <p:cNvSpPr/>
          <p:nvPr/>
        </p:nvSpPr>
        <p:spPr>
          <a:xfrm>
            <a:off x="9098280" y="2834640"/>
            <a:ext cx="731520" cy="1371600"/>
          </a:xfrm>
          <a:prstGeom prst="lightningBolt">
            <a:avLst/>
          </a:prstGeom>
          <a:solidFill>
            <a:srgbClr val="F2B705"/>
          </a:solidFill>
          <a:ln/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81328" y="5349240"/>
            <a:ext cx="2554224" cy="0"/>
          </a:xfrm>
          <a:prstGeom prst="line">
            <a:avLst/>
          </a:prstGeom>
          <a:noFill/>
          <a:ln w="25400">
            <a:solidFill>
              <a:srgbClr val="8792A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803648" y="5349240"/>
            <a:ext cx="2554224" cy="0"/>
          </a:xfrm>
          <a:prstGeom prst="line">
            <a:avLst/>
          </a:prstGeom>
          <a:noFill/>
          <a:ln w="25400">
            <a:solidFill>
              <a:srgbClr val="8792AD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125968" y="5349240"/>
            <a:ext cx="2554224" cy="0"/>
          </a:xfrm>
          <a:prstGeom prst="line">
            <a:avLst/>
          </a:prstGeom>
          <a:noFill/>
          <a:ln w="25400">
            <a:solidFill>
              <a:srgbClr val="8792AD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13232" y="4965192"/>
            <a:ext cx="768096" cy="768096"/>
          </a:xfrm>
          <a:prstGeom prst="ellipse">
            <a:avLst/>
          </a:prstGeom>
          <a:solidFill>
            <a:srgbClr val="3B5B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965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5824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35552" y="4965192"/>
            <a:ext cx="768096" cy="768096"/>
          </a:xfrm>
          <a:prstGeom prst="ellipse">
            <a:avLst/>
          </a:prstGeom>
          <a:solidFill>
            <a:srgbClr val="3B5BDB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35552" y="4965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33800" y="5824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57872" y="4965192"/>
            <a:ext cx="768096" cy="768096"/>
          </a:xfrm>
          <a:prstGeom prst="ellipse">
            <a:avLst/>
          </a:prstGeom>
          <a:solidFill>
            <a:srgbClr val="3B5BDB">
              <a:alpha val="6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7872" y="4965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56120" y="5824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680192" y="4965192"/>
            <a:ext cx="768096" cy="768096"/>
          </a:xfrm>
          <a:prstGeom prst="ellipse">
            <a:avLst/>
          </a:prstGeom>
          <a:solidFill>
            <a:srgbClr val="3B5BDB">
              <a:alpha val="4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80192" y="4965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378440" y="5824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Enough, Safe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Enough, Built to Last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gate decisions, default-deny access control, and structural multi-tenancy — HTTPS everywhere, PCI-DSS compliance via Razorpay.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9817913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NFR"/>
          <p:cNvSpPr/>
          <p:nvPr/>
        </p:nvSpPr>
        <p:spPr>
          <a:xfrm>
            <a:off x="8686800" y="2468880"/>
            <a:ext cx="1554480" cy="1554480"/>
          </a:xfrm>
          <a:prstGeom prst="octagon">
            <a:avLst/>
          </a:prstGeom>
          <a:solidFill>
            <a:srgbClr val="13B8A0"/>
          </a:solidFill>
          <a:ln/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2700000">
            <a:off x="9244584" y="3232404"/>
            <a:ext cx="233172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 rot="-2700000">
            <a:off x="9422892" y="3026664"/>
            <a:ext cx="109728" cy="4251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4434840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262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81888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gate decisions — no network round trip required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4434840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45262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81888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RBAC, hashed Aadhaar, HTTPS everywhere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321808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4132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70585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by construction — a new society needs no new code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5321808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54132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570585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audit trail, 7-year financial record retention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14 Days.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Running.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modules shipped. The four-tier AI fallback live. Offline gate verification tested end to end — a working, deployed system, not a proposal.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0363352" cy="82296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8" name="Shape 6"/>
          <p:cNvSpPr/>
          <p:nvPr/>
        </p:nvSpPr>
        <p:spPr>
          <a:xfrm>
            <a:off x="8751722" y="3833165"/>
            <a:ext cx="277978" cy="486461"/>
          </a:xfrm>
          <a:prstGeom prst="roundRect">
            <a:avLst>
              <a:gd name="adj" fmla="val 15000"/>
            </a:avLst>
          </a:prstGeom>
          <a:solidFill>
            <a:srgbClr val="F2B705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33942" y="3555187"/>
            <a:ext cx="277978" cy="764438"/>
          </a:xfrm>
          <a:prstGeom prst="roundRect">
            <a:avLst>
              <a:gd name="adj" fmla="val 15000"/>
            </a:avLst>
          </a:prstGeom>
          <a:solidFill>
            <a:srgbClr val="F2B705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16161" y="3277210"/>
            <a:ext cx="277978" cy="1042416"/>
          </a:xfrm>
          <a:prstGeom prst="roundRect">
            <a:avLst>
              <a:gd name="adj" fmla="val 15000"/>
            </a:avLst>
          </a:prstGeom>
          <a:solidFill>
            <a:srgbClr val="F2B705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98380" y="2999232"/>
            <a:ext cx="277978" cy="1320394"/>
          </a:xfrm>
          <a:prstGeom prst="roundRect">
            <a:avLst>
              <a:gd name="adj" fmla="val 15000"/>
            </a:avLst>
          </a:prstGeom>
          <a:solidFill>
            <a:srgbClr val="F2B705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52006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63931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5857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487783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199709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911634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623560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35486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47411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759337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71263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183189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895114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623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7824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— SHIPPED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People.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Modules.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people, each owning a slice of the platform end to end — Flutter, Django, AI/OCR, and product &amp; QA — free to every worker, permanently, by design.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8" name="!!Hero_Team"/>
          <p:cNvSpPr/>
          <p:nvPr/>
        </p:nvSpPr>
        <p:spPr>
          <a:xfrm>
            <a:off x="8503920" y="1920240"/>
            <a:ext cx="1920240" cy="3200400"/>
          </a:xfrm>
          <a:prstGeom prst="roundRect">
            <a:avLst>
              <a:gd name="adj" fmla="val 13333"/>
            </a:avLst>
          </a:prstGeom>
          <a:ln w="31750">
            <a:solidFill>
              <a:srgbClr val="F2B705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59368" y="2148840"/>
            <a:ext cx="1609344" cy="2514600"/>
          </a:xfrm>
          <a:prstGeom prst="roundRect">
            <a:avLst>
              <a:gd name="adj" fmla="val 4545"/>
            </a:avLst>
          </a:prstGeom>
          <a:solidFill>
            <a:srgbClr val="F2B705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700000">
            <a:off x="9215323" y="3413455"/>
            <a:ext cx="264262" cy="12435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1" name="Shape 9"/>
          <p:cNvSpPr/>
          <p:nvPr/>
        </p:nvSpPr>
        <p:spPr>
          <a:xfrm rot="-2700000">
            <a:off x="9417406" y="3180283"/>
            <a:ext cx="124358" cy="481889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2" name="Shape 10"/>
          <p:cNvSpPr/>
          <p:nvPr/>
        </p:nvSpPr>
        <p:spPr>
          <a:xfrm>
            <a:off x="9381744" y="4754880"/>
            <a:ext cx="164592" cy="164592"/>
          </a:xfrm>
          <a:prstGeom prst="ellipse">
            <a:avLst/>
          </a:prstGeom>
          <a:ln w="25400">
            <a:solidFill>
              <a:srgbClr val="F2B70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892040"/>
            <a:ext cx="914400" cy="914400"/>
          </a:xfrm>
          <a:prstGeom prst="ellipse">
            <a:avLst/>
          </a:prstGeom>
          <a:solidFill>
            <a:srgbClr val="3B5BDB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523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 flipV="1">
            <a:off x="90452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234440" y="4892040"/>
            <a:ext cx="914400" cy="914400"/>
          </a:xfrm>
          <a:prstGeom prst="ellipse">
            <a:avLst/>
          </a:prstGeom>
          <a:solidFill>
            <a:srgbClr val="13B8A0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959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 flipV="1">
            <a:off x="149888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4892040"/>
            <a:ext cx="914400" cy="914400"/>
          </a:xfrm>
          <a:prstGeom prst="ellipse">
            <a:avLst/>
          </a:prstGeom>
          <a:solidFill>
            <a:srgbClr val="F2B705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8395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 flipV="1">
            <a:off x="209324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423160" y="4892040"/>
            <a:ext cx="914400" cy="914400"/>
          </a:xfrm>
          <a:prstGeom prst="ellipse">
            <a:avLst/>
          </a:prstGeom>
          <a:solidFill>
            <a:srgbClr val="3B5BDB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7831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 flipV="1">
            <a:off x="268760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971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DJANGO · AI/OCR · PRODUCT &amp; QA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2026-08-09T10:17:27Z</dcterms:created>
  <dcterms:modified xsi:type="dcterms:W3CDTF">2026-08-09T10:17:27Z</dcterms:modified>
</cp:coreProperties>
</file>