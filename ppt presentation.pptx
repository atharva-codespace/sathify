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77" r:id="rId7"/>
    <p:sldId id="262" r:id="rId8"/>
    <p:sldId id="278" r:id="rId9"/>
    <p:sldId id="264" r:id="rId10"/>
    <p:sldId id="276" r:id="rId11"/>
    <p:sldId id="265" r:id="rId12"/>
    <p:sldId id="268" r:id="rId13"/>
    <p:sldId id="266" r:id="rId14"/>
    <p:sldId id="267" r:id="rId15"/>
    <p:sldId id="269" r:id="rId16"/>
    <p:sldId id="272" r:id="rId17"/>
    <p:sldId id="271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90A"/>
    <a:srgbClr val="112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3916" autoAdjust="0"/>
  </p:normalViewPr>
  <p:slideViewPr>
    <p:cSldViewPr snapToGrid="0" snapToObjects="1">
      <p:cViewPr varScale="1">
        <p:scale>
          <a:sx n="80" d="100"/>
          <a:sy n="80" d="100"/>
        </p:scale>
        <p:origin x="7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524764" y="896931"/>
            <a:ext cx="1508760" cy="15087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86153" y="1943539"/>
            <a:ext cx="566928" cy="566928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9674352" y="3947049"/>
            <a:ext cx="2011680" cy="2011680"/>
          </a:xfrm>
          <a:prstGeom prst="ellipse">
            <a:avLst/>
          </a:prstGeom>
          <a:solidFill>
            <a:srgbClr val="19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8007" y="1998187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dirty="0">
                <a:solidFill>
                  <a:srgbClr val="FFFFFF"/>
                </a:solidFill>
                <a:latin typeface="Aptos Display"/>
              </a:rPr>
              <a:t>SATHIFY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007" y="2911444"/>
            <a:ext cx="8046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D7ECE2"/>
                </a:solidFill>
                <a:latin typeface="Aptos Display"/>
              </a:rPr>
              <a:t>Smart Society Domestic Workforce
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92240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006A4E"/>
                </a:solidFill>
                <a:latin typeface="Aptos"/>
              </a:rPr>
              <a:t>1</a:t>
            </a:r>
          </a:p>
        </p:txBody>
      </p:sp>
      <p:sp>
        <p:nvSpPr>
          <p:cNvPr id="7" name="!!Hero_Title">
            <a:extLst>
              <a:ext uri="{FF2B5EF4-FFF2-40B4-BE49-F238E27FC236}">
                <a16:creationId xmlns:a16="http://schemas.microsoft.com/office/drawing/2014/main" id="{D08A6BC3-C694-A34D-8067-34FE0562DC69}"/>
              </a:ext>
            </a:extLst>
          </p:cNvPr>
          <p:cNvSpPr/>
          <p:nvPr/>
        </p:nvSpPr>
        <p:spPr>
          <a:xfrm>
            <a:off x="8915400" y="528713"/>
            <a:ext cx="1920240" cy="3200400"/>
          </a:xfrm>
          <a:prstGeom prst="roundRect">
            <a:avLst>
              <a:gd name="adj" fmla="val 13333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0B4FDE7-8BF9-DF06-0F69-09FB129DCC16}"/>
              </a:ext>
            </a:extLst>
          </p:cNvPr>
          <p:cNvSpPr/>
          <p:nvPr/>
        </p:nvSpPr>
        <p:spPr>
          <a:xfrm>
            <a:off x="9070848" y="757313"/>
            <a:ext cx="1609344" cy="2514600"/>
          </a:xfrm>
          <a:prstGeom prst="roundRect">
            <a:avLst>
              <a:gd name="adj" fmla="val 4545"/>
            </a:avLst>
          </a:prstGeom>
          <a:ln w="19050">
            <a:solidFill>
              <a:srgbClr val="7FA08D"/>
            </a:solidFill>
            <a:prstDash val="dash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A761782-CF7C-308C-3B80-0498DF336BB0}"/>
              </a:ext>
            </a:extLst>
          </p:cNvPr>
          <p:cNvSpPr/>
          <p:nvPr/>
        </p:nvSpPr>
        <p:spPr>
          <a:xfrm>
            <a:off x="9793224" y="3363353"/>
            <a:ext cx="164592" cy="164592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C7A5562-9FD4-9F30-CBB7-8A87CEA3FF41}"/>
              </a:ext>
            </a:extLst>
          </p:cNvPr>
          <p:cNvSpPr/>
          <p:nvPr/>
        </p:nvSpPr>
        <p:spPr>
          <a:xfrm>
            <a:off x="822960" y="554278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DJANGO REST FRAMEWORK   ·   BUILT BY A 4-PERSON TEAM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98DCC57-C57D-29F4-848B-4592933F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44" y="219261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C1F8919A-73F7-4265-A4C1-D8E5C05405E9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01390A"/>
          </a:solidFill>
          <a:ln/>
        </p:spPr>
      </p:sp>
      <p:sp>
        <p:nvSpPr>
          <p:cNvPr id="21" name="!!Spine">
            <a:extLst>
              <a:ext uri="{FF2B5EF4-FFF2-40B4-BE49-F238E27FC236}">
                <a16:creationId xmlns:a16="http://schemas.microsoft.com/office/drawing/2014/main" id="{B9CC9F5E-C7BF-295E-25AD-BBA21976F4D0}"/>
              </a:ext>
            </a:extLst>
          </p:cNvPr>
          <p:cNvSpPr/>
          <p:nvPr/>
        </p:nvSpPr>
        <p:spPr>
          <a:xfrm>
            <a:off x="640080" y="6327648"/>
            <a:ext cx="495854" cy="82296"/>
          </a:xfrm>
          <a:prstGeom prst="rect">
            <a:avLst/>
          </a:prstGeom>
          <a:solidFill>
            <a:srgbClr val="4F6B5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2A23"/>
                </a:solidFill>
                <a:latin typeface="Aptos Display"/>
              </a:rPr>
              <a:t>The Problem Sathify Solves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463039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Unverified Hiring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695"/>
            <a:ext cx="2423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Residents often depend on informal contacts and have limited proof of worker identity, experience or reliability.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4553712" y="14630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553712" y="1600200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4630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Manual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4767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Paper registers and manual gate checks make worker entry, exit and attendance difficult to track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8996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60" y="3672839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22960" y="3810000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1" y="3672839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Scattered 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1" y="415747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Salary, one-day service payments, tips, refunds and payout records can become difficult to reconcile.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49076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4553712" y="3673642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4553712" y="3810801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673642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Weak 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6839" y="4042974"/>
            <a:ext cx="2423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Complaints, ratings and work history are usually fragmented, making trust difficult to build on both sides.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490762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8284463" y="3673642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8284463" y="3810801"/>
            <a:ext cx="475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3" y="3673642"/>
            <a:ext cx="2423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No Unified Society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3" y="4280038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Residents, workers, guards and administrators need different tools, but their activities are connected.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132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11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2</a:t>
            </a: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0BD5295C-3C77-4FFE-60BA-9E7E70F66F87}"/>
              </a:ext>
            </a:extLst>
          </p:cNvPr>
          <p:cNvSpPr/>
          <p:nvPr/>
        </p:nvSpPr>
        <p:spPr>
          <a:xfrm>
            <a:off x="8284463" y="2890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7FA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REGISTER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C786CD-BE4E-AF5E-7B93-343730E6C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7" name="Shape 7">
            <a:extLst>
              <a:ext uri="{FF2B5EF4-FFF2-40B4-BE49-F238E27FC236}">
                <a16:creationId xmlns:a16="http://schemas.microsoft.com/office/drawing/2014/main" id="{B50AE30D-3D12-4009-8892-AEA5A071E1AF}"/>
              </a:ext>
            </a:extLst>
          </p:cNvPr>
          <p:cNvSpPr/>
          <p:nvPr/>
        </p:nvSpPr>
        <p:spPr>
          <a:xfrm>
            <a:off x="658368" y="6320082"/>
            <a:ext cx="10908792" cy="82296"/>
          </a:xfrm>
          <a:prstGeom prst="rect">
            <a:avLst/>
          </a:prstGeom>
          <a:solidFill>
            <a:srgbClr val="01390A"/>
          </a:solidFill>
          <a:ln>
            <a:solidFill>
              <a:schemeClr val="accent3">
                <a:lumMod val="75000"/>
              </a:schemeClr>
            </a:solidFill>
          </a:ln>
        </p:spPr>
      </p:sp>
      <p:sp>
        <p:nvSpPr>
          <p:cNvPr id="36" name="!!Spine">
            <a:extLst>
              <a:ext uri="{FF2B5EF4-FFF2-40B4-BE49-F238E27FC236}">
                <a16:creationId xmlns:a16="http://schemas.microsoft.com/office/drawing/2014/main" id="{DCF3D548-853D-D929-F2CF-63C3C8B7F371}"/>
              </a:ext>
            </a:extLst>
          </p:cNvPr>
          <p:cNvSpPr/>
          <p:nvPr/>
        </p:nvSpPr>
        <p:spPr>
          <a:xfrm>
            <a:off x="640080" y="6327648"/>
            <a:ext cx="991708" cy="82296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742DB3CC-2CCB-AF82-12A8-8A02D0ED9676}"/>
              </a:ext>
            </a:extLst>
          </p:cNvPr>
          <p:cNvSpPr/>
          <p:nvPr/>
        </p:nvSpPr>
        <p:spPr>
          <a:xfrm rot="20881160">
            <a:off x="8489196" y="509222"/>
            <a:ext cx="1609344" cy="2141429"/>
          </a:xfrm>
          <a:prstGeom prst="roundRect">
            <a:avLst>
              <a:gd name="adj" fmla="val 4545"/>
            </a:avLst>
          </a:prstGeom>
          <a:ln w="19050">
            <a:solidFill>
              <a:srgbClr val="7FA08D"/>
            </a:solidFill>
            <a:prstDash val="dash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02 •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One Platform. Four Roles. One Shared Trust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60" y="1435608"/>
            <a:ext cx="155448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8026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Discover • Hire • Book • Schedule • Pay </a:t>
            </a:r>
            <a:endParaRPr lang="en-IN" b="1" dirty="0">
              <a:solidFill>
                <a:srgbClr val="112A23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•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Sets expectations and manages household-side engagements.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3444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6355080" y="1435608"/>
            <a:ext cx="155448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DOMESTIC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6125" y="1901975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KYC • Availability • Attendance • Leave </a:t>
            </a:r>
            <a:endParaRPr lang="en-IN" b="1" dirty="0">
              <a:solidFill>
                <a:srgbClr val="112A23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• Earnings •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33408"/>
            <a:ext cx="46177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Owns the worker-side profile and work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6616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60" y="3767328"/>
            <a:ext cx="1554480" cy="347472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SECURITY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95022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Scan • Verify • Allow/Deny • Log </a:t>
            </a:r>
            <a:br>
              <a:rPr lang="en-IN" b="1" dirty="0">
                <a:solidFill>
                  <a:srgbClr val="112A23"/>
                </a:solidFill>
                <a:latin typeface="Aptos"/>
              </a:rPr>
            </a:br>
            <a:r>
              <a:rPr b="1" dirty="0">
                <a:solidFill>
                  <a:srgbClr val="112A23"/>
                </a:solidFill>
                <a:latin typeface="Aptos"/>
              </a:rPr>
              <a:t>• Work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26020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Makes the final gate decision when automated evidence is uncertain.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6616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6355080" y="3767328"/>
            <a:ext cx="1554480" cy="347472"/>
          </a:xfrm>
          <a:prstGeom prst="roundRect">
            <a:avLst/>
          </a:prstGeom>
          <a:solidFill>
            <a:srgbClr val="C2564C"/>
          </a:solidFill>
          <a:ln w="12700"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1463039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SOCIETY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13876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Approve • Monitor • Resolve • Report</a:t>
            </a:r>
            <a:endParaRPr lang="en-IN" b="1" dirty="0">
              <a:solidFill>
                <a:srgbClr val="112A23"/>
              </a:solidFill>
              <a:latin typeface="Aptos"/>
            </a:endParaRPr>
          </a:p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 • Configure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46177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Owns society-level operations and is the subscription counterparty.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764FC7-F5CA-96A1-200A-65C0C35E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0" name="Shape 4">
            <a:extLst>
              <a:ext uri="{FF2B5EF4-FFF2-40B4-BE49-F238E27FC236}">
                <a16:creationId xmlns:a16="http://schemas.microsoft.com/office/drawing/2014/main" id="{D0529E0F-63CA-D62E-FCD0-62A1A5294D64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</p:sp>
      <p:sp>
        <p:nvSpPr>
          <p:cNvPr id="31" name="!!Spine">
            <a:extLst>
              <a:ext uri="{FF2B5EF4-FFF2-40B4-BE49-F238E27FC236}">
                <a16:creationId xmlns:a16="http://schemas.microsoft.com/office/drawing/2014/main" id="{51A3C155-3507-6312-6152-F7DD556D5FB6}"/>
              </a:ext>
            </a:extLst>
          </p:cNvPr>
          <p:cNvSpPr/>
          <p:nvPr/>
        </p:nvSpPr>
        <p:spPr>
          <a:xfrm>
            <a:off x="640080" y="6327648"/>
            <a:ext cx="1487563" cy="82296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02 • 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94099"/>
            <a:ext cx="11754753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From Registration to a Trusted Working Relationship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1993392"/>
            <a:ext cx="301752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02920" y="1481328"/>
            <a:ext cx="1051560" cy="10515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Phone OTP + role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0672" y="1993392"/>
            <a:ext cx="301752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47672" y="1481328"/>
            <a:ext cx="1051560" cy="10515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947672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Society / flat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35424" y="1993392"/>
            <a:ext cx="301752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92424" y="1481328"/>
            <a:ext cx="1051560" cy="10515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3392424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5264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Worker KYC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0176" y="1993392"/>
            <a:ext cx="301752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837176" y="1481328"/>
            <a:ext cx="1051560" cy="10515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4837176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Search / ranking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4928" y="1993392"/>
            <a:ext cx="301751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281928" y="1481328"/>
            <a:ext cx="1051560" cy="10515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281928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Engage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Hire or book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69680" y="1993392"/>
            <a:ext cx="301752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726680" y="1481328"/>
            <a:ext cx="1051560" cy="10515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7726680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Attend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Schedule + gate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314432" y="1993392"/>
            <a:ext cx="301752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71432" y="1481328"/>
            <a:ext cx="1051560" cy="10515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7" name="TextBox 36"/>
          <p:cNvSpPr txBox="1"/>
          <p:nvPr/>
        </p:nvSpPr>
        <p:spPr>
          <a:xfrm>
            <a:off x="9171432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4272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3090672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Salary / booking</a:t>
            </a:r>
          </a:p>
        </p:txBody>
      </p:sp>
      <p:sp>
        <p:nvSpPr>
          <p:cNvPr id="40" name="Oval 39"/>
          <p:cNvSpPr/>
          <p:nvPr/>
        </p:nvSpPr>
        <p:spPr>
          <a:xfrm>
            <a:off x="10616184" y="1481328"/>
            <a:ext cx="1051560" cy="10515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1" name="TextBox 40"/>
          <p:cNvSpPr txBox="1"/>
          <p:nvPr/>
        </p:nvSpPr>
        <p:spPr>
          <a:xfrm>
            <a:off x="10616184" y="1828800"/>
            <a:ext cx="1051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9024" y="2724912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Trust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79024" y="3090672"/>
            <a:ext cx="13258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Ratings + complaints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25880" y="4251959"/>
            <a:ext cx="9509760" cy="15549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Rectangle 44"/>
          <p:cNvSpPr/>
          <p:nvPr/>
        </p:nvSpPr>
        <p:spPr>
          <a:xfrm>
            <a:off x="1325880" y="4251960"/>
            <a:ext cx="59436" cy="158238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TextBox 45"/>
          <p:cNvSpPr txBox="1"/>
          <p:nvPr/>
        </p:nvSpPr>
        <p:spPr>
          <a:xfrm>
            <a:off x="1527048" y="4416552"/>
            <a:ext cx="91440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A23"/>
                </a:solidFill>
                <a:latin typeface="Aptos Display"/>
              </a:rPr>
              <a:t>Design target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7048" y="4873752"/>
            <a:ext cx="91440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66746C"/>
                </a:solidFill>
                <a:latin typeface="Aptos"/>
              </a:rPr>
              <a:t>A first meaningful action within about five minutes, unassisted — with fallback paths when a smartphone, network or AI provider is unavailable.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TextBox 48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6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A95A6FB-82B2-D126-D85C-C194F11C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52" name="Shape 4">
            <a:extLst>
              <a:ext uri="{FF2B5EF4-FFF2-40B4-BE49-F238E27FC236}">
                <a16:creationId xmlns:a16="http://schemas.microsoft.com/office/drawing/2014/main" id="{35A4C423-CFBC-F21F-9412-0C4D51AA589A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54" name="!!Spine">
            <a:extLst>
              <a:ext uri="{FF2B5EF4-FFF2-40B4-BE49-F238E27FC236}">
                <a16:creationId xmlns:a16="http://schemas.microsoft.com/office/drawing/2014/main" id="{7D250135-FEE9-83D2-BF5F-4031E42BA04B}"/>
              </a:ext>
            </a:extLst>
          </p:cNvPr>
          <p:cNvSpPr/>
          <p:nvPr/>
        </p:nvSpPr>
        <p:spPr>
          <a:xfrm>
            <a:off x="640080" y="6327648"/>
            <a:ext cx="1983417" cy="82296"/>
          </a:xfrm>
          <a:prstGeom prst="rect">
            <a:avLst/>
          </a:prstGeom>
          <a:solidFill>
            <a:srgbClr val="A3E635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99923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006A4E"/>
                </a:solidFill>
                <a:latin typeface="Aptos"/>
              </a:rPr>
              <a:t>03 • PRODUCT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130" y="580824"/>
            <a:ext cx="11894145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112A23"/>
                </a:solidFill>
                <a:latin typeface="Aptos Display"/>
              </a:rPr>
              <a:t>13 Functional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667512" y="1518113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13232" y="1572579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41732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Identity &amp;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3547872" y="1521559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593592" y="1576025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1417320"/>
            <a:ext cx="185623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Society / Resident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6428231" y="1516846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473951" y="157131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516846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Worker KYC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3444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9308592" y="1517185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9354312" y="1571651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141732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Discovery &amp; Hiring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667512" y="2745744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13232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265176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One-Day Bookings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3547872" y="2745744"/>
            <a:ext cx="475488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3593592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2715435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Scheduling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Rounded Rectangle 29"/>
          <p:cNvSpPr/>
          <p:nvPr/>
        </p:nvSpPr>
        <p:spPr>
          <a:xfrm>
            <a:off x="6428231" y="274574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6473951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265176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Attendance &amp;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46888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ounded Rectangle 33"/>
          <p:cNvSpPr/>
          <p:nvPr/>
        </p:nvSpPr>
        <p:spPr>
          <a:xfrm>
            <a:off x="9308592" y="274574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9354312" y="279252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2750203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Payments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Rounded Rectangle 37"/>
          <p:cNvSpPr/>
          <p:nvPr/>
        </p:nvSpPr>
        <p:spPr>
          <a:xfrm>
            <a:off x="667512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713232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2728" y="3984643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Ratings &amp; Trust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Rounded Rectangle 41"/>
          <p:cNvSpPr/>
          <p:nvPr/>
        </p:nvSpPr>
        <p:spPr>
          <a:xfrm>
            <a:off x="3547872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3" name="TextBox 42"/>
          <p:cNvSpPr txBox="1"/>
          <p:nvPr/>
        </p:nvSpPr>
        <p:spPr>
          <a:xfrm>
            <a:off x="3593592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1" y="3984643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Notifications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Rounded Rectangle 45"/>
          <p:cNvSpPr/>
          <p:nvPr/>
        </p:nvSpPr>
        <p:spPr>
          <a:xfrm>
            <a:off x="6428231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7" name="TextBox 46"/>
          <p:cNvSpPr txBox="1"/>
          <p:nvPr/>
        </p:nvSpPr>
        <p:spPr>
          <a:xfrm>
            <a:off x="6473951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3448" y="3886200"/>
            <a:ext cx="1920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Admin / Reports / Complaints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370332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0" name="Rounded Rectangle 49"/>
          <p:cNvSpPr/>
          <p:nvPr/>
        </p:nvSpPr>
        <p:spPr>
          <a:xfrm>
            <a:off x="9308592" y="398018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9354312" y="402696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3942324"/>
            <a:ext cx="1600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12A23"/>
                </a:solidFill>
                <a:latin typeface="Aptos"/>
              </a:rPr>
              <a:t>AI Layer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937760"/>
            <a:ext cx="2560320" cy="96012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Rounded Rectangle 53"/>
          <p:cNvSpPr/>
          <p:nvPr/>
        </p:nvSpPr>
        <p:spPr>
          <a:xfrm>
            <a:off x="667512" y="5214624"/>
            <a:ext cx="475488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TextBox 54"/>
          <p:cNvSpPr txBox="1"/>
          <p:nvPr/>
        </p:nvSpPr>
        <p:spPr>
          <a:xfrm>
            <a:off x="713232" y="5261402"/>
            <a:ext cx="38404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2728" y="5120640"/>
            <a:ext cx="1600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A23"/>
                </a:solidFill>
                <a:latin typeface="Aptos"/>
              </a:rPr>
              <a:t>Offline &amp; Resilience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8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349EA58-046E-B9CE-5114-46AF0C50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62" name="Shape 4">
            <a:extLst>
              <a:ext uri="{FF2B5EF4-FFF2-40B4-BE49-F238E27FC236}">
                <a16:creationId xmlns:a16="http://schemas.microsoft.com/office/drawing/2014/main" id="{CAB8CE5F-6A08-271D-10CE-612E0BAA3320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65" name="!!Spine">
            <a:extLst>
              <a:ext uri="{FF2B5EF4-FFF2-40B4-BE49-F238E27FC236}">
                <a16:creationId xmlns:a16="http://schemas.microsoft.com/office/drawing/2014/main" id="{54746A52-DF81-B162-2E37-E5D81B87F8DB}"/>
              </a:ext>
            </a:extLst>
          </p:cNvPr>
          <p:cNvSpPr/>
          <p:nvPr/>
        </p:nvSpPr>
        <p:spPr>
          <a:xfrm>
            <a:off x="640081" y="6327648"/>
            <a:ext cx="2678430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05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2A23"/>
                </a:solidFill>
                <a:latin typeface="Aptos Display"/>
              </a:rPr>
              <a:t>Functional Modules 1–4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463039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39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Identity &amp; Access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47672"/>
            <a:ext cx="4251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Phone OTP login with default-deny RBAC. Administrator approval controls access, while JWT sessions can be revoked for devices or guards.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463039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Society &amp; Resident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47672"/>
            <a:ext cx="4251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Creates towers, flats and gates for each society. Residents register against flats and submit proof for approval before using society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59" y="3840480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22959" y="397763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40480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Worker Onboarding &amp; KYC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2511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Worker profiles include services, experience, languages, rate and availability. OCR, validation, consent and manual review make KYC approval auditable.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6446520" y="3840480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Discovery &amp; Hiring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32511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Explainable matching considers trust, ratings, availability, responsiveness and proximity. Hire requests have a 48-hour response window and support pause/resume.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6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65DEE8-A004-2911-F091-276EE6EE9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703604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7DC80DA0-7A34-7CA3-0A98-AA12FB56349E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0" name="!!Spine">
            <a:extLst>
              <a:ext uri="{FF2B5EF4-FFF2-40B4-BE49-F238E27FC236}">
                <a16:creationId xmlns:a16="http://schemas.microsoft.com/office/drawing/2014/main" id="{EBDFE84C-F5D9-C206-B4D6-8D905784D7C0}"/>
              </a:ext>
            </a:extLst>
          </p:cNvPr>
          <p:cNvSpPr/>
          <p:nvPr/>
        </p:nvSpPr>
        <p:spPr>
          <a:xfrm>
            <a:off x="640080" y="6327648"/>
            <a:ext cx="3470979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06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2A23"/>
                </a:solidFill>
                <a:latin typeface="Aptos Display"/>
              </a:rPr>
              <a:t>Functional Modules 5–8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4630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39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One-Day Service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4767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Supports time-bound jobs such as cleaning, cooking or event preparation. Bookings follow notice rules and a clear pending → confirmed → completed lifecycle.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6446520" y="1463039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463039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Scheduling &amp; Task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47672"/>
            <a:ext cx="42519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Visits are derived from engagement or booking terms. Arrival/departure timing, a 15-minute grace window, reminders, tasks and urgent leave are supported.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59" y="3840480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22959" y="397763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40480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Attendance &amp; Gate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2511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Revocable QR passes support online and offline guard scanning. Face verification is optional, and weak matches move to human review instead of automatic denial.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6446520" y="3840480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40480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Payments &amp; Payouts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325112"/>
            <a:ext cx="4251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Handles recurring salary, one-day bookings, tips and refunds. Money uses integer paise and Razorpay webhooks are verified and deduplicated for reliable payment state.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7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F1DEB7C-ED64-1E2C-8A34-703D7B29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844" y="5735608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8" name="Shape 4">
            <a:extLst>
              <a:ext uri="{FF2B5EF4-FFF2-40B4-BE49-F238E27FC236}">
                <a16:creationId xmlns:a16="http://schemas.microsoft.com/office/drawing/2014/main" id="{D415F43C-8653-DA34-845A-2C1C786945BB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29" name="!!Spine">
            <a:extLst>
              <a:ext uri="{FF2B5EF4-FFF2-40B4-BE49-F238E27FC236}">
                <a16:creationId xmlns:a16="http://schemas.microsoft.com/office/drawing/2014/main" id="{2ADD7B0D-0C35-EC3D-3D72-6B200907AD66}"/>
              </a:ext>
            </a:extLst>
          </p:cNvPr>
          <p:cNvSpPr/>
          <p:nvPr/>
        </p:nvSpPr>
        <p:spPr>
          <a:xfrm>
            <a:off x="640080" y="6327648"/>
            <a:ext cx="3966833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07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2A23"/>
                </a:solidFill>
                <a:latin typeface="Aptos Display"/>
              </a:rPr>
              <a:t>Functional Modules 9–11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96139"/>
            <a:ext cx="3246120" cy="363306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9" y="1691639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39"/>
            <a:ext cx="2240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Ratings, Reviews &amp;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5001"/>
            <a:ext cx="2880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Worker and resident trust scores create two-sided accountability.</a:t>
            </a:r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algn="l"/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 Scores use defined components, cold-start smoothing and frozen calculation breakdowns.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96139"/>
            <a:ext cx="3246120" cy="363306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39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691639"/>
            <a:ext cx="2240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15001"/>
            <a:ext cx="2880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Durable in-app notification records are created before delivery attempts.</a:t>
            </a:r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algn="l"/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 Category mutes are supported, while critical gate and safety-related notices remain mandatory.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396139"/>
            <a:ext cx="3246120" cy="363306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7863840" y="1691639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91639"/>
            <a:ext cx="2240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Admin, Reporting &amp; Complaints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15001"/>
            <a:ext cx="288035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Provides complaint SLAs, escalation and append-only history.</a:t>
            </a:r>
            <a:endParaRPr lang="en-IN" sz="1400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66746C"/>
                </a:solidFill>
                <a:latin typeface="Aptos"/>
              </a:rPr>
              <a:t> Unmet-demand logs and operational records support reporting and CSV/PDF exports.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8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1E0E68-5C90-08D9-6CED-D2FD12C4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3" name="Shape 4">
            <a:extLst>
              <a:ext uri="{FF2B5EF4-FFF2-40B4-BE49-F238E27FC236}">
                <a16:creationId xmlns:a16="http://schemas.microsoft.com/office/drawing/2014/main" id="{C3879797-4EB2-AEF5-5D4E-57598A6C06AA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24" name="!!Spine">
            <a:extLst>
              <a:ext uri="{FF2B5EF4-FFF2-40B4-BE49-F238E27FC236}">
                <a16:creationId xmlns:a16="http://schemas.microsoft.com/office/drawing/2014/main" id="{826D44E6-75AF-B1F7-FEDB-D5FC2661F94F}"/>
              </a:ext>
            </a:extLst>
          </p:cNvPr>
          <p:cNvSpPr/>
          <p:nvPr/>
        </p:nvSpPr>
        <p:spPr>
          <a:xfrm>
            <a:off x="640080" y="6327648"/>
            <a:ext cx="4462688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08 •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112A23"/>
                </a:solidFill>
                <a:latin typeface="Aptos Display"/>
              </a:rPr>
              <a:t>Functional Modules 12–13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96139"/>
            <a:ext cx="4826450" cy="3457211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22958" y="1691639"/>
            <a:ext cx="640081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905254" y="182880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5335" y="1758113"/>
            <a:ext cx="2240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12A23"/>
                </a:solidFill>
                <a:latin typeface="Aptos Display"/>
              </a:rPr>
              <a:t>AI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4" y="2385408"/>
            <a:ext cx="40255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Uses a four-tier provider fallback for recommendations, assistant and analysis features.</a:t>
            </a:r>
            <a:endParaRPr lang="en-IN" b="0" dirty="0">
              <a:solidFill>
                <a:srgbClr val="66746C"/>
              </a:solidFill>
              <a:latin typeface="Aptos"/>
            </a:endParaRPr>
          </a:p>
          <a:p>
            <a:pPr algn="l"/>
            <a:endParaRPr lang="en-IN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 Application data is queried for figures instead of letting the assistant invent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71192" y="1508760"/>
            <a:ext cx="4444678" cy="3344589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7075629" y="1691639"/>
            <a:ext cx="651051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7075629" y="1828800"/>
            <a:ext cx="6510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1052" y="1691639"/>
            <a:ext cx="3067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112A23"/>
                </a:solidFill>
                <a:latin typeface="Aptos Display"/>
              </a:rPr>
              <a:t>Offline &amp;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306" y="2420480"/>
            <a:ext cx="36821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Gate decisions can work from cached data and sync later using idempotent identifiers. </a:t>
            </a:r>
            <a:endParaRPr lang="en-IN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b="0" dirty="0">
              <a:solidFill>
                <a:srgbClr val="66746C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66746C"/>
                </a:solidFill>
                <a:latin typeface="Aptos"/>
              </a:rPr>
              <a:t>OCR, AI and face verification include fallback or human-review paths.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9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032C80-5F56-67B0-0421-87B2C13F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16" name="Shape 4">
            <a:extLst>
              <a:ext uri="{FF2B5EF4-FFF2-40B4-BE49-F238E27FC236}">
                <a16:creationId xmlns:a16="http://schemas.microsoft.com/office/drawing/2014/main" id="{543BFD3E-DD4F-6993-9A10-1B3DFB279EC3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17" name="!!Spine">
            <a:extLst>
              <a:ext uri="{FF2B5EF4-FFF2-40B4-BE49-F238E27FC236}">
                <a16:creationId xmlns:a16="http://schemas.microsoft.com/office/drawing/2014/main" id="{4B80512B-554D-6580-6937-D0788212B858}"/>
              </a:ext>
            </a:extLst>
          </p:cNvPr>
          <p:cNvSpPr/>
          <p:nvPr/>
        </p:nvSpPr>
        <p:spPr>
          <a:xfrm>
            <a:off x="640080" y="6327648"/>
            <a:ext cx="4958542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2743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04 •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2A23"/>
                </a:solidFill>
                <a:latin typeface="Aptos Display"/>
              </a:rPr>
              <a:t>Solution Architecture &amp;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17320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Flutter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0195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Android-first mobile application with role-based screens, multilingual UI and offline gate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4553712" y="1417320"/>
            <a:ext cx="475488" cy="475488"/>
          </a:xfrm>
          <a:prstGeom prst="roundRect">
            <a:avLst/>
          </a:prstGeom>
          <a:solidFill>
            <a:srgbClr val="3D719D"/>
          </a:solidFill>
          <a:ln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4553712" y="155448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417320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Django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90195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Python backend handling authentication, RBAC, society-scoped business rules and module APIs.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321040" y="1417320"/>
            <a:ext cx="475488" cy="475488"/>
          </a:xfrm>
          <a:prstGeom prst="roundRect">
            <a:avLst/>
          </a:prstGeom>
          <a:solidFill>
            <a:srgbClr val="D3A439"/>
          </a:solidFill>
          <a:ln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17320"/>
            <a:ext cx="278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PostgreSQL / </a:t>
            </a:r>
            <a:r>
              <a:rPr b="1" dirty="0" err="1">
                <a:solidFill>
                  <a:srgbClr val="112A23"/>
                </a:solidFill>
                <a:latin typeface="Aptos Display"/>
              </a:rPr>
              <a:t>Supabase</a:t>
            </a:r>
            <a:endParaRPr b="1" dirty="0">
              <a:solidFill>
                <a:srgbClr val="112A23"/>
              </a:solidFill>
              <a:latin typeface="Aptos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0" y="1901952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Relational data, society isolation, durable records and media storage for the application.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ounded Rectangle 20"/>
          <p:cNvSpPr/>
          <p:nvPr/>
        </p:nvSpPr>
        <p:spPr>
          <a:xfrm>
            <a:off x="2651760" y="3657600"/>
            <a:ext cx="475488" cy="475488"/>
          </a:xfrm>
          <a:prstGeom prst="roundRect">
            <a:avLst/>
          </a:prstGeom>
          <a:solidFill>
            <a:srgbClr val="C2564C"/>
          </a:solidFill>
          <a:ln>
            <a:solidFill>
              <a:srgbClr val="C25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2651760" y="379475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57600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Supporting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142231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Razorpay, Firebase FCM, OCR and face verification services support payments, alerts and KYC.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6446520" y="3657600"/>
            <a:ext cx="475488" cy="475488"/>
          </a:xfrm>
          <a:prstGeom prst="roundRect">
            <a:avLst/>
          </a:prstGeom>
          <a:solidFill>
            <a:srgbClr val="006A4E"/>
          </a:solidFill>
          <a:ln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446520" y="3794759"/>
            <a:ext cx="4754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657600"/>
            <a:ext cx="2423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AI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142231"/>
            <a:ext cx="2423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Gemini → Groq → OpenRouter → Hugging Face fallback chain for supported AI features.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132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411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59DC37E-2DBE-9206-4AB1-8CC4651B8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3" name="Shape 4">
            <a:extLst>
              <a:ext uri="{FF2B5EF4-FFF2-40B4-BE49-F238E27FC236}">
                <a16:creationId xmlns:a16="http://schemas.microsoft.com/office/drawing/2014/main" id="{E1D6691C-0C4A-AEB4-9A7A-6A512B0A20DA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4" name="!!Spine">
            <a:extLst>
              <a:ext uri="{FF2B5EF4-FFF2-40B4-BE49-F238E27FC236}">
                <a16:creationId xmlns:a16="http://schemas.microsoft.com/office/drawing/2014/main" id="{7A8934CA-77A8-5CCE-E88A-C0419B2D6815}"/>
              </a:ext>
            </a:extLst>
          </p:cNvPr>
          <p:cNvSpPr/>
          <p:nvPr/>
        </p:nvSpPr>
        <p:spPr>
          <a:xfrm>
            <a:off x="640080" y="6327648"/>
            <a:ext cx="5454396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04 •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Technology Stack &amp; Why It 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Flutter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Cross-platform mobile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4526280" y="141732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Django + DRF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4708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Fast, structured API + mature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275319" y="141732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PostgreSQL /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847088"/>
            <a:ext cx="3017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Durable relational, society-scoped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8892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3017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Zero-recurring-cost deployment 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78892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Razorpay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0156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Payments, refunds and webhooks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78892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275319" y="297180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Firebase FCM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40156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Optional push notification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34340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777240" y="452628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PaddleOCR / EasyOCR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Swappable document extraction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34340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4526280" y="4526280"/>
            <a:ext cx="3017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 Display"/>
              </a:rPr>
              <a:t>DeepFace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956048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Gate face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343400"/>
            <a:ext cx="3429000" cy="12344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275318" y="4526280"/>
            <a:ext cx="310896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Gemini → </a:t>
            </a:r>
            <a:r>
              <a:rPr b="1" dirty="0" err="1">
                <a:solidFill>
                  <a:srgbClr val="112A23"/>
                </a:solidFill>
                <a:latin typeface="Aptos Display"/>
              </a:rPr>
              <a:t>Groq</a:t>
            </a:r>
            <a:r>
              <a:rPr b="1" dirty="0">
                <a:solidFill>
                  <a:srgbClr val="112A23"/>
                </a:solidFill>
                <a:latin typeface="Aptos Display"/>
              </a:rPr>
              <a:t> → </a:t>
            </a:r>
            <a:r>
              <a:rPr b="1" dirty="0" err="1">
                <a:solidFill>
                  <a:srgbClr val="112A23"/>
                </a:solidFill>
                <a:latin typeface="Aptos Display"/>
              </a:rPr>
              <a:t>OpenRouter</a:t>
            </a:r>
            <a:r>
              <a:rPr b="1" dirty="0">
                <a:solidFill>
                  <a:srgbClr val="112A23"/>
                </a:solidFill>
                <a:latin typeface="Aptos Display"/>
              </a:rPr>
              <a:t> → HF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5143549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Four-tier AI fallback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10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B9E52EE-EF33-9BBC-5C3F-41016C9E6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403" y="5684566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6" name="Shape 4">
            <a:extLst>
              <a:ext uri="{FF2B5EF4-FFF2-40B4-BE49-F238E27FC236}">
                <a16:creationId xmlns:a16="http://schemas.microsoft.com/office/drawing/2014/main" id="{F506DDB9-3079-32CA-03C9-E517A13BF49D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7" name="!!Spine">
            <a:extLst>
              <a:ext uri="{FF2B5EF4-FFF2-40B4-BE49-F238E27FC236}">
                <a16:creationId xmlns:a16="http://schemas.microsoft.com/office/drawing/2014/main" id="{259FD754-0314-6C0B-5F56-7E8B61DD64CB}"/>
              </a:ext>
            </a:extLst>
          </p:cNvPr>
          <p:cNvSpPr/>
          <p:nvPr/>
        </p:nvSpPr>
        <p:spPr>
          <a:xfrm>
            <a:off x="640080" y="6327648"/>
            <a:ext cx="5950250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06 •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Attendance &amp; Gate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743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6A4E"/>
                </a:solidFill>
                <a:latin typeface="Aptos"/>
              </a:rPr>
              <a:t>Evidence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45720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37944"/>
            <a:ext cx="2468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"/>
              </a:rPr>
              <a:t>QR + optional 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37944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Highest-confidence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0604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45720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914400" y="2862072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72941"/>
            <a:ext cx="22555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Worker GPS self-check-in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280" y="2752344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~250 m configurable radius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868680" y="3703320"/>
            <a:ext cx="4572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66744"/>
            <a:ext cx="2682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Resident-scanned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3380" y="3666744"/>
            <a:ext cx="2011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Works when worker has no 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39"/>
            <a:ext cx="5486400" cy="9554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868680" y="4722422"/>
            <a:ext cx="4572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914400" y="4795574"/>
            <a:ext cx="3657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81144"/>
            <a:ext cx="292434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"/>
              </a:rPr>
              <a:t>Photographed paper 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790337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6746C"/>
                </a:solidFill>
                <a:latin typeface="Aptos"/>
              </a:rPr>
              <a:t>Last-resort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1691640"/>
            <a:ext cx="4846320" cy="3611880"/>
          </a:xfrm>
          <a:prstGeom prst="roundRect">
            <a:avLst/>
          </a:prstGeom>
          <a:solidFill>
            <a:srgbClr val="112A23"/>
          </a:solidFill>
          <a:ln w="12700">
            <a:solidFill>
              <a:srgbClr val="1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995160" y="205740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3A439"/>
                </a:solidFill>
                <a:latin typeface="Aptos"/>
              </a:rPr>
              <a:t>THE NON-NEGOTIABLE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320" y="2371305"/>
            <a:ext cx="475488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ptos Display"/>
              </a:rPr>
              <a:t>No automated tier may
alone deny income or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069080"/>
            <a:ext cx="411480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CAE0D6"/>
                </a:solidFill>
                <a:latin typeface="Aptos"/>
              </a:rPr>
              <a:t>Low-confidence face • missing GPS </a:t>
            </a:r>
            <a:endParaRPr lang="en-IN" sz="1600" b="0" dirty="0">
              <a:solidFill>
                <a:srgbClr val="CAE0D6"/>
              </a:solidFill>
              <a:latin typeface="Aptos"/>
            </a:endParaRPr>
          </a:p>
          <a:p>
            <a:pPr algn="ctr"/>
            <a:r>
              <a:rPr sz="1600" b="0" dirty="0">
                <a:solidFill>
                  <a:srgbClr val="CAE0D6"/>
                </a:solidFill>
                <a:latin typeface="Aptos"/>
              </a:rPr>
              <a:t>• OCR failure • AI outage
→ route to a human decision, with an audit trail.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3E82594-2442-1E03-24AC-46044CD99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D62866A4-0E9D-5F44-3C65-8687C3A56B31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5" name="!!Spine">
            <a:extLst>
              <a:ext uri="{FF2B5EF4-FFF2-40B4-BE49-F238E27FC236}">
                <a16:creationId xmlns:a16="http://schemas.microsoft.com/office/drawing/2014/main" id="{BA6AA245-33A6-3F40-7784-55066E55798E}"/>
              </a:ext>
            </a:extLst>
          </p:cNvPr>
          <p:cNvSpPr/>
          <p:nvPr/>
        </p:nvSpPr>
        <p:spPr>
          <a:xfrm>
            <a:off x="640080" y="6327648"/>
            <a:ext cx="6446104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05 • 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422" y="558341"/>
            <a:ext cx="11883149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Worker KYC: From Document Image to Verified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1368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58952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58952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35808"/>
            <a:ext cx="1371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Aadhaar front / back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60904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2660904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03580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Extract fields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05272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562856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4562856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03580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Verhoeff + 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07224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64808" y="1508760"/>
            <a:ext cx="822960" cy="822960"/>
          </a:xfrm>
          <a:prstGeom prst="ellipse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6464808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651760"/>
            <a:ext cx="170078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12A23"/>
                </a:solidFill>
                <a:latin typeface="Aptos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035808"/>
            <a:ext cx="1371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6746C"/>
                </a:solidFill>
                <a:latin typeface="Aptos"/>
              </a:rPr>
              <a:t>Front / back consistency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9176" y="2011680"/>
            <a:ext cx="557784" cy="0"/>
          </a:xfrm>
          <a:prstGeom prst="line">
            <a:avLst/>
          </a:prstGeom>
          <a:ln w="1905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366760" y="1508760"/>
            <a:ext cx="822960" cy="8229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8366760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303580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Human escalation</a:t>
            </a:r>
          </a:p>
        </p:txBody>
      </p:sp>
      <p:sp>
        <p:nvSpPr>
          <p:cNvPr id="30" name="Oval 29"/>
          <p:cNvSpPr/>
          <p:nvPr/>
        </p:nvSpPr>
        <p:spPr>
          <a:xfrm>
            <a:off x="10268712" y="1508760"/>
            <a:ext cx="822960" cy="822960"/>
          </a:xfrm>
          <a:prstGeom prst="ellipse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10268712" y="1783080"/>
            <a:ext cx="822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651760"/>
            <a:ext cx="1371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Activate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3035808"/>
            <a:ext cx="1371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Search + gate eligibility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251960"/>
            <a:ext cx="9966960" cy="1474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Rectangle 34"/>
          <p:cNvSpPr/>
          <p:nvPr/>
        </p:nvSpPr>
        <p:spPr>
          <a:xfrm>
            <a:off x="1097280" y="4251960"/>
            <a:ext cx="45719" cy="145501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1298448" y="4416552"/>
            <a:ext cx="9601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A23"/>
                </a:solidFill>
                <a:latin typeface="Aptos Display"/>
              </a:rPr>
              <a:t>Privacy posture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873752"/>
            <a:ext cx="9601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6746C"/>
                </a:solidFill>
                <a:latin typeface="Aptos"/>
              </a:rPr>
              <a:t>Full Aadhaar numbers are never stored. The system keeps masked display data and a keyed hash for duplicate detection; sensitive processing is consent-gated and reviewable.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11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E08B19A-4660-79AB-71FD-63B7CE4CC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820" y="5636787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42" name="Shape 4">
            <a:extLst>
              <a:ext uri="{FF2B5EF4-FFF2-40B4-BE49-F238E27FC236}">
                <a16:creationId xmlns:a16="http://schemas.microsoft.com/office/drawing/2014/main" id="{0F3E9FAA-B388-626B-C966-7EEC4984A903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43" name="!!Spine">
            <a:extLst>
              <a:ext uri="{FF2B5EF4-FFF2-40B4-BE49-F238E27FC236}">
                <a16:creationId xmlns:a16="http://schemas.microsoft.com/office/drawing/2014/main" id="{D585CD3D-6AAE-3F6B-54EF-EA2CB8F9A61A}"/>
              </a:ext>
            </a:extLst>
          </p:cNvPr>
          <p:cNvSpPr/>
          <p:nvPr/>
        </p:nvSpPr>
        <p:spPr>
          <a:xfrm>
            <a:off x="640080" y="6327648"/>
            <a:ext cx="6941959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05 •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Discovery, Hiring &amp; One-Day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120640" cy="448056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2976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A23"/>
                </a:solidFill>
                <a:latin typeface="Aptos Display"/>
              </a:rPr>
              <a:t>Explainable worker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0116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"/>
              </a:rPr>
              <a:t>Trust score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514600"/>
            <a:ext cx="4160520" cy="201168"/>
          </a:xfrm>
          <a:prstGeom prst="roundRect">
            <a:avLst/>
          </a:prstGeom>
          <a:solidFill>
            <a:srgbClr val="E2F3EC"/>
          </a:solidFill>
          <a:ln w="12700">
            <a:solidFill>
              <a:srgbClr val="E2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960120" y="2514600"/>
            <a:ext cx="1252728" cy="201168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201168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12A23"/>
                </a:solidFill>
                <a:latin typeface="Aptos"/>
              </a:rPr>
              <a:t>Rating history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4160520" cy="201168"/>
          </a:xfrm>
          <a:prstGeom prst="roundRect">
            <a:avLst/>
          </a:prstGeom>
          <a:solidFill>
            <a:srgbClr val="E2F3EC"/>
          </a:solidFill>
          <a:ln w="12700">
            <a:solidFill>
              <a:srgbClr val="E2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960120" y="3246120"/>
            <a:ext cx="1042415" cy="201168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42519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746C"/>
                </a:solidFill>
                <a:latin typeface="Aptos"/>
              </a:rPr>
              <a:t>Availability 20%  •  Responsiveness 15%  •  Proximity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42519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006A4E"/>
                </a:solidFill>
                <a:latin typeface="Aptos"/>
              </a:rPr>
              <a:t>The breakdown is visible to the user — no black-box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23444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4480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2A23"/>
                </a:solidFill>
                <a:latin typeface="Aptos Display"/>
              </a:rPr>
              <a:t>Two ways to engage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03120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59436" cy="141732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601968" y="2267712"/>
            <a:ext cx="4343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A23"/>
                </a:solidFill>
                <a:latin typeface="Aptos Display"/>
              </a:rPr>
              <a:t>Recurring 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24912"/>
            <a:ext cx="43434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Hire a worker for an ongoing relationship. Response deadline, pause/resume, notice rules and urgent safety termination are built into the lifecycle.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49039"/>
            <a:ext cx="4709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59436" cy="1417320"/>
          </a:xfrm>
          <a:prstGeom prst="rect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6601968" y="3913631"/>
            <a:ext cx="43434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A23"/>
                </a:solidFill>
                <a:latin typeface="Aptos Display"/>
              </a:rPr>
              <a:t>One-Day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370831"/>
            <a:ext cx="434340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Deep cleaning, shifting, event prep, temporary cooking or emergency assistance — with date-specific availability and a separate booking lifecycle.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DA56C6-9F7D-4684-A114-A66307720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844" y="5583924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1ADDC9A3-49DC-BE96-ECA9-486683CE799E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0" name="!!Spine">
            <a:extLst>
              <a:ext uri="{FF2B5EF4-FFF2-40B4-BE49-F238E27FC236}">
                <a16:creationId xmlns:a16="http://schemas.microsoft.com/office/drawing/2014/main" id="{39CB3F0B-F8AD-F7E3-5951-35451DF1E96E}"/>
              </a:ext>
            </a:extLst>
          </p:cNvPr>
          <p:cNvSpPr/>
          <p:nvPr/>
        </p:nvSpPr>
        <p:spPr>
          <a:xfrm>
            <a:off x="640080" y="6327648"/>
            <a:ext cx="7437813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06 •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625" y="492651"/>
            <a:ext cx="11883149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Payments: Transparent for Residents, Fair for Workers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1965960"/>
            <a:ext cx="777240" cy="0"/>
          </a:xfrm>
          <a:prstGeom prst="line">
            <a:avLst/>
          </a:prstGeom>
          <a:ln w="2540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RESIDENT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94960" y="1965960"/>
            <a:ext cx="777240" cy="0"/>
          </a:xfrm>
          <a:prstGeom prst="line">
            <a:avLst/>
          </a:prstGeom>
          <a:ln w="2540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566160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RAZORPAY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Verifies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1965960"/>
            <a:ext cx="777241" cy="0"/>
          </a:xfrm>
          <a:prstGeom prst="line">
            <a:avLst/>
          </a:prstGeom>
          <a:ln w="25400">
            <a:solidFill>
              <a:srgbClr val="D8E5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355079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SATHIFY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417320"/>
            <a:ext cx="2011680" cy="114300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43999" y="169164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112A23"/>
                </a:solidFill>
                <a:latin typeface="Aptos"/>
              </a:rPr>
              <a:t>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2029968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Receives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2296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06A4E"/>
                </a:solidFill>
                <a:latin typeface="Aptos Display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Platform fee on recurring wages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352044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D3A439"/>
                </a:solidFill>
                <a:latin typeface="Aptos Display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Tips reach the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621792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D719D"/>
                </a:solidFill>
                <a:latin typeface="Aptos Display"/>
              </a:rPr>
              <a:t>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One-day booking fee, capped ₹40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23960" y="32461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915400" y="3410712"/>
            <a:ext cx="2331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C2564C"/>
                </a:solidFill>
                <a:latin typeface="Aptos Display"/>
              </a:rPr>
              <a:t>₹0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959352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Platform revenue from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101498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66746C"/>
                </a:solidFill>
                <a:latin typeface="Aptos"/>
              </a:rPr>
              <a:t>Payment state advances only after a cryptographically verified gateway message; webhooks are logged and deduplicated.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14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2195B51-4B56-E1AF-EBD9-DF116EFCD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7" name="Shape 4">
            <a:extLst>
              <a:ext uri="{FF2B5EF4-FFF2-40B4-BE49-F238E27FC236}">
                <a16:creationId xmlns:a16="http://schemas.microsoft.com/office/drawing/2014/main" id="{F8418A9A-9C8A-2809-7BE7-B0F55B86B77B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8" name="!!Spine">
            <a:extLst>
              <a:ext uri="{FF2B5EF4-FFF2-40B4-BE49-F238E27FC236}">
                <a16:creationId xmlns:a16="http://schemas.microsoft.com/office/drawing/2014/main" id="{869079E8-F262-0753-5638-E8012AD21059}"/>
              </a:ext>
            </a:extLst>
          </p:cNvPr>
          <p:cNvSpPr/>
          <p:nvPr/>
        </p:nvSpPr>
        <p:spPr>
          <a:xfrm>
            <a:off x="640080" y="6327648"/>
            <a:ext cx="7933667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08 •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789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12A23"/>
                </a:solidFill>
                <a:latin typeface="Aptos Display"/>
              </a:rPr>
              <a:t>Security &amp; Privacy by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886968" y="1527048"/>
            <a:ext cx="96012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868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26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A23"/>
                </a:solidFill>
                <a:latin typeface="Aptos"/>
              </a:rPr>
              <a:t>Default-deny RBAC + short-lived JWT + rotating refresh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4590288" y="1527048"/>
            <a:ext cx="96012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4636007" y="1600200"/>
            <a:ext cx="868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TENANCY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29260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A23"/>
                </a:solidFill>
                <a:latin typeface="Aptos"/>
              </a:rPr>
              <a:t>Society-scoped models and querysets prevent cross-society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8293608" y="1527048"/>
            <a:ext cx="96012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339328" y="1600200"/>
            <a:ext cx="868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39112"/>
            <a:ext cx="2926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A23"/>
                </a:solidFill>
                <a:latin typeface="Aptos"/>
              </a:rPr>
              <a:t>Aadhaar never stored in full; masked display + keyed hash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ounded Rectangle 17"/>
          <p:cNvSpPr/>
          <p:nvPr/>
        </p:nvSpPr>
        <p:spPr>
          <a:xfrm>
            <a:off x="886968" y="3447288"/>
            <a:ext cx="96012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932688" y="3520440"/>
            <a:ext cx="868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59352"/>
            <a:ext cx="29260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A23"/>
                </a:solidFill>
                <a:latin typeface="Aptos"/>
              </a:rPr>
              <a:t>No card/bank data stored; Razorpay webhook signatures verified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461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4590288" y="3447288"/>
            <a:ext cx="96012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4636007" y="3520440"/>
            <a:ext cx="868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959352"/>
            <a:ext cx="2926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A23"/>
                </a:solidFill>
                <a:latin typeface="Aptos"/>
              </a:rPr>
              <a:t>Purpose-limited, individually revocable sensitive-data consent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ounded Rectangle 25"/>
          <p:cNvSpPr/>
          <p:nvPr/>
        </p:nvSpPr>
        <p:spPr>
          <a:xfrm>
            <a:off x="8293608" y="3447288"/>
            <a:ext cx="96012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8339328" y="3520440"/>
            <a:ext cx="868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959352"/>
            <a:ext cx="2926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2A23"/>
                </a:solidFill>
                <a:latin typeface="Aptos"/>
              </a:rPr>
              <a:t>3-year operational history; 7-year financial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103327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006A4E"/>
                </a:solidFill>
                <a:latin typeface="Aptos"/>
              </a:rPr>
              <a:t>HTTPS is mandatory for all client-server traffic.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17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6265186-D441-1A15-04C9-5D391189C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17BE03CE-EE83-7ACE-8FF4-D6BECCBC5C1E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6" name="!!Spine">
            <a:extLst>
              <a:ext uri="{FF2B5EF4-FFF2-40B4-BE49-F238E27FC236}">
                <a16:creationId xmlns:a16="http://schemas.microsoft.com/office/drawing/2014/main" id="{4EA1A5DB-0697-1F69-3748-8B7D077725A6}"/>
              </a:ext>
            </a:extLst>
          </p:cNvPr>
          <p:cNvSpPr/>
          <p:nvPr/>
        </p:nvSpPr>
        <p:spPr>
          <a:xfrm>
            <a:off x="640080" y="6327648"/>
            <a:ext cx="8429521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08 •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515184"/>
            <a:ext cx="11597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AI That Fails Gracefully — Instead of Failing the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31720" cy="105156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2148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12A23"/>
                </a:solidFill>
                <a:latin typeface="Aptos"/>
              </a:rPr>
              <a:t>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148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Primary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4952" y="1847088"/>
            <a:ext cx="384048" cy="0"/>
          </a:xfrm>
          <a:prstGeom prst="line">
            <a:avLst/>
          </a:prstGeom>
          <a:ln w="22860">
            <a:solidFill>
              <a:srgbClr val="D3A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325880"/>
            <a:ext cx="2331720" cy="105156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148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12A23"/>
                </a:solidFill>
                <a:latin typeface="Aptos"/>
              </a:rPr>
              <a:t>Groq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148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Fallback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3872" y="1847088"/>
            <a:ext cx="384048" cy="0"/>
          </a:xfrm>
          <a:prstGeom prst="line">
            <a:avLst/>
          </a:prstGeom>
          <a:ln w="22860">
            <a:solidFill>
              <a:srgbClr val="D3A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325880"/>
            <a:ext cx="2331720" cy="105156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355079" y="1572768"/>
            <a:ext cx="2148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12A23"/>
                </a:solidFill>
                <a:latin typeface="Aptos"/>
              </a:rPr>
              <a:t>OpenRouter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1920240"/>
            <a:ext cx="2148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Fallback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22792" y="1847088"/>
            <a:ext cx="384048" cy="0"/>
          </a:xfrm>
          <a:prstGeom prst="line">
            <a:avLst/>
          </a:prstGeom>
          <a:ln w="22860">
            <a:solidFill>
              <a:srgbClr val="D3A4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59" y="1325880"/>
            <a:ext cx="2331720" cy="105156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43999" y="1572768"/>
            <a:ext cx="2148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12A23"/>
                </a:solidFill>
                <a:latin typeface="Aptos"/>
              </a:rPr>
              <a:t>Hugging 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1920240"/>
            <a:ext cx="2148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Fallback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6A4E"/>
                </a:solidFill>
                <a:latin typeface="Aptos"/>
              </a:rPr>
              <a:t>AI capabilities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83280"/>
            <a:ext cx="3240000" cy="540000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777240" y="3499971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Worker 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383280"/>
            <a:ext cx="3240000" cy="540000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4480559" y="3493096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Conversational intent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83280"/>
            <a:ext cx="3240000" cy="540000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8229599" y="3499971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OCR 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37426"/>
            <a:ext cx="3240000" cy="540000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777240" y="4255531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Face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137426"/>
            <a:ext cx="3240000" cy="540000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4494276" y="4255531"/>
            <a:ext cx="3063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Review summarization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37424"/>
            <a:ext cx="3240000" cy="540000"/>
          </a:xfrm>
          <a:prstGeom prst="roundRect">
            <a:avLst/>
          </a:prstGeom>
          <a:solidFill>
            <a:srgbClr val="3D719D"/>
          </a:solidFill>
          <a:ln w="12700">
            <a:solidFill>
              <a:srgbClr val="3D7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7955281" y="4248355"/>
            <a:ext cx="361187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Sentiment &amp; complaint classification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002410"/>
            <a:ext cx="10149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" name="Rectangle 33"/>
          <p:cNvSpPr/>
          <p:nvPr/>
        </p:nvSpPr>
        <p:spPr>
          <a:xfrm>
            <a:off x="1005840" y="5002410"/>
            <a:ext cx="45719" cy="1143000"/>
          </a:xfrm>
          <a:prstGeom prst="rect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" name="TextBox 34"/>
          <p:cNvSpPr txBox="1"/>
          <p:nvPr/>
        </p:nvSpPr>
        <p:spPr>
          <a:xfrm>
            <a:off x="1207008" y="5167002"/>
            <a:ext cx="9784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12A23"/>
                </a:solidFill>
                <a:latin typeface="Aptos Display"/>
              </a:rPr>
              <a:t>Safety convention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516015"/>
            <a:ext cx="97840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6746C"/>
                </a:solidFill>
                <a:latin typeface="Aptos"/>
              </a:rPr>
              <a:t>Every AI-backed feature has a non-AI fallback. The assistant identifies the question; figures come from the same application queries used by the screen — not from model-generated data.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16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2AA31D7-CB11-29CF-E417-B425CEE96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549" y="5553845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41" name="Shape 4">
            <a:extLst>
              <a:ext uri="{FF2B5EF4-FFF2-40B4-BE49-F238E27FC236}">
                <a16:creationId xmlns:a16="http://schemas.microsoft.com/office/drawing/2014/main" id="{8CD70B4D-8774-569A-9E0C-CB50E58A5EBE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42" name="!!Spine">
            <a:extLst>
              <a:ext uri="{FF2B5EF4-FFF2-40B4-BE49-F238E27FC236}">
                <a16:creationId xmlns:a16="http://schemas.microsoft.com/office/drawing/2014/main" id="{35396070-AE37-2106-C144-533530BBA8D3}"/>
              </a:ext>
            </a:extLst>
          </p:cNvPr>
          <p:cNvSpPr/>
          <p:nvPr/>
        </p:nvSpPr>
        <p:spPr>
          <a:xfrm>
            <a:off x="640080" y="6327648"/>
            <a:ext cx="8925375" cy="8229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09 •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15976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112A23"/>
                </a:solidFill>
                <a:latin typeface="Aptos Display"/>
              </a:rPr>
              <a:t>Business Model: Society-Anchored, Worker-Friendly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99" y="1188720"/>
            <a:ext cx="837717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12A23"/>
                </a:solidFill>
                <a:latin typeface="Aptos Display"/>
              </a:rPr>
              <a:t>The unit of sale is the society — not the household.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46120" cy="21488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960120" y="2103120"/>
            <a:ext cx="100584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9144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6517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A23"/>
                </a:solidFill>
                <a:latin typeface="Aptos Display"/>
              </a:rPr>
              <a:t>₹0 / indefinitely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26517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Full operating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246120" cy="21488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4617720" y="2103120"/>
            <a:ext cx="100584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663440" y="2176272"/>
            <a:ext cx="9144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97480"/>
            <a:ext cx="26517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2A23"/>
                </a:solidFill>
                <a:latin typeface="Aptos Display"/>
              </a:rPr>
              <a:t>₹</a:t>
            </a:r>
            <a:r>
              <a:rPr lang="en-IN" sz="2400" b="1" dirty="0">
                <a:solidFill>
                  <a:srgbClr val="112A23"/>
                </a:solidFill>
                <a:latin typeface="Aptos Display"/>
              </a:rPr>
              <a:t>2,500</a:t>
            </a:r>
            <a:r>
              <a:rPr sz="2400" b="1" dirty="0">
                <a:solidFill>
                  <a:srgbClr val="112A23"/>
                </a:solidFill>
                <a:latin typeface="Aptos Display"/>
              </a:rPr>
              <a:t>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18688"/>
            <a:ext cx="26517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Unlimited workers + reports + SLA escalation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246120" cy="2148840"/>
          </a:xfrm>
          <a:prstGeom prst="roundRect">
            <a:avLst/>
          </a:prstGeom>
          <a:solidFill>
            <a:srgbClr val="F6FAF8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8275320" y="2103120"/>
            <a:ext cx="100584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21040" y="2176272"/>
            <a:ext cx="9144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PLUS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97480"/>
            <a:ext cx="26517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2A23"/>
                </a:solidFill>
                <a:latin typeface="Aptos Display"/>
              </a:rPr>
              <a:t>₹4,000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18688"/>
            <a:ext cx="26517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746C"/>
                </a:solidFill>
                <a:latin typeface="Aptos"/>
              </a:rPr>
              <a:t>Verification credits + multi-gate + ERP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4434840"/>
            <a:ext cx="437083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006A4E"/>
                </a:solidFill>
                <a:latin typeface="Aptos"/>
              </a:rPr>
              <a:t>Additional monetization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731519" y="5127855"/>
            <a:ext cx="19659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12A23"/>
                </a:solidFill>
                <a:latin typeface="Aptos"/>
              </a:rPr>
              <a:t>One-day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413248"/>
            <a:ext cx="17373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8%, capped ₹40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8648" y="4892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3008376" y="5102352"/>
            <a:ext cx="1737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A23"/>
                </a:solidFill>
                <a:latin typeface="Aptos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48940" y="5413248"/>
            <a:ext cx="185623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100" dirty="0">
                <a:solidFill>
                  <a:srgbClr val="66746C"/>
                </a:solidFill>
                <a:latin typeface="Aptos"/>
              </a:rPr>
              <a:t>~ </a:t>
            </a:r>
            <a:r>
              <a:rPr sz="1100" b="0" dirty="0">
                <a:solidFill>
                  <a:srgbClr val="66746C"/>
                </a:solidFill>
                <a:latin typeface="Aptos"/>
              </a:rPr>
              <a:t>₹250 police / </a:t>
            </a:r>
            <a:r>
              <a:rPr lang="en-IN" sz="1100" b="0" dirty="0">
                <a:solidFill>
                  <a:srgbClr val="66746C"/>
                </a:solidFill>
                <a:latin typeface="Aptos"/>
              </a:rPr>
              <a:t>~ </a:t>
            </a:r>
            <a:r>
              <a:rPr sz="1100" b="0" dirty="0">
                <a:solidFill>
                  <a:srgbClr val="66746C"/>
                </a:solidFill>
                <a:latin typeface="Aptos"/>
              </a:rPr>
              <a:t>₹150 skills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1496" y="4892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5221224" y="5102352"/>
            <a:ext cx="1737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A23"/>
                </a:solidFill>
                <a:latin typeface="Aptos"/>
              </a:rPr>
              <a:t>Placement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1224" y="5413248"/>
            <a:ext cx="17373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≈₹99 / month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4344" y="4892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7434071" y="5102352"/>
            <a:ext cx="1737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A23"/>
                </a:solidFill>
                <a:latin typeface="Aptos"/>
              </a:rPr>
              <a:t>Advertising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1" y="5413248"/>
            <a:ext cx="17373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Resident-only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37192" y="4892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9646919" y="5102352"/>
            <a:ext cx="1737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A23"/>
                </a:solidFill>
                <a:latin typeface="Aptos"/>
              </a:rPr>
              <a:t>Tips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19" y="5413248"/>
            <a:ext cx="17373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₹0 platform revenue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18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2B85F97-9433-C00D-926A-ED19DF66F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4006" y="5674858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42" name="Shape 4">
            <a:extLst>
              <a:ext uri="{FF2B5EF4-FFF2-40B4-BE49-F238E27FC236}">
                <a16:creationId xmlns:a16="http://schemas.microsoft.com/office/drawing/2014/main" id="{42C2C5BD-599F-695E-00D5-6D5BEDCDADC3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43" name="!!Spine">
            <a:extLst>
              <a:ext uri="{FF2B5EF4-FFF2-40B4-BE49-F238E27FC236}">
                <a16:creationId xmlns:a16="http://schemas.microsoft.com/office/drawing/2014/main" id="{ACEBEEEC-FCE7-63BE-EADB-69E92DE8A616}"/>
              </a:ext>
            </a:extLst>
          </p:cNvPr>
          <p:cNvSpPr/>
          <p:nvPr/>
        </p:nvSpPr>
        <p:spPr>
          <a:xfrm>
            <a:off x="640080" y="6327648"/>
            <a:ext cx="9421229" cy="82296"/>
          </a:xfrm>
          <a:prstGeom prst="rect">
            <a:avLst/>
          </a:prstGeom>
          <a:solidFill>
            <a:srgbClr val="A3E635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201168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006A4E"/>
                </a:solidFill>
                <a:latin typeface="Aptos"/>
              </a:rPr>
              <a:t>09 •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13871"/>
            <a:ext cx="1242715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112A23"/>
                </a:solidFill>
                <a:latin typeface="Aptos Display"/>
              </a:rPr>
              <a:t>Unit Economics: The First Paying Society Covers Its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14883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006A4E"/>
                </a:solidFill>
                <a:latin typeface="Aptos Display"/>
              </a:rPr>
              <a:t>₹1,500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214883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Subscription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2588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291840" y="1490472"/>
            <a:ext cx="214883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D3A439"/>
                </a:solidFill>
                <a:latin typeface="Aptos Display"/>
              </a:rPr>
              <a:t>₹1,680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39112"/>
            <a:ext cx="214883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~60 booking fees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32588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5806440" y="1490472"/>
            <a:ext cx="214883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3D719D"/>
                </a:solidFill>
                <a:latin typeface="Aptos Display"/>
              </a:rPr>
              <a:t>₹1,000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39112"/>
            <a:ext cx="214883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~4 verification badges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214883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C2564C"/>
                </a:solidFill>
                <a:latin typeface="Aptos Display"/>
              </a:rPr>
              <a:t>₹300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214883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746C"/>
                </a:solidFill>
                <a:latin typeface="Aptos"/>
              </a:rPr>
              <a:t>Advertising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" y="2971800"/>
            <a:ext cx="672315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12A23"/>
                </a:solidFill>
                <a:latin typeface="Aptos"/>
              </a:rPr>
              <a:t>Indicative monthly revenue — 200-flat Standard society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20440"/>
            <a:ext cx="88696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Rectangle 18"/>
          <p:cNvSpPr/>
          <p:nvPr/>
        </p:nvSpPr>
        <p:spPr>
          <a:xfrm>
            <a:off x="777240" y="3520440"/>
            <a:ext cx="2969758" cy="45720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ectangle 19"/>
          <p:cNvSpPr/>
          <p:nvPr/>
        </p:nvSpPr>
        <p:spPr>
          <a:xfrm>
            <a:off x="3746998" y="3520440"/>
            <a:ext cx="3326129" cy="457200"/>
          </a:xfrm>
          <a:prstGeom prst="rect">
            <a:avLst/>
          </a:prstGeom>
          <a:solidFill>
            <a:srgbClr val="D3A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7073128" y="3520440"/>
            <a:ext cx="1979839" cy="457200"/>
          </a:xfrm>
          <a:prstGeom prst="rect">
            <a:avLst/>
          </a:prstGeom>
          <a:solidFill>
            <a:srgbClr val="3D7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9052968" y="3520440"/>
            <a:ext cx="593951" cy="457200"/>
          </a:xfrm>
          <a:prstGeom prst="rect">
            <a:avLst/>
          </a:prstGeom>
          <a:solidFill>
            <a:srgbClr val="C25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56235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06A4E"/>
                </a:solidFill>
                <a:latin typeface="Aptos Display"/>
              </a:rPr>
              <a:t>≈ ₹4,480 revenue / society /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5318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66746C"/>
                </a:solidFill>
                <a:latin typeface="Aptos"/>
              </a:rPr>
              <a:t>Indicative infrastructure cost: ≈ ₹600 / month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97680"/>
            <a:ext cx="4480560" cy="1005840"/>
          </a:xfrm>
          <a:prstGeom prst="roundRect">
            <a:avLst/>
          </a:prstGeom>
          <a:solidFill>
            <a:srgbClr val="112A23"/>
          </a:solidFill>
          <a:ln w="12700">
            <a:solidFill>
              <a:srgbClr val="112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629400" y="4507992"/>
            <a:ext cx="40233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Tips processed: ≈ ₹12,000
Platform revenue from tips: ₹0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1498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6746C"/>
                </a:solidFill>
                <a:latin typeface="Aptos"/>
              </a:rPr>
              <a:t>The model monetises durable society value rather than recurring wages.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19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79FB772-C460-E145-305B-368729A5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32" name="Shape 4">
            <a:extLst>
              <a:ext uri="{FF2B5EF4-FFF2-40B4-BE49-F238E27FC236}">
                <a16:creationId xmlns:a16="http://schemas.microsoft.com/office/drawing/2014/main" id="{80F3AAA8-6618-664D-FD4E-BCA9CD84B054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12291E"/>
          </a:solidFill>
          <a:ln/>
        </p:spPr>
      </p:sp>
      <p:sp>
        <p:nvSpPr>
          <p:cNvPr id="33" name="!!Spine">
            <a:extLst>
              <a:ext uri="{FF2B5EF4-FFF2-40B4-BE49-F238E27FC236}">
                <a16:creationId xmlns:a16="http://schemas.microsoft.com/office/drawing/2014/main" id="{A8E99CDC-7ACD-07B1-6601-096A08E275A4}"/>
              </a:ext>
            </a:extLst>
          </p:cNvPr>
          <p:cNvSpPr/>
          <p:nvPr/>
        </p:nvSpPr>
        <p:spPr>
          <a:xfrm>
            <a:off x="640080" y="6327648"/>
            <a:ext cx="10412938" cy="82296"/>
          </a:xfrm>
          <a:prstGeom prst="rect">
            <a:avLst/>
          </a:prstGeom>
          <a:solidFill>
            <a:srgbClr val="2ECC7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73152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 Display"/>
              </a:rPr>
              <a:t>Roadmap &amp; Closing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247524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D3A439"/>
                </a:solidFill>
                <a:latin typeface="Aptos"/>
              </a:rPr>
              <a:t>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46120" cy="2768664"/>
          </a:xfrm>
          <a:prstGeom prst="roundRect">
            <a:avLst/>
          </a:prstGeom>
          <a:solidFill>
            <a:srgbClr val="18392F"/>
          </a:solidFill>
          <a:ln w="12700">
            <a:solidFill>
              <a:srgbClr val="2B5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960120" y="2267712"/>
            <a:ext cx="914400" cy="347472"/>
          </a:xfrm>
          <a:prstGeom prst="roundRect">
            <a:avLst/>
          </a:prstGeom>
          <a:solidFill>
            <a:srgbClr val="006A4E"/>
          </a:solidFill>
          <a:ln w="1270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1005840" y="2340864"/>
            <a:ext cx="8229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7889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D3E8DE"/>
                </a:solidFill>
                <a:latin typeface="Aptos"/>
              </a:rPr>
              <a:t>Android-first mobile platform
Free-tier deployment
Core trust +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46120" cy="2768664"/>
          </a:xfrm>
          <a:prstGeom prst="roundRect">
            <a:avLst/>
          </a:prstGeom>
          <a:solidFill>
            <a:srgbClr val="18392F"/>
          </a:solidFill>
          <a:ln w="12700">
            <a:solidFill>
              <a:srgbClr val="2B5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ounded Rectangle 8"/>
          <p:cNvSpPr/>
          <p:nvPr/>
        </p:nvSpPr>
        <p:spPr>
          <a:xfrm>
            <a:off x="4663440" y="2267712"/>
            <a:ext cx="9144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709159" y="2340864"/>
            <a:ext cx="8229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889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D3E8DE"/>
                </a:solidFill>
                <a:latin typeface="Aptos"/>
              </a:rPr>
              <a:t>Public iOS release
Insurance integration
Portable salary history
Expanded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246120" cy="2768664"/>
          </a:xfrm>
          <a:prstGeom prst="roundRect">
            <a:avLst/>
          </a:prstGeom>
          <a:solidFill>
            <a:srgbClr val="18392F"/>
          </a:solidFill>
          <a:ln w="12700">
            <a:solidFill>
              <a:srgbClr val="2B5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ounded Rectangle 12"/>
          <p:cNvSpPr/>
          <p:nvPr/>
        </p:nvSpPr>
        <p:spPr>
          <a:xfrm>
            <a:off x="8366760" y="2267712"/>
            <a:ext cx="914400" cy="347472"/>
          </a:xfrm>
          <a:prstGeom prst="roundRect">
            <a:avLst/>
          </a:prstGeom>
          <a:solidFill>
            <a:srgbClr val="D3A439"/>
          </a:solidFill>
          <a:ln w="12700">
            <a:solidFill>
              <a:srgbClr val="D3A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8412480" y="2340864"/>
            <a:ext cx="8229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62" y="2778861"/>
            <a:ext cx="3017518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b="1" dirty="0">
                <a:solidFill>
                  <a:srgbClr val="D3E8DE"/>
                </a:solidFill>
                <a:latin typeface="Aptos"/>
              </a:rPr>
              <a:t>Smart-gate hardware
Learned recommendations
AI scheduling / prediction
Self-serve subscriptions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94982"/>
            <a:ext cx="1073031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Aptos Display"/>
              </a:rPr>
              <a:t>Sathify</a:t>
            </a:r>
            <a:r>
              <a:rPr sz="3200" b="1" dirty="0">
                <a:solidFill>
                  <a:srgbClr val="FFFFFF"/>
                </a:solidFill>
                <a:latin typeface="Aptos Display"/>
              </a:rPr>
              <a:t> turns an informal, high-trust service into an accountable digital system.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46C"/>
                </a:solidFill>
                <a:latin typeface="Aptos"/>
              </a:rPr>
              <a:t>SATHIFY  •  Smart Society Domestic Workforce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92240"/>
            <a:ext cx="59436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006A4E"/>
                </a:solidFill>
                <a:latin typeface="Aptos"/>
              </a:rPr>
              <a:t>20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B344BC-3FF3-4CB5-2B5B-5D77EEF2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420" y="5526282"/>
            <a:ext cx="662872" cy="662872"/>
          </a:xfrm>
          <a:prstGeom prst="rect">
            <a:avLst/>
          </a:prstGeom>
          <a:effectLst>
            <a:softEdge rad="101600"/>
          </a:effectLst>
        </p:spPr>
      </p:pic>
      <p:sp>
        <p:nvSpPr>
          <p:cNvPr id="22" name="!!Spine">
            <a:extLst>
              <a:ext uri="{FF2B5EF4-FFF2-40B4-BE49-F238E27FC236}">
                <a16:creationId xmlns:a16="http://schemas.microsoft.com/office/drawing/2014/main" id="{8B4AD334-2DEF-3A21-2C59-2EF810F34812}"/>
              </a:ext>
            </a:extLst>
          </p:cNvPr>
          <p:cNvSpPr/>
          <p:nvPr/>
        </p:nvSpPr>
        <p:spPr>
          <a:xfrm>
            <a:off x="640080" y="6327648"/>
            <a:ext cx="10908792" cy="82296"/>
          </a:xfrm>
          <a:prstGeom prst="rect">
            <a:avLst/>
          </a:prstGeom>
          <a:solidFill>
            <a:srgbClr val="A3E635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1819</Words>
  <Application>Microsoft Office PowerPoint</Application>
  <PresentationFormat>Widescreen</PresentationFormat>
  <Paragraphs>381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Sathify — Professional Business &amp; Product Presentation</dc:title>
  <dc:subject>Sathify SRS-based professional business presentation</dc:subject>
  <dc:creator>Sathify Project Team</dc:creator>
  <cp:keywords/>
  <dc:description>generated using python-pptx</dc:description>
  <cp:lastModifiedBy>Riya Patani</cp:lastModifiedBy>
  <cp:revision>6</cp:revision>
  <dcterms:created xsi:type="dcterms:W3CDTF">2013-01-27T09:14:16Z</dcterms:created>
  <dcterms:modified xsi:type="dcterms:W3CDTF">2026-08-10T16:59:55Z</dcterms:modified>
  <cp:category/>
</cp:coreProperties>
</file>