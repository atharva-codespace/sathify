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 digitizes verified hiring, gate attendance, and digital payments for domestic workers — maids, cooks, cleaners — across India's gated residential societies.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DJANGO REST FRAMEWORK   ·   BUILT BY A 4-PERSON TEAM IN 14 DAYS</a:t>
            </a:r>
            <a:endParaRPr lang="en-US" sz="1100" dirty="0"/>
          </a:p>
        </p:txBody>
      </p:sp>
      <p:sp>
        <p:nvSpPr>
          <p:cNvPr id="6" name="!!Hero_Title"/>
          <p:cNvSpPr/>
          <p:nvPr/>
        </p:nvSpPr>
        <p:spPr>
          <a:xfrm>
            <a:off x="8686800" y="182880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42248" y="2057400"/>
            <a:ext cx="1609344" cy="2514600"/>
          </a:xfrm>
          <a:prstGeom prst="roundRect">
            <a:avLst>
              <a:gd name="adj" fmla="val 4545"/>
            </a:avLst>
          </a:prstGeom>
          <a:ln w="19050">
            <a:solidFill>
              <a:srgbClr val="8792A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564624" y="4663440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10" name="!!Spine"/>
          <p:cNvSpPr/>
          <p:nvPr/>
        </p:nvSpPr>
        <p:spPr>
          <a:xfrm>
            <a:off x="640080" y="6327648"/>
            <a:ext cx="495854" cy="82296"/>
          </a:xfrm>
          <a:prstGeom prst="rect">
            <a:avLst/>
          </a:prstGeom>
          <a:solidFill>
            <a:srgbClr val="5B658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on a Sheet of Paper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runs on word of mouth. Attendance lives in a paper register nobody audits. Payment is cash-only, and nothing about a worker's history follows them from one home to the next.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91708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-480000">
            <a:off x="8549640" y="2331720"/>
            <a:ext cx="1828800" cy="2377440"/>
          </a:xfrm>
          <a:prstGeom prst="roundRect">
            <a:avLst>
              <a:gd name="adj" fmla="val 2500"/>
            </a:avLst>
          </a:prstGeom>
          <a:ln w="3175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Record, No Recourse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failures compound into one blind spot for everyone involved.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487563" cy="82296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8" name="!!Hero_Problem"/>
          <p:cNvSpPr/>
          <p:nvPr/>
        </p:nvSpPr>
        <p:spPr>
          <a:xfrm rot="720000">
            <a:off x="8805672" y="2651760"/>
            <a:ext cx="1316736" cy="1737360"/>
          </a:xfrm>
          <a:prstGeom prst="roundRect">
            <a:avLst>
              <a:gd name="adj" fmla="val 3472"/>
            </a:avLst>
          </a:prstGeom>
          <a:solidFill>
            <a:srgbClr val="5B6584">
              <a:alpha val="12000"/>
            </a:srgbClr>
          </a:solidFill>
          <a:ln w="25400">
            <a:solidFill>
              <a:srgbClr val="8792AD"/>
            </a:solidFill>
            <a:prstDash val="dash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753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87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RECORD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before a stranger enters a home — a blind spot for residential safety.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343400" y="45720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ACCOUNTABILITY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495604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dispute process. No way to know if a worker or a household can be trusted.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46720" y="457200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ASYMMETRY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495604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informal market taxes the vulnerable side — automated checks risk costing livelihoods over imperfect measurements.</a:t>
            </a:r>
            <a:endParaRPr lang="en-US" sz="103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Verified Both Ways.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Government-ID KYC, an auditable gate log, two-way ratings, and digital payments with a guaranteed 100% tip payout — free for every worker, permanently.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983417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Problem"/>
          <p:cNvSpPr/>
          <p:nvPr/>
        </p:nvSpPr>
        <p:spPr>
          <a:xfrm>
            <a:off x="8503920" y="2560320"/>
            <a:ext cx="1920240" cy="1920240"/>
          </a:xfrm>
          <a:prstGeom prst="roundRect">
            <a:avLst>
              <a:gd name="adj" fmla="val 15238"/>
            </a:avLst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171432" y="3502152"/>
            <a:ext cx="310896" cy="14630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09176" y="3227832"/>
            <a:ext cx="146304" cy="56692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SATHIFY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This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Must Get Right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989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8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worker with government ID before they're ever hired.</a:t>
            </a:r>
            <a:endParaRPr lang="en-US" sz="128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8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gate entry — offline or connected, guard-scanned or self-checked-in.</a:t>
            </a:r>
            <a:endParaRPr lang="en-US" sz="128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8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trust score explainable, with the reasoning stored alongside it.</a:t>
            </a:r>
            <a:endParaRPr lang="en-US" sz="128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8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the society and the resident — never the worker.</a:t>
            </a:r>
            <a:endParaRPr lang="en-US" sz="128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8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auto-deny on a failed AI check — a human always makes the final call.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479271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8549640" y="2606040"/>
            <a:ext cx="1828800" cy="1828800"/>
          </a:xfrm>
          <a:prstGeom prst="ellipse">
            <a:avLst/>
          </a:prstGeom>
          <a:ln w="3810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0" y="3108960"/>
            <a:ext cx="822960" cy="822960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App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login, one mutually-exclusive role — resident, worker, guard, or admin — identified by phone number instead of a password.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2975125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Roles"/>
          <p:cNvSpPr/>
          <p:nvPr/>
        </p:nvSpPr>
        <p:spPr>
          <a:xfrm>
            <a:off x="10561320" y="868680"/>
            <a:ext cx="777240" cy="777240"/>
          </a:xfrm>
          <a:prstGeom prst="ellipse">
            <a:avLst/>
          </a:prstGeom>
          <a:ln w="31750">
            <a:solidFill>
              <a:srgbClr val="13B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62488" y="1069848"/>
            <a:ext cx="374904" cy="374904"/>
          </a:xfrm>
          <a:prstGeom prst="ellipse">
            <a:avLst/>
          </a:prstGeom>
          <a:solidFill>
            <a:srgbClr val="13B8A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1" name="Shape 9"/>
          <p:cNvSpPr/>
          <p:nvPr/>
        </p:nvSpPr>
        <p:spPr>
          <a:xfrm>
            <a:off x="1513332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5978" y="4475988"/>
            <a:ext cx="482803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36446" y="4667098"/>
            <a:ext cx="321869" cy="2112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hires, pays, and rates workers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3964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7486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 flipV="1">
            <a:off x="4497019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ID, sets hours, earns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54596" y="4343400"/>
            <a:ext cx="768096" cy="768096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8118" y="4475988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7267651" y="4687214"/>
            <a:ext cx="341986" cy="231343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91072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passes, verifies at the gate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51976" y="416052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40"/>
          </a:solidFill>
          <a:ln/>
        </p:spPr>
      </p:sp>
      <p:sp>
        <p:nvSpPr>
          <p:cNvPr id="29" name="Shape 27"/>
          <p:cNvSpPr/>
          <p:nvPr/>
        </p:nvSpPr>
        <p:spPr>
          <a:xfrm>
            <a:off x="9825228" y="4343400"/>
            <a:ext cx="768096" cy="768096"/>
          </a:xfrm>
          <a:prstGeom prst="ellipse">
            <a:avLst/>
          </a:prstGeom>
          <a:solidFill>
            <a:srgbClr val="13B8A0"/>
          </a:solidFill>
          <a:ln/>
        </p:spPr>
      </p:sp>
      <p:sp>
        <p:nvSpPr>
          <p:cNvPr id="30" name="Shape 28"/>
          <p:cNvSpPr/>
          <p:nvPr/>
        </p:nvSpPr>
        <p:spPr>
          <a:xfrm>
            <a:off x="9998050" y="4516222"/>
            <a:ext cx="422453" cy="422453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61704" y="521208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Admin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061704" y="5577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accounts, handles complaints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 Multi-Tenant Backend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client talks JSON over HTTPS to a single versioned Django REST API. Every query carries a society filter, so isolation is enforced in code — not by convention.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470979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oundRect">
            <a:avLst>
              <a:gd name="adj" fmla="val 20000"/>
            </a:avLst>
          </a:prstGeom>
          <a:ln/>
        </p:spPr>
      </p:sp>
      <p:sp>
        <p:nvSpPr>
          <p:cNvPr id="11" name="Shape 9"/>
          <p:cNvSpPr/>
          <p:nvPr/>
        </p:nvSpPr>
        <p:spPr>
          <a:xfrm>
            <a:off x="4764024" y="315468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3154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3721608"/>
            <a:ext cx="0" cy="411480"/>
          </a:xfrm>
          <a:prstGeom prst="line">
            <a:avLst/>
          </a:prstGeom>
          <a:noFill/>
          <a:ln w="25400">
            <a:solidFill>
              <a:srgbClr val="8792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4024" y="4251960"/>
            <a:ext cx="2651760" cy="566928"/>
          </a:xfrm>
          <a:prstGeom prst="roundRect">
            <a:avLst>
              <a:gd name="adj" fmla="val 14516"/>
            </a:avLst>
          </a:prstGeom>
          <a:solidFill>
            <a:srgbClr val="1A2140"/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4024" y="4251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00984" y="481888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5124" y="544068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5124" y="54406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481888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4044" y="544068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13B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4044" y="54406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78824" y="4818888"/>
            <a:ext cx="0" cy="621792"/>
          </a:xfrm>
          <a:prstGeom prst="line">
            <a:avLst/>
          </a:prstGeom>
          <a:noFill/>
          <a:ln w="19050">
            <a:solidFill>
              <a:srgbClr val="8792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2964" y="5440680"/>
            <a:ext cx="2331720" cy="621792"/>
          </a:xfrm>
          <a:prstGeom prst="roundRect">
            <a:avLst>
              <a:gd name="adj" fmla="val 13235"/>
            </a:avLst>
          </a:prstGeom>
          <a:solidFill>
            <a:srgbClr val="1A2140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2964" y="54406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(Razorpay · FCM · AI · OCR)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Free-Tier Infrastructure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— hosting, database, storage, payments, AI — runs on a genuinely free tier, by deliberate design, with no card on file anywhere.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3966833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10506456" y="1042416"/>
            <a:ext cx="658368" cy="201168"/>
          </a:xfrm>
          <a:prstGeom prst="parallelogram">
            <a:avLst/>
          </a:prstGeom>
          <a:solidFill>
            <a:srgbClr val="3B5BDB"/>
          </a:solidFill>
          <a:ln/>
        </p:spPr>
      </p:sp>
      <p:sp>
        <p:nvSpPr>
          <p:cNvPr id="9" name="Shape 7"/>
          <p:cNvSpPr/>
          <p:nvPr/>
        </p:nvSpPr>
        <p:spPr>
          <a:xfrm>
            <a:off x="10506456" y="1143000"/>
            <a:ext cx="658368" cy="54864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0" name="!!Hero_Arch"/>
          <p:cNvSpPr/>
          <p:nvPr/>
        </p:nvSpPr>
        <p:spPr>
          <a:xfrm>
            <a:off x="10378440" y="960120"/>
            <a:ext cx="914400" cy="914400"/>
          </a:xfrm>
          <a:prstGeom prst="rect">
            <a:avLst/>
          </a:prstGeom>
          <a:ln/>
        </p:spPr>
      </p:sp>
      <p:sp>
        <p:nvSpPr>
          <p:cNvPr id="11" name="Shape 9"/>
          <p:cNvSpPr/>
          <p:nvPr/>
        </p:nvSpPr>
        <p:spPr>
          <a:xfrm>
            <a:off x="640080" y="324612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5798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(Android-first, iOS-ready)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0" y="324612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712" y="35798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324612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2752" y="35798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19" name="Text 17"/>
          <p:cNvSpPr/>
          <p:nvPr/>
        </p:nvSpPr>
        <p:spPr>
          <a:xfrm>
            <a:off x="8522208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 Pro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5857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(Singapore)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4251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53712" y="45857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425196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7" name="Shape 25"/>
          <p:cNvSpPr/>
          <p:nvPr/>
        </p:nvSpPr>
        <p:spPr>
          <a:xfrm>
            <a:off x="8302752" y="45857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(test mode)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5591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→ EasyOCR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89120" y="5257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53712" y="5591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38160" y="525780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36" name="Shape 34"/>
          <p:cNvSpPr/>
          <p:nvPr/>
        </p:nvSpPr>
        <p:spPr>
          <a:xfrm>
            <a:off x="8302752" y="55915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3B8A0"/>
          </a:solidFill>
          <a:ln/>
        </p:spPr>
      </p:sp>
      <p:sp>
        <p:nvSpPr>
          <p:cNvPr id="37" name="Text 35"/>
          <p:cNvSpPr/>
          <p:nvPr/>
        </p:nvSpPr>
        <p:spPr>
          <a:xfrm>
            <a:off x="8522208" y="5257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Groq → OpenRouter → HF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Phone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Not a Password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OTP login, a 60-minute JWT with a rotating 30-day refresh token, and default-deny access control enforced across all four roles.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462688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2308" y="3248315"/>
            <a:ext cx="283464" cy="283464"/>
          </a:xfrm>
          <a:prstGeom prst="ellipse">
            <a:avLst/>
          </a:prstGeom>
          <a:ln w="62992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25930" y="3486424"/>
            <a:ext cx="476220" cy="3174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30024" y="3577133"/>
            <a:ext cx="68031" cy="68031"/>
          </a:xfrm>
          <a:prstGeom prst="ellipse">
            <a:avLst/>
          </a:prstGeom>
          <a:solidFill>
            <a:srgbClr val="0D1225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Multi-Tenancy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society stays PENDING until platform-verified, then towers, flats, and staffed gates map beneath it — one primary account holder per flat.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4958542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14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05300" y="3236976"/>
            <a:ext cx="317480" cy="5669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5915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>
            <a:off x="943852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>
            <a:off x="9517898" y="3316346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915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852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5" name="Shape 13"/>
          <p:cNvSpPr/>
          <p:nvPr/>
        </p:nvSpPr>
        <p:spPr>
          <a:xfrm>
            <a:off x="9517898" y="3407054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6" name="Shape 14"/>
          <p:cNvSpPr/>
          <p:nvPr/>
        </p:nvSpPr>
        <p:spPr>
          <a:xfrm>
            <a:off x="935915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852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8" name="Shape 16"/>
          <p:cNvSpPr/>
          <p:nvPr/>
        </p:nvSpPr>
        <p:spPr>
          <a:xfrm>
            <a:off x="9517898" y="3497763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9" name="Shape 17"/>
          <p:cNvSpPr/>
          <p:nvPr/>
        </p:nvSpPr>
        <p:spPr>
          <a:xfrm>
            <a:off x="935915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852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517898" y="3588471"/>
            <a:ext cx="51024" cy="510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KYC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Once,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Everywhere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Aadhaar OCR pipeline with Verhoeff checksum validation and automatic under-18 rejection. Only the last four digits are ever stored, hashed for duplicate detection. Low-confidence scans fall back to manual entry — never a silent guess.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454396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29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80576" y="3316346"/>
            <a:ext cx="566928" cy="4081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48607" y="3395716"/>
            <a:ext cx="147401" cy="14740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75379" y="3441070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2" name="Shape 10"/>
          <p:cNvSpPr/>
          <p:nvPr/>
        </p:nvSpPr>
        <p:spPr>
          <a:xfrm>
            <a:off x="9475379" y="3531779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3" name="Shape 11"/>
          <p:cNvSpPr/>
          <p:nvPr/>
        </p:nvSpPr>
        <p:spPr>
          <a:xfrm>
            <a:off x="9475379" y="3622487"/>
            <a:ext cx="158740" cy="25512"/>
          </a:xfrm>
          <a:prstGeom prst="rect">
            <a:avLst/>
          </a:prstGeom>
          <a:solidFill>
            <a:srgbClr val="5B6584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9616884" y="3654008"/>
            <a:ext cx="42406" cy="1995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5" name="Shape 13"/>
          <p:cNvSpPr/>
          <p:nvPr/>
        </p:nvSpPr>
        <p:spPr>
          <a:xfrm rot="-2700000">
            <a:off x="9649312" y="3616591"/>
            <a:ext cx="19956" cy="77329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04–05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Hires and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Bookings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AI-ranked match score — shown in full, never a black box.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5950250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43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93669"/>
            <a:ext cx="521574" cy="45354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203253" y="3293669"/>
            <a:ext cx="521574" cy="124724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9391473" y="3561259"/>
            <a:ext cx="77102" cy="36283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9450434" y="3493227"/>
            <a:ext cx="36283" cy="140598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500176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trust (30%), ratings (25%), and availability (20%), plus responsiveness and proximity.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4340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PAY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500176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10-day notice period with pay fully guaranteed, and a 48-hour response window on every request.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04672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PROTECTION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500176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workers start on a neutral prior, so they're never permanently buried at zero.</a:t>
            </a:r>
            <a:endParaRPr lang="en-US" sz="103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06–07 · DEEPFACE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at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Never a Denial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verification at the guard's discretion — a match below threshold never refuses entry, it asks a human to decide.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6446104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57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roundRect">
            <a:avLst>
              <a:gd name="adj" fmla="val 10870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7977" y="3350362"/>
            <a:ext cx="272125" cy="32881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03253" y="3509101"/>
            <a:ext cx="521574" cy="25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591056" y="5074920"/>
            <a:ext cx="2578608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91456" y="5074920"/>
            <a:ext cx="2578608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991856" y="5074920"/>
            <a:ext cx="2578608" cy="0"/>
          </a:xfrm>
          <a:prstGeom prst="line">
            <a:avLst/>
          </a:prstGeom>
          <a:noFill/>
          <a:ln w="25400">
            <a:solidFill>
              <a:srgbClr val="8792A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69264" y="4764024"/>
            <a:ext cx="621792" cy="621792"/>
          </a:xfrm>
          <a:prstGeom prst="ellipse">
            <a:avLst/>
          </a:prstGeom>
          <a:solidFill>
            <a:srgbClr val="3B5B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458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9664" y="4764024"/>
            <a:ext cx="621792" cy="621792"/>
          </a:xfrm>
          <a:prstGeom prst="ellipse">
            <a:avLst/>
          </a:prstGeom>
          <a:solidFill>
            <a:srgbClr val="3B5BDB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966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5458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70064" y="4764024"/>
            <a:ext cx="621792" cy="621792"/>
          </a:xfrm>
          <a:prstGeom prst="ellipse">
            <a:avLst/>
          </a:prstGeom>
          <a:solidFill>
            <a:srgbClr val="3B5BDB">
              <a:alpha val="6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5458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Card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70464" y="4764024"/>
            <a:ext cx="621792" cy="621792"/>
          </a:xfrm>
          <a:prstGeom prst="ellipse">
            <a:avLst/>
          </a:prstGeom>
          <a:solidFill>
            <a:srgbClr val="3B5BDB">
              <a:alpha val="4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70464" y="47640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04120" y="5458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8704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leave ("Chutti") is approved instantly — no review required.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For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stored as integer paise, never a float. Settlement happens only on a signature-verified Razorpay event, and 100% of every tip reaches the worker. Recurring salaries carry zero commission; one-day bookings carry an 8% fee, fully disclosed.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6941959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>
              <a:alpha val="71000"/>
            </a:srgbClr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80576" y="3225637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852" dirty="0"/>
          </a:p>
        </p:txBody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You Can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Explain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worker's score weighs ratings, attendance, verification, and completion. A resident's weighs payment punctuality highest (45%) — every score keeps its own reasoning, frozen at computation. Suspicious patterns are flagged for manual review, never auto-deleted.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437813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3B5BDB">
              <a:alpha val="86000"/>
            </a:srgbClr>
          </a:solidFill>
          <a:ln w="31750">
            <a:solidFill>
              <a:srgbClr val="3B5BDB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03253" y="3259653"/>
            <a:ext cx="521574" cy="521574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10·11·13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Informed,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Left Waiting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stays informed, and nothing critical ever slips through.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7933667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Module"/>
          <p:cNvSpPr/>
          <p:nvPr/>
        </p:nvSpPr>
        <p:spPr>
          <a:xfrm>
            <a:off x="8526780" y="2583180"/>
            <a:ext cx="1874520" cy="1874520"/>
          </a:xfrm>
          <a:prstGeom prst="ellipse">
            <a:avLst/>
          </a:prstGeom>
          <a:solidFill>
            <a:srgbClr val="13B8A0"/>
          </a:solidFill>
          <a:ln w="31750">
            <a:solidFill>
              <a:srgbClr val="13B8A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225930" y="3282330"/>
            <a:ext cx="476220" cy="476220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572000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8172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ALERTS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Gate-entry and urgent-leave notices can never be muted, by anyone.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195060" y="4572000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77940" y="468172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TRACKING (08:00–21:00)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7940" y="4956048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run on a real clock with automatic escalation for safety issues.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0080" y="5458968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68696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843016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offline sync is idempotent — a retried batch never double-counts.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195060" y="5458968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0" name="Text 18"/>
          <p:cNvSpPr/>
          <p:nvPr/>
        </p:nvSpPr>
        <p:spPr>
          <a:xfrm>
            <a:off x="6377940" y="5568696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3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77940" y="5843016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hire requests and unfilled bookings are logged for the committee to act on.</a:t>
            </a:r>
            <a:endParaRPr lang="en-US" sz="103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Providers Deep,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Groq, OpenRouter, then Hugging Face — tried strictly in order, with zero silent failures.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429521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!!Hero_AI"/>
          <p:cNvSpPr/>
          <p:nvPr/>
        </p:nvSpPr>
        <p:spPr>
          <a:xfrm>
            <a:off x="9098280" y="2834640"/>
            <a:ext cx="731520" cy="1371600"/>
          </a:xfrm>
          <a:prstGeom prst="lightningBolt">
            <a:avLst/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00176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providers deep: Gemini → Groq → OpenRouter → Hugging Face. Every feature has a working deterministic fallback.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34340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CONTROL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26280" y="500176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is enforced locally, so the platform degrades gracefully instead of failing at an unpredictable free-tier ceiling.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04672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rgbClr val="1A214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727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PRIVACY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0" y="500176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only ever identifies intent — it never composes answers or exposes raw personal data.</a:t>
            </a:r>
            <a:endParaRPr lang="en-US" sz="103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Enough, Safe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Enough, Built to Last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gate decisions, default-deny access control, and structural multi-tenancy — HTTPS everywhere, PCI-DSS compliance via Razorpay.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8925375" cy="82296"/>
          </a:xfrm>
          <a:prstGeom prst="rect">
            <a:avLst/>
          </a:prstGeom>
          <a:solidFill>
            <a:srgbClr val="13B8A0"/>
          </a:solidFill>
          <a:ln/>
        </p:spPr>
      </p:sp>
      <p:sp>
        <p:nvSpPr>
          <p:cNvPr id="8" name="!!Hero_NFR"/>
          <p:cNvSpPr/>
          <p:nvPr/>
        </p:nvSpPr>
        <p:spPr>
          <a:xfrm>
            <a:off x="8686800" y="2468880"/>
            <a:ext cx="1554480" cy="1554480"/>
          </a:xfrm>
          <a:prstGeom prst="octagon">
            <a:avLst/>
          </a:prstGeom>
          <a:solidFill>
            <a:srgbClr val="13B8A0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9244584" y="3232404"/>
            <a:ext cx="23317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9422892" y="3026664"/>
            <a:ext cx="109728" cy="4251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434840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4456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818888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gate decisions — no network round trip required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5060" y="4434840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5" name="Text 13"/>
          <p:cNvSpPr/>
          <p:nvPr/>
        </p:nvSpPr>
        <p:spPr>
          <a:xfrm>
            <a:off x="6377940" y="454456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7940" y="4818888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RBAC, hashed IDs, short-lived JWTs, HTTPS everywhere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321808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31536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705856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construction — a new society needs no new code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5060" y="5321808"/>
            <a:ext cx="5326380" cy="777240"/>
          </a:xfrm>
          <a:prstGeom prst="roundRect">
            <a:avLst>
              <a:gd name="adj" fmla="val 11765"/>
            </a:avLst>
          </a:prstGeom>
          <a:solidFill>
            <a:srgbClr val="1A2140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5431536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7940" y="5705856"/>
            <a:ext cx="49606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audit trail, 7-year financial record retention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14 Days.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 shipped. The four-tier AI fallback live. Offline gate verification tested end to end — a working, deployed system, running today at zero recurring cash cost.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421229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8751722" y="3833165"/>
            <a:ext cx="277978" cy="486461"/>
          </a:xfrm>
          <a:prstGeom prst="roundRect">
            <a:avLst>
              <a:gd name="adj" fmla="val 15000"/>
            </a:avLst>
          </a:prstGeom>
          <a:solidFill>
            <a:srgbClr val="F2B705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33942" y="3555187"/>
            <a:ext cx="277978" cy="764438"/>
          </a:xfrm>
          <a:prstGeom prst="roundRect">
            <a:avLst>
              <a:gd name="adj" fmla="val 15000"/>
            </a:avLst>
          </a:prstGeom>
          <a:solidFill>
            <a:srgbClr val="F2B705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16161" y="3277210"/>
            <a:ext cx="277978" cy="1042416"/>
          </a:xfrm>
          <a:prstGeom prst="roundRect">
            <a:avLst>
              <a:gd name="adj" fmla="val 15000"/>
            </a:avLst>
          </a:prstGeom>
          <a:solidFill>
            <a:srgbClr val="F2B705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98380" y="2999232"/>
            <a:ext cx="277978" cy="1320394"/>
          </a:xfrm>
          <a:prstGeom prst="roundRect">
            <a:avLst>
              <a:gd name="adj" fmla="val 15000"/>
            </a:avLst>
          </a:prstGeom>
          <a:solidFill>
            <a:srgbClr val="F2B70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200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393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585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8778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19970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1163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35486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47411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59337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71263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183189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895114" y="5349240"/>
            <a:ext cx="657062" cy="201168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— SHIPPED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Charge the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That Can Afford 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comes from the side of the marketplace with disposable income — never from the worker.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9917084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2651760"/>
            <a:ext cx="1737360" cy="1737360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1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7532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BOOKING FEE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1A21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MECHANISM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9560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 on recurring hires. An 8% fee on one-day and emergency bookings. Every tip passes through at 100% — Sathify absorbs the gateway fee.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343400" y="45720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1A214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49560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and societies pay for convenience and administration. The worker is never charged — a business-model choice, not just a value statement.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046720" y="45720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1A21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681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TODAY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49560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at zero recurring cash cost on free-tier infrastructure. That's a pre-scale baseline, not a permanent advantage — it changes as usage grows.</a:t>
            </a:r>
            <a:endParaRPr lang="en-US" sz="103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extends a capability that already exists today — not a speculative new direction.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412938" cy="82296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Shape 6"/>
          <p:cNvSpPr/>
          <p:nvPr/>
        </p:nvSpPr>
        <p:spPr>
          <a:xfrm>
            <a:off x="8751722" y="3833165"/>
            <a:ext cx="277978" cy="486461"/>
          </a:xfrm>
          <a:prstGeom prst="roundRect">
            <a:avLst>
              <a:gd name="adj" fmla="val 15000"/>
            </a:avLst>
          </a:prstGeom>
          <a:solidFill>
            <a:srgbClr val="3B5BDB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33942" y="3555187"/>
            <a:ext cx="277978" cy="764438"/>
          </a:xfrm>
          <a:prstGeom prst="roundRect">
            <a:avLst>
              <a:gd name="adj" fmla="val 15000"/>
            </a:avLst>
          </a:prstGeom>
          <a:solidFill>
            <a:srgbClr val="3B5BDB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16161" y="3277210"/>
            <a:ext cx="277978" cy="1042416"/>
          </a:xfrm>
          <a:prstGeom prst="roundRect">
            <a:avLst>
              <a:gd name="adj" fmla="val 15000"/>
            </a:avLst>
          </a:prstGeom>
          <a:solidFill>
            <a:srgbClr val="3B5BDB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898380" y="2999232"/>
            <a:ext cx="277978" cy="1320394"/>
          </a:xfrm>
          <a:prstGeom prst="roundRect">
            <a:avLst>
              <a:gd name="adj" fmla="val 15000"/>
            </a:avLst>
          </a:prstGeom>
          <a:solidFill>
            <a:srgbClr val="3B5BD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326380" cy="822960"/>
          </a:xfrm>
          <a:prstGeom prst="roundRect">
            <a:avLst>
              <a:gd name="adj" fmla="val 11111"/>
            </a:avLst>
          </a:prstGeom>
          <a:solidFill>
            <a:srgbClr val="1A21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4456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818888"/>
            <a:ext cx="4960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Flutter codebase already targets Android-first — extending to iOS is scope, not a rewrite.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5060" y="4434840"/>
            <a:ext cx="5326380" cy="822960"/>
          </a:xfrm>
          <a:prstGeom prst="roundRect">
            <a:avLst>
              <a:gd name="adj" fmla="val 11111"/>
            </a:avLst>
          </a:prstGeom>
          <a:solidFill>
            <a:srgbClr val="1A214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7940" y="454456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INSURANCE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7940" y="4818888"/>
            <a:ext cx="4960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verified-identity and attendance history becomes eligibility for group personal-accident or health cover.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5326380" cy="822960"/>
          </a:xfrm>
          <a:prstGeom prst="roundRect">
            <a:avLst>
              <a:gd name="adj" fmla="val 11111"/>
            </a:avLst>
          </a:prstGeom>
          <a:solidFill>
            <a:srgbClr val="1A214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45896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733288"/>
            <a:ext cx="4960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employment and payment history is a direct input to formal credit assessment for workers who have none today.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5060" y="5349240"/>
            <a:ext cx="5326380" cy="822960"/>
          </a:xfrm>
          <a:prstGeom prst="roundRect">
            <a:avLst>
              <a:gd name="adj" fmla="val 11111"/>
            </a:avLst>
          </a:prstGeom>
          <a:solidFill>
            <a:srgbClr val="1A2140"/>
          </a:solidFill>
          <a:ln/>
        </p:spPr>
      </p:sp>
      <p:sp>
        <p:nvSpPr>
          <p:cNvPr id="23" name="Text 21"/>
          <p:cNvSpPr/>
          <p:nvPr/>
        </p:nvSpPr>
        <p:spPr>
          <a:xfrm>
            <a:off x="6377940" y="5458968"/>
            <a:ext cx="4960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SALARY RECORDS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77940" y="5733288"/>
            <a:ext cx="4960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existing payment ledger into a portable, recognized employment record a worker can carry between households.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07999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People.</a:t>
            </a:r>
            <a:endParaRPr lang="en-US" sz="34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Modules.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people, each owning a slice of the platform end to end — Flutter, Django, AI/OCR, and product &amp; QA — free to every worker, permanently, by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A2140"/>
          </a:solidFill>
          <a:ln/>
        </p:spPr>
      </p:sp>
      <p:sp>
        <p:nvSpPr>
          <p:cNvPr id="7" name="!!Spine"/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!!Hero_Team"/>
          <p:cNvSpPr/>
          <p:nvPr/>
        </p:nvSpPr>
        <p:spPr>
          <a:xfrm>
            <a:off x="8503920" y="1920240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2B70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59368" y="2148840"/>
            <a:ext cx="1609344" cy="2514600"/>
          </a:xfrm>
          <a:prstGeom prst="roundRect">
            <a:avLst>
              <a:gd name="adj" fmla="val 4545"/>
            </a:avLst>
          </a:prstGeom>
          <a:solidFill>
            <a:srgbClr val="F2B705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9215323" y="3413455"/>
            <a:ext cx="264262" cy="1243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 rot="-2700000">
            <a:off x="9417406" y="3180283"/>
            <a:ext cx="124358" cy="4818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81744" y="4754880"/>
            <a:ext cx="164592" cy="164592"/>
          </a:xfrm>
          <a:prstGeom prst="ellipse">
            <a:avLst/>
          </a:prstGeom>
          <a:ln w="254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23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90452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4892040"/>
            <a:ext cx="914400" cy="914400"/>
          </a:xfrm>
          <a:prstGeom prst="ellipse">
            <a:avLst/>
          </a:prstGeom>
          <a:solidFill>
            <a:srgbClr val="13B8A0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959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flipV="1">
            <a:off x="149888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4892040"/>
            <a:ext cx="914400" cy="914400"/>
          </a:xfrm>
          <a:prstGeom prst="ellipse">
            <a:avLst/>
          </a:prstGeom>
          <a:solidFill>
            <a:srgbClr val="F2B705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8395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209324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3160" y="4892040"/>
            <a:ext cx="914400" cy="914400"/>
          </a:xfrm>
          <a:prstGeom prst="ellipse">
            <a:avLst/>
          </a:prstGeom>
          <a:solidFill>
            <a:srgbClr val="3B5BDB"/>
          </a:solidFill>
          <a:ln w="38100">
            <a:solidFill>
              <a:srgbClr val="0D12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78313" y="5093208"/>
            <a:ext cx="204094" cy="2040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2687604" y="5331318"/>
            <a:ext cx="385511" cy="260787"/>
          </a:xfrm>
          <a:prstGeom prst="trapezoid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971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DJANGO · AI/OCR · PRODUCT &amp; QA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700" spd="slow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2026-08-09T14:33:24Z</dcterms:created>
  <dcterms:modified xsi:type="dcterms:W3CDTF">2026-08-09T14:33:24Z</dcterms:modified>
</cp:coreProperties>
</file>